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036a7ab05843e6" /><Relationship Type="http://schemas.openxmlformats.org/officeDocument/2006/relationships/extended-properties" Target="/docProps/app.xml" Id="R8c96df4abec84ecb" /><Relationship Type="http://schemas.openxmlformats.org/officeDocument/2006/relationships/officeDocument" Target="/ppt/presentation.xml" Id="R9650bfac85c242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e48cc9796745fd"/>
  </p:sldMasterIdLst>
  <p:notesMasterIdLst>
    <p:notesMasterId xmlns:r="http://schemas.openxmlformats.org/officeDocument/2006/relationships" r:id="Re14cec92b3d34874"/>
  </p:notesMasterIdLst>
  <p:sldIdLst>
    <p:sldId xmlns:r="http://schemas.openxmlformats.org/officeDocument/2006/relationships" id="256" r:id="R040eeb6350ce4204"/>
    <p:sldId xmlns:r="http://schemas.openxmlformats.org/officeDocument/2006/relationships" id="257" r:id="R6bb351d54b5b422f"/>
    <p:sldId xmlns:r="http://schemas.openxmlformats.org/officeDocument/2006/relationships" id="258" r:id="Rc015f0ab91294d14"/>
    <p:sldId xmlns:r="http://schemas.openxmlformats.org/officeDocument/2006/relationships" id="259" r:id="Rde3ae55c2e034358"/>
    <p:sldId xmlns:r="http://schemas.openxmlformats.org/officeDocument/2006/relationships" id="260" r:id="Rd08b18f3d0f649ac"/>
    <p:sldId xmlns:r="http://schemas.openxmlformats.org/officeDocument/2006/relationships" id="261" r:id="R74a0ea2eff864ddf"/>
    <p:sldId xmlns:r="http://schemas.openxmlformats.org/officeDocument/2006/relationships" id="262" r:id="R2b7087daaaab4e12"/>
    <p:sldId xmlns:r="http://schemas.openxmlformats.org/officeDocument/2006/relationships" id="263" r:id="Rf89dbf311a534cdc"/>
    <p:sldId xmlns:r="http://schemas.openxmlformats.org/officeDocument/2006/relationships" id="264" r:id="Rf1c873e8107e4702"/>
    <p:sldId xmlns:r="http://schemas.openxmlformats.org/officeDocument/2006/relationships" id="265" r:id="Rb102132d79cd451a"/>
    <p:sldId xmlns:r="http://schemas.openxmlformats.org/officeDocument/2006/relationships" id="266" r:id="R4eaea81f03fc4e39"/>
    <p:sldId xmlns:r="http://schemas.openxmlformats.org/officeDocument/2006/relationships" id="267" r:id="R3564b5eace1d49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11debe26824f5e" /><Relationship Type="http://schemas.openxmlformats.org/officeDocument/2006/relationships/slideMaster" Target="/ppt/slideMasters/slideMaster1.xml" Id="R48e48cc9796745fd" /><Relationship Type="http://schemas.openxmlformats.org/officeDocument/2006/relationships/notesMaster" Target="/ppt/notesMasters/notesMaster1.xml" Id="Re14cec92b3d34874" /><Relationship Type="http://schemas.openxmlformats.org/officeDocument/2006/relationships/presProps" Target="/ppt/presProps.xml" Id="R558564539e4848e2" /><Relationship Type="http://schemas.openxmlformats.org/officeDocument/2006/relationships/viewProps" Target="/ppt/viewProps.xml" Id="R844a645a49ec4116" /><Relationship Type="http://schemas.openxmlformats.org/officeDocument/2006/relationships/tableStyles" Target="/ppt/tableStyles.xml" Id="R2d5b302bb9e944f2" /><Relationship Type="http://schemas.openxmlformats.org/officeDocument/2006/relationships/slide" Target="/ppt/slides/slide1.xml" Id="R040eeb6350ce4204" /><Relationship Type="http://schemas.openxmlformats.org/officeDocument/2006/relationships/slide" Target="/ppt/slides/slide2.xml" Id="R6bb351d54b5b422f" /><Relationship Type="http://schemas.openxmlformats.org/officeDocument/2006/relationships/slide" Target="/ppt/slides/slide3.xml" Id="Rc015f0ab91294d14" /><Relationship Type="http://schemas.openxmlformats.org/officeDocument/2006/relationships/slide" Target="/ppt/slides/slide4.xml" Id="Rde3ae55c2e034358" /><Relationship Type="http://schemas.openxmlformats.org/officeDocument/2006/relationships/slide" Target="/ppt/slides/slide5.xml" Id="Rd08b18f3d0f649ac" /><Relationship Type="http://schemas.openxmlformats.org/officeDocument/2006/relationships/slide" Target="/ppt/slides/slide6.xml" Id="R74a0ea2eff864ddf" /><Relationship Type="http://schemas.openxmlformats.org/officeDocument/2006/relationships/slide" Target="/ppt/slides/slide7.xml" Id="R2b7087daaaab4e12" /><Relationship Type="http://schemas.openxmlformats.org/officeDocument/2006/relationships/slide" Target="/ppt/slides/slide8.xml" Id="Rf89dbf311a534cdc" /><Relationship Type="http://schemas.openxmlformats.org/officeDocument/2006/relationships/slide" Target="/ppt/slides/slide9.xml" Id="Rf1c873e8107e4702" /><Relationship Type="http://schemas.openxmlformats.org/officeDocument/2006/relationships/slide" Target="/ppt/slides/slide10.xml" Id="Rb102132d79cd451a" /><Relationship Type="http://schemas.openxmlformats.org/officeDocument/2006/relationships/slide" Target="/ppt/slides/slide11.xml" Id="R4eaea81f03fc4e39" /><Relationship Type="http://schemas.openxmlformats.org/officeDocument/2006/relationships/slide" Target="/ppt/slides/slide12.xml" Id="R3564b5eace1d49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e91e0dbaf848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bf2bcaff174f35" /><Relationship Type="http://schemas.openxmlformats.org/officeDocument/2006/relationships/notesMaster" Target="/ppt/notesMasters/notesMaster1.xml" Id="R281c40d3ab5d41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e9906786c34ce5" /><Relationship Type="http://schemas.openxmlformats.org/officeDocument/2006/relationships/notesMaster" Target="/ppt/notesMasters/notesMaster1.xml" Id="Raa1a8702777746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c790d11c7e4bba" /><Relationship Type="http://schemas.openxmlformats.org/officeDocument/2006/relationships/notesMaster" Target="/ppt/notesMasters/notesMaster1.xml" Id="R75b845a23bd247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4d69c98b8247eb" /><Relationship Type="http://schemas.openxmlformats.org/officeDocument/2006/relationships/notesMaster" Target="/ppt/notesMasters/notesMaster1.xml" Id="R8522f3b105794e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76a1a4acca4eb5" /><Relationship Type="http://schemas.openxmlformats.org/officeDocument/2006/relationships/notesMaster" Target="/ppt/notesMasters/notesMaster1.xml" Id="R0f25b22c79f842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2acefbfb3d4d4a" /><Relationship Type="http://schemas.openxmlformats.org/officeDocument/2006/relationships/notesMaster" Target="/ppt/notesMasters/notesMaster1.xml" Id="R66beb425d17449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a9533ab3464e18" /><Relationship Type="http://schemas.openxmlformats.org/officeDocument/2006/relationships/notesMaster" Target="/ppt/notesMasters/notesMaster1.xml" Id="R72700e1040c444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7c57011d704d5f" /><Relationship Type="http://schemas.openxmlformats.org/officeDocument/2006/relationships/notesMaster" Target="/ppt/notesMasters/notesMaster1.xml" Id="R2f36ba4fd9ec47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e3e1964afe4653" /><Relationship Type="http://schemas.openxmlformats.org/officeDocument/2006/relationships/notesMaster" Target="/ppt/notesMasters/notesMaster1.xml" Id="R34efda621d684e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918702809145ff" /><Relationship Type="http://schemas.openxmlformats.org/officeDocument/2006/relationships/notesMaster" Target="/ppt/notesMasters/notesMaster1.xml" Id="R2c6122caf65a43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98950258da46d5" /><Relationship Type="http://schemas.openxmlformats.org/officeDocument/2006/relationships/notesMaster" Target="/ppt/notesMasters/notesMaster1.xml" Id="R4124161867a441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a570798a0542fa" /><Relationship Type="http://schemas.openxmlformats.org/officeDocument/2006/relationships/notesMaster" Target="/ppt/notesMasters/notesMaster1.xml" Id="Rb4bbbe689a484d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шаблон ЛЦТ 2026, файл 8. ДЖКХ.pdf, материалы репозитория lct-collector-risk.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8. ДЖКХ.pdf, раздел описания компании и актуальности задачи.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reports/eda/eda_interpretation.md и docs/requirements.md.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reports/eda/tables/year_summary.csv.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reports/eda/eda_interpretation.md.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reports/baseline_lightgbm/baseline_report.md и src/modeling/lightgbm_baseline.py.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reports/baseline_lightgbm/tables/metrics.csv.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reports/baseline_lightgbm/tables/feature_importance_combined.csv и feature_drift.csv.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docs/requirements.md и пользовательский HTML-прототип, ожидающий backend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локальный репозиторий lct-collector-risk.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reports/eda/eda_interpretation.md, reports/baseline_lightgbm/baseline_report.md.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Итоговый слайд.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e467280d744d9" /><Relationship Type="http://schemas.openxmlformats.org/officeDocument/2006/relationships/image" Target="/ppt/media/image2.png" Id="Rabaa9bfadc344a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fc19ce9714f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21d48bc2b41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070fc14f247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b0cf42af6445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545d0ad0a4fa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411789713490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2910b1e7a40f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d028bc356e4d6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dcb346d1e4a1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4ea9502c64f4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2a5f3dec04f4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0086960e4403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7d1a60925d425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9418acc554ab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426624c511473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316b78e904335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9337fad634f55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6704c77fc4a2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4ea39ae084d4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e8463f722434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0d0088e0841e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623bb144748dd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abaa9bfadc344ab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81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4d24cae7e994a92" /><Relationship Type="http://schemas.openxmlformats.org/officeDocument/2006/relationships/theme" Target="/ppt/slideMasters/theme/theme2.xml" Id="R5c28ba5a1a51444b" /><Relationship Type="http://schemas.openxmlformats.org/officeDocument/2006/relationships/slideLayout" Target="/ppt/slideLayouts/slideLayout1.xml" Id="Rfa50c2ec366f45ac" /><Relationship Type="http://schemas.openxmlformats.org/officeDocument/2006/relationships/slideLayout" Target="/ppt/slideLayouts/slideLayout2.xml" Id="Re4c846cbf70d49e0" /><Relationship Type="http://schemas.openxmlformats.org/officeDocument/2006/relationships/slideLayout" Target="/ppt/slideLayouts/slideLayout3.xml" Id="Rd28587710a5648d3" /><Relationship Type="http://schemas.openxmlformats.org/officeDocument/2006/relationships/slideLayout" Target="/ppt/slideLayouts/slideLayout4.xml" Id="R72aa4d517b9b4fbc" /><Relationship Type="http://schemas.openxmlformats.org/officeDocument/2006/relationships/slideLayout" Target="/ppt/slideLayouts/slideLayout5.xml" Id="R5fe5a49f003c418e" /><Relationship Type="http://schemas.openxmlformats.org/officeDocument/2006/relationships/slideLayout" Target="/ppt/slideLayouts/slideLayout6.xml" Id="R603edf05e8304fc0" /><Relationship Type="http://schemas.openxmlformats.org/officeDocument/2006/relationships/slideLayout" Target="/ppt/slideLayouts/slideLayout7.xml" Id="R62993cec722c435f" /><Relationship Type="http://schemas.openxmlformats.org/officeDocument/2006/relationships/slideLayout" Target="/ppt/slideLayouts/slideLayout8.xml" Id="Ra9cdd288cddd4505" /><Relationship Type="http://schemas.openxmlformats.org/officeDocument/2006/relationships/slideLayout" Target="/ppt/slideLayouts/slideLayout9.xml" Id="Rbe186d5971e54c81" /><Relationship Type="http://schemas.openxmlformats.org/officeDocument/2006/relationships/slideLayout" Target="/ppt/slideLayouts/slideLayout10.xml" Id="R904ca57880074342" /><Relationship Type="http://schemas.openxmlformats.org/officeDocument/2006/relationships/slideLayout" Target="/ppt/slideLayouts/slideLayout11.xml" Id="Rf9489dc8f35949ee" /><Relationship Type="http://schemas.openxmlformats.org/officeDocument/2006/relationships/slideLayout" Target="/ppt/slideLayouts/slideLayout12.xml" Id="Rc501e942dc744018" /><Relationship Type="http://schemas.openxmlformats.org/officeDocument/2006/relationships/slideLayout" Target="/ppt/slideLayouts/slideLayout13.xml" Id="R4a408d6f19c64c48" /><Relationship Type="http://schemas.openxmlformats.org/officeDocument/2006/relationships/slideLayout" Target="/ppt/slideLayouts/slideLayout14.xml" Id="R755c5879b2694fbf" /><Relationship Type="http://schemas.openxmlformats.org/officeDocument/2006/relationships/slideLayout" Target="/ppt/slideLayouts/slideLayout15.xml" Id="Rd2aaeeb382554d6d" /><Relationship Type="http://schemas.openxmlformats.org/officeDocument/2006/relationships/slideLayout" Target="/ppt/slideLayouts/slideLayout16.xml" Id="R9da249abed2a4f06" /><Relationship Type="http://schemas.openxmlformats.org/officeDocument/2006/relationships/slideLayout" Target="/ppt/slideLayouts/slideLayout17.xml" Id="Rcda9ef2c876d4996" /><Relationship Type="http://schemas.openxmlformats.org/officeDocument/2006/relationships/slideLayout" Target="/ppt/slideLayouts/slideLayout18.xml" Id="R1a9a97e41a554bad" /><Relationship Type="http://schemas.openxmlformats.org/officeDocument/2006/relationships/slideLayout" Target="/ppt/slideLayouts/slideLayout19.xml" Id="R83cbf1e0c9b54f63" /><Relationship Type="http://schemas.openxmlformats.org/officeDocument/2006/relationships/slideLayout" Target="/ppt/slideLayouts/slideLayout20.xml" Id="R1286501738894b57" /><Relationship Type="http://schemas.openxmlformats.org/officeDocument/2006/relationships/slideLayout" Target="/ppt/slideLayouts/slideLayout21.xml" Id="Ra30c4a30fe0e431b" /><Relationship Type="http://schemas.openxmlformats.org/officeDocument/2006/relationships/slideLayout" Target="/ppt/slideLayouts/slideLayout22.xml" Id="Rb04c338b10f34b71" /><Relationship Type="http://schemas.openxmlformats.org/officeDocument/2006/relationships/slideLayout" Target="/ppt/slideLayouts/slideLayout23.xml" Id="Rb61a2499a4a84ab2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4d24cae7e994a9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50c2ec366f45ac"/>
    <p:sldLayoutId xmlns:r="http://schemas.openxmlformats.org/officeDocument/2006/relationships" id="2147483650" r:id="Re4c846cbf70d49e0"/>
    <p:sldLayoutId xmlns:r="http://schemas.openxmlformats.org/officeDocument/2006/relationships" id="2147483651" r:id="Rd28587710a5648d3"/>
    <p:sldLayoutId xmlns:r="http://schemas.openxmlformats.org/officeDocument/2006/relationships" id="2147483652" r:id="R72aa4d517b9b4fbc"/>
    <p:sldLayoutId xmlns:r="http://schemas.openxmlformats.org/officeDocument/2006/relationships" id="2147483653" r:id="R5fe5a49f003c418e"/>
    <p:sldLayoutId xmlns:r="http://schemas.openxmlformats.org/officeDocument/2006/relationships" id="2147483654" r:id="R603edf05e8304fc0"/>
    <p:sldLayoutId xmlns:r="http://schemas.openxmlformats.org/officeDocument/2006/relationships" id="2147483655" r:id="R62993cec722c435f"/>
    <p:sldLayoutId xmlns:r="http://schemas.openxmlformats.org/officeDocument/2006/relationships" id="2147483656" r:id="Ra9cdd288cddd4505"/>
    <p:sldLayoutId xmlns:r="http://schemas.openxmlformats.org/officeDocument/2006/relationships" id="2147483657" r:id="Rbe186d5971e54c81"/>
    <p:sldLayoutId xmlns:r="http://schemas.openxmlformats.org/officeDocument/2006/relationships" id="2147483658" r:id="R904ca57880074342"/>
    <p:sldLayoutId xmlns:r="http://schemas.openxmlformats.org/officeDocument/2006/relationships" id="2147483659" r:id="Rf9489dc8f35949ee"/>
    <p:sldLayoutId xmlns:r="http://schemas.openxmlformats.org/officeDocument/2006/relationships" id="2147483660" r:id="Rc501e942dc744018"/>
    <p:sldLayoutId xmlns:r="http://schemas.openxmlformats.org/officeDocument/2006/relationships" id="2147483661" r:id="R4a408d6f19c64c48"/>
    <p:sldLayoutId xmlns:r="http://schemas.openxmlformats.org/officeDocument/2006/relationships" id="2147483662" r:id="R755c5879b2694fbf"/>
    <p:sldLayoutId xmlns:r="http://schemas.openxmlformats.org/officeDocument/2006/relationships" id="2147483663" r:id="Rd2aaeeb382554d6d"/>
    <p:sldLayoutId xmlns:r="http://schemas.openxmlformats.org/officeDocument/2006/relationships" id="2147483664" r:id="R9da249abed2a4f06"/>
    <p:sldLayoutId xmlns:r="http://schemas.openxmlformats.org/officeDocument/2006/relationships" id="2147483665" r:id="Rcda9ef2c876d4996"/>
    <p:sldLayoutId xmlns:r="http://schemas.openxmlformats.org/officeDocument/2006/relationships" id="2147483666" r:id="R1a9a97e41a554bad"/>
    <p:sldLayoutId xmlns:r="http://schemas.openxmlformats.org/officeDocument/2006/relationships" id="2147483667" r:id="R83cbf1e0c9b54f63"/>
    <p:sldLayoutId xmlns:r="http://schemas.openxmlformats.org/officeDocument/2006/relationships" id="2147483668" r:id="R1286501738894b57"/>
    <p:sldLayoutId xmlns:r="http://schemas.openxmlformats.org/officeDocument/2006/relationships" id="2147483669" r:id="Ra30c4a30fe0e431b"/>
    <p:sldLayoutId xmlns:r="http://schemas.openxmlformats.org/officeDocument/2006/relationships" id="2147483670" r:id="Rb04c338b10f34b71"/>
    <p:sldLayoutId xmlns:r="http://schemas.openxmlformats.org/officeDocument/2006/relationships" id="2147483671" r:id="Rb61a2499a4a84ab2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1407b158d4940" /><Relationship Type="http://schemas.openxmlformats.org/officeDocument/2006/relationships/notesSlide" Target="/ppt/notesSlides/notesSlide1.xml" Id="Rffe8b7fd62044d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673a505bd774c80" /><Relationship Type="http://schemas.openxmlformats.org/officeDocument/2006/relationships/image" Target="/ppt/media/image3.png" Id="R0e758313d10d4660" /><Relationship Type="http://schemas.openxmlformats.org/officeDocument/2006/relationships/notesSlide" Target="/ppt/notesSlides/notesSlide2.xml" Id="Re518e687172f4c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29ef33190bf4680" /><Relationship Type="http://schemas.openxmlformats.org/officeDocument/2006/relationships/image" Target="/ppt/media/image3.png" Id="R433fbf95c694483d" /><Relationship Type="http://schemas.openxmlformats.org/officeDocument/2006/relationships/notesSlide" Target="/ppt/notesSlides/notesSlide3.xml" Id="Rf75116cf42bf46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a5a057f579840c1" /><Relationship Type="http://schemas.openxmlformats.org/officeDocument/2006/relationships/image" Target="/ppt/media/image3.png" Id="R7cba2c4e319c4bc7" /><Relationship Type="http://schemas.openxmlformats.org/officeDocument/2006/relationships/chart" Target="/ppt/slides/charts/chart1.xml" Id="R9ce3f2f76d644735" /><Relationship Type="http://schemas.openxmlformats.org/officeDocument/2006/relationships/notesSlide" Target="/ppt/notesSlides/notesSlide4.xml" Id="R2c10842076504a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160cbee7c0454dec" /><Relationship Type="http://schemas.openxmlformats.org/officeDocument/2006/relationships/image" Target="/ppt/media/image3.png" Id="Rf14ec8e1ea0842b3" /><Relationship Type="http://schemas.openxmlformats.org/officeDocument/2006/relationships/notesSlide" Target="/ppt/notesSlides/notesSlide5.xml" Id="Rd8f4878c76974e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4f8602588654982" /><Relationship Type="http://schemas.openxmlformats.org/officeDocument/2006/relationships/image" Target="/ppt/media/image3.png" Id="R13643047ce39463b" /><Relationship Type="http://schemas.openxmlformats.org/officeDocument/2006/relationships/notesSlide" Target="/ppt/notesSlides/notesSlide6.xml" Id="R4fe494f481c74f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7f93a1c93294d6b" /><Relationship Type="http://schemas.openxmlformats.org/officeDocument/2006/relationships/image" Target="/ppt/media/image3.png" Id="Re9239bc1b57b4e3d" /><Relationship Type="http://schemas.openxmlformats.org/officeDocument/2006/relationships/chart" Target="/ppt/slides/charts/chart2.xml" Id="R45333500b499473f" /><Relationship Type="http://schemas.openxmlformats.org/officeDocument/2006/relationships/notesSlide" Target="/ppt/notesSlides/notesSlide7.xml" Id="R651e048cb6fc44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04ea73d0d944052" /><Relationship Type="http://schemas.openxmlformats.org/officeDocument/2006/relationships/image" Target="/ppt/media/image3.png" Id="Rd9cd0caf714245fc" /><Relationship Type="http://schemas.openxmlformats.org/officeDocument/2006/relationships/image" Target="/ppt/media/image4.png" Id="R98739c1e6a114967" /><Relationship Type="http://schemas.openxmlformats.org/officeDocument/2006/relationships/image" Target="/ppt/media/image5.png" Id="R19b36a6897ba4b77" /><Relationship Type="http://schemas.openxmlformats.org/officeDocument/2006/relationships/notesSlide" Target="/ppt/notesSlides/notesSlide8.xml" Id="R19adb77a368e4e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c88ac7075d540c0" /><Relationship Type="http://schemas.openxmlformats.org/officeDocument/2006/relationships/image" Target="/ppt/media/image3.png" Id="Reb668e7327eb4d09" /><Relationship Type="http://schemas.openxmlformats.org/officeDocument/2006/relationships/notesSlide" Target="/ppt/notesSlides/notesSlide9.xml" Id="Rd6fc03a09b5d45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9d405bd352640fb" /><Relationship Type="http://schemas.openxmlformats.org/officeDocument/2006/relationships/image" Target="/ppt/media/image3.png" Id="Re2e1b9eec3cb4f52" /><Relationship Type="http://schemas.openxmlformats.org/officeDocument/2006/relationships/notesSlide" Target="/ppt/notesSlides/notesSlide10.xml" Id="R2e9adc9cecc540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90b1dc1a2624adc" /><Relationship Type="http://schemas.openxmlformats.org/officeDocument/2006/relationships/image" Target="/ppt/media/image3.png" Id="Rb051ae6059434b43" /><Relationship Type="http://schemas.openxmlformats.org/officeDocument/2006/relationships/notesSlide" Target="/ppt/notesSlides/notesSlide11.xml" Id="Rff5d3ab673774a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1537e0bfa4734" /><Relationship Type="http://schemas.openxmlformats.org/officeDocument/2006/relationships/notesSlide" Target="/ppt/notesSlides/notesSlide12.xml" Id="R0ebf1cbaed3e4ad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Доля тревог, %</c:v>
          </c:tx>
          <c:spPr>
            <a:ln xmlns:a="http://schemas.openxmlformats.org/drawingml/2006/main" w="28575">
              <a:solidFill>
                <a:srgbClr val="FF005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FF0051"/>
              </a:solidFill>
            </c:spPr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cat>
          <c:val>
            <c:numRef>
              <c:f>'Chart Data'!$B$2:$B$9</c:f>
              <c:numCache>
                <c:formatCode>0.0</c:formatCode>
                <c:ptCount val="8"/>
                <c:pt idx="0">
                  <c:v>0.639</c:v>
                </c:pt>
                <c:pt idx="1">
                  <c:v>1.156</c:v>
                </c:pt>
                <c:pt idx="2">
                  <c:v>2.234</c:v>
                </c:pt>
                <c:pt idx="3">
                  <c:v>0.307</c:v>
                </c:pt>
                <c:pt idx="4">
                  <c:v>0.337</c:v>
                </c:pt>
                <c:pt idx="5">
                  <c:v>0.235</c:v>
                </c:pt>
                <c:pt idx="6">
                  <c:v>0.462</c:v>
                </c:pt>
                <c:pt idx="7">
                  <c:v>0.637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1E1A2B"/>
                  </a:solidFill>
                  <a:latin typeface="Montserrat"/>
                  <a:ea typeface="Montserrat"/>
                  <a:cs typeface="Montserra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5B0A83"/>
            </a:solidFill>
          </c:spPr>
          <c:cat>
            <c:strRef>
              <c:f>'Chart Data'!$A$2:$A$4</c:f>
              <c:strCache>
                <c:ptCount val="3"/>
                <c:pt idx="0">
                  <c:v>train</c:v>
                </c:pt>
                <c:pt idx="1">
                  <c:v>valid</c:v>
                </c:pt>
                <c:pt idx="2">
                  <c:v>test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0.936</c:v>
                </c:pt>
                <c:pt idx="1">
                  <c:v>0.748</c:v>
                </c:pt>
                <c:pt idx="2">
                  <c:v>0.702</c:v>
                </c:pt>
              </c:numCache>
            </c:numRef>
          </c:val>
        </c:ser>
        <c:ser>
          <c:idx val="1"/>
          <c:order val="1"/>
          <c:tx>
            <c:v>PR-AUC</c:v>
          </c:tx>
          <c:spPr>
            <a:solidFill xmlns:a="http://schemas.openxmlformats.org/drawingml/2006/main">
              <a:srgbClr val="FF0051"/>
            </a:solidFill>
          </c:spPr>
          <c:cat>
            <c:strRef>
              <c:f>'Chart Data'!$C$2:$C$4</c:f>
              <c:strCache>
                <c:ptCount val="3"/>
                <c:pt idx="0">
                  <c:v>train</c:v>
                </c:pt>
                <c:pt idx="1">
                  <c:v>valid</c:v>
                </c:pt>
                <c:pt idx="2">
                  <c:v>test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0.1</c:v>
                </c:pt>
                <c:pt idx="1">
                  <c:v>0.07</c:v>
                </c:pt>
                <c:pt idx="2">
                  <c:v>0.063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1E1A2B"/>
                  </a:solidFill>
                  <a:latin typeface="Montserrat"/>
                  <a:ea typeface="Montserrat"/>
                  <a:cs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E1A2B"/>
              </a:solidFill>
              <a:latin typeface="Montserrat"/>
              <a:ea typeface="Montserrat"/>
              <a:cs typeface="Montserrat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endParaRPr sz="4800"/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90F17-421A-433D-A3A9-DC0C83E7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41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Коллектор</a:t>
            </a:r>
          </a:p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41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Контроль риска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A01A3-3E30-4C0D-8B75-15D61DF9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4EAFB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F4EAFB"/>
                </a:solidFill>
                <a:latin typeface="Montserrat"/>
                <a:ea typeface="Montserrat"/>
                <a:cs typeface="Montserrat"/>
              </a:rPr>
              <a:t>Кейс 08: прогнозирование тревожных кластеров и приоритизация ремонтных действий инженерных коллекторов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3B302-C79C-446B-8FE1-9DAC938B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ЛЦТ 2026 · ЖКХ · АО «Москоллектор»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e758313d10d466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0365D-EE4F-449A-9786-1DC7F418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ЗАДАЧА И БОЛЬ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E6DB53-2EA1-4B14-84C0-44A2C4E8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Существующий мониторинг реагирует на тревоги после факта и создает нагрузку на диспетчеров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CB7CE-11D1-48DE-BB58-29050214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3336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D4858-F7DE-4880-AB27-C7F7346A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825 км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9B1F12-A901-4712-8939-F013DBBE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инженерных коллекторов в эксплуатации АО «Москоллектор»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563F3-5B80-459E-A7F5-84421ACF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71625"/>
            <a:ext cx="25241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523B5B-4984-499A-B4C4-05F42181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33550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19,7 тыс. км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6E76B0-881A-4630-A453-182DD7B1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кабелей связи, размещенных в инфраструктуре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EC1568-816A-4F45-8485-1C499917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2190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641E5F-0E06-41EC-8449-5C5F0C01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8,3 тыс. км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11DF47-F804-4F30-85CA-5E41924E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силовых кабелей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71DC57-DBBF-463D-93DE-0C726087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71625"/>
            <a:ext cx="23812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400FEB-40D4-4E88-A87B-DC3BB61C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335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1,9 тыс. км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BD068B-213C-411E-93A2-D4A09D21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тепловых и водопроводных сетей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4625C4-A9DD-4384-89FF-6A920BC9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4857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002C99-A948-4063-B2BB-35D5EA58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Операционная проблема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2BF9DB-540B-4967-9CD6-2A206F42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438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Диспетчер получает поток тревог и вынужден быстро отличать риск от ложного срабатывания. Регламентное обслуживание не учитывает фактическое поведение датчика.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8DBBBE-4214-4752-BE6F-006BBE9D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4857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718BD4-70C9-4BAD-B2F5-0CEF7051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Что требуется заказчику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6CC28B-2924-4B98-92E9-EB6B2AE2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4438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Веб-сервис должен заранее ранжировать объекты риска, объяснять вклад признаков и помогать оформить превентивную заявку.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6ACE7C-AC63-465D-AF06-459976CF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rPr>
              <a:t>Факты инфраструктуры и требования взяты из кейса 08 ДЖКХ.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33fbf95c694483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59B44-7DA4-4B2E-A592-9B53D4E7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ИДЕЯ РЕШЕНИЯ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45D7A7-FA70-477B-BB5E-E0C1C05D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MVP строит очередь риска по каналам и объектам на горизонте 24 часа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8A1700-1B5E-419C-9955-32EF8260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47625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EC59FC-5E22-41F5-AF82-A833F11C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Скоринг риска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5946EF-0202-4ADB-8124-B576F272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4343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Оцениваем вероятность тревожного события или тревожного кластера на следующий день.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F75BBD-CD2A-476A-8C4E-591AF298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24000"/>
            <a:ext cx="47625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7BE171-D063-4422-B0AE-662E3828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Объяснение прогноза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04BDA1-1512-4C0C-A90D-2EB0DF83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4343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Показываем признаки, которые подняли риск: тип датчика, недавние тревоги, объект, сезонность.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070178-C417-4DDE-8184-F0F870EF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47625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9127C7-D587-47A8-BCE1-30D36604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Диспетчерская очередь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B5C5D2-C880-4ACC-ADB4-316BDFF4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343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Сортируем каналы по приоритету и отделяем текущую тревогу от прогноза будущего риска.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41447E-565E-45AA-A0EF-102FF6C4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24250"/>
            <a:ext cx="47625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275D3B-61D2-4F5D-88E2-E6F365EC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Черновик заявки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3892FE-3EB2-4C38-926A-FB744661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4343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Формируем основание для превентивной проверки с комментарием диспетчера.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5F89B9-1E34-4F87-AE65-6ECD2F5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rPr>
              <a:t>Формулировка target: proxy-risk по признаку «тревожное», без утверждения о подтвержденной аварии.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cba2c4e319c4bc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4EC1F-29F4-4216-A73B-1467B397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ДАННЫЕ И МАСШТАБ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18A9A5-6F8F-4F4E-AC40-3D56C58D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EDA обработал годовые архивы журналов СМВУ за 2019-2026 годы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77C929-B4A4-4412-8EE4-99A3DA9D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3812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D645B-27FB-40F9-A763-B8D206C0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313,5 млн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806113-ABBB-419C-BB77-E81023CF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строк журналов событий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F9D1D-E999-455A-ACAD-C2687163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28750"/>
            <a:ext cx="23812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1DD1B3-8D8A-49AA-AEA7-0918273D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90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0051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FF0051"/>
                </a:solidFill>
                <a:latin typeface="Montserrat Medium"/>
                <a:ea typeface="Montserrat Medium"/>
                <a:cs typeface="Montserrat Medium"/>
              </a:rPr>
              <a:t>2,47 млн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59CD6E-150B-472A-B68D-A873DF5D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288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тревожных событий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03E6BD-967C-4C74-8F91-3CC0D4DB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2190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89ECF3-8E26-4AA2-B393-0D50A2BE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906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8B8B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168B8B"/>
                </a:solidFill>
                <a:latin typeface="Montserrat Medium"/>
                <a:ea typeface="Montserrat Medium"/>
                <a:cs typeface="Montserrat Medium"/>
              </a:rPr>
              <a:t>12 628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DA41FB-19CB-4DA5-89E2-25F49FDF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288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каналов в журналах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5A98FB-792D-4F36-A2A0-71B6BAC8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2190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8E4559-5B65-40E4-97D0-2713A929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906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8B8B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168B8B"/>
                </a:solidFill>
                <a:latin typeface="Montserrat Medium"/>
                <a:ea typeface="Montserrat Medium"/>
                <a:cs typeface="Montserrat Medium"/>
              </a:rPr>
              <a:t>95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39B317-8EF0-468E-9509-1E7A89E2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288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объектов в справочнике</a:t>
            </a:r>
          </a:p>
        </p:txBody>
      </p:sp>
      <p:graphicFrame>
        <p:nvGraphicFramePr>
          <p:cNvPr id="75" name="Chart"/>
          <p:cNvGraphicFramePr/>
          <p:nvPr/>
        </p:nvGraphicFramePr>
        <p:xfrm>
          <a:off xmlns:a="http://schemas.openxmlformats.org/drawingml/2006/main" x="819150" y="3000375"/>
          <a:ext xmlns:a="http://schemas.openxmlformats.org/drawingml/2006/main" cx="981075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e3f2f76d644735"/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88976D-66A9-4579-8A1F-90157BA3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rPr>
              <a:t>2026 содержит данные до 30 июня. Пик 2021 требует отдельной обработки при обучении модели.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14ec8e1ea0842b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C2D08D-2E4F-491E-9083-787BF161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ВЫВОДЫ EDA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25DE7F-5EB7-46FA-B78B-B4A577A1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Данные позволяют строить ранжирование риска, но target требует аккуратной трактовки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FBAC9B-CD53-47F0-A65B-71C595C9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B6DE63-4C4B-4896-8C9F-D0CFA1D3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2021 год аномален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F17D05-330C-4196-957D-BD861A2B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Доля тревог 2,23%, что в несколько раз выше соседних лет. Валидацию нужно делать во времени.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18A7D7-989D-4F8C-9016-0A72B2DD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BD462-79C7-416C-BAE6-E2699B65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00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Газовая охрана доминирует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EB6185-21A4-4974-8AAC-F83B5E44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193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71,4% строк, но только 0,024% тревог. Без стратификации модель переучится на нормальный поток.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F8E25E-2E1A-453F-B01B-C61B7254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722D0C-9F67-4B4D-B805-7E2819C2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Справочник неполный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D802D0-B1B4-4154-B67A-05603DAD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1 143 канала из журналов отсутствуют в справочнике. Их нельзя просто удалить.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A220CC-CD1B-4C4F-91F6-97986C71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445D7A-CD07-4F5F-BA70-D7D699E4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Значение датчика смешанное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734B44-E386-4977-BC02-A30F7883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В поле есть числа и текстовые состояния: «Неисправен», «Обесточен», «Неопределен».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B1E14C-A0A1-4716-89E5-84175231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0C6202-FD7E-477B-B6A9-42E3C2E9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95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Сигнал живет в динамике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9CB8D5-99CF-433F-BA32-59599764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Простые агрегаты слабо коррелируют с target. Нужны rolling windows и изменение относительно нормы канала.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C807E5-E89A-4394-8C60-8139C3B7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F6F022-308D-4319-B516-65A42C6C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95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Target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A5BD8C-3C03-4A47-9E53-DAF7C8EF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Признак «тревожное» отражает событие мониторинга, но не подтвержденную физическую аварию.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3643047ce39463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4FDFD-E66D-4B34-AC5C-E971E95A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ML-ПОДХОД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68ECE-1E14-4BD0-8E4C-BF02141A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Первая модель строит дневную витрину по каналу и прогноз на следующие 24 часа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ED9F8F-FC64-4CF6-A23D-F3FEAD2B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666750" cy="552450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5B0A83"/>
          </a:solidFill>
          <a:ln xmlns:a="http://schemas.openxmlformats.org/drawingml/2006/main" w="0">
            <a:solidFill>
              <a:srgbClr val="5B0A83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96FF1-F9AF-49D6-8F3E-3D6BBB2E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Сырые события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54EAEE-98A8-4844-B594-008B9270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id канала, дата, время, тревожность, значение датчика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9EF2A-9207-4CC5-BE12-BFED6AB9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8097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5A4AF8-C9FA-4805-A3A7-201E8CD9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66875"/>
            <a:ext cx="666750" cy="552450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5B0A83"/>
          </a:solidFill>
          <a:ln xmlns:a="http://schemas.openxmlformats.org/drawingml/2006/main" w="0">
            <a:solidFill>
              <a:srgbClr val="5B0A83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E3EC2C-8B1E-46F3-BFDE-33D9E326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76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Витрина признаков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CE458E-8E19-4575-AEAF-AE05DA35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дневные окна, rolling 3/7/14 дней, текстовые состояния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BFAC1F-61E9-4825-9872-BCB216F0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097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06B79F-8519-4146-B7A7-3FE6E834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666750" cy="552450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41D486-A507-4B22-8EEC-258C65A5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LightGBM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5D4F3B-AAB2-4529-9486-83F9A2C8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категории датчика, объекта и инженерной системы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7D79FF-09B5-464C-A012-083D3609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8097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D28078-A1B3-41CB-B091-EA27435F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666875"/>
            <a:ext cx="666750" cy="552450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5B0A83"/>
          </a:solidFill>
          <a:ln xmlns:a="http://schemas.openxmlformats.org/drawingml/2006/main" w="0">
            <a:solidFill>
              <a:srgbClr val="5B0A83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3CBF9C-BD9B-4017-9AF0-A2CE336D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76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Очередь риска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115637-0688-4CFD-BF0E-F589CE5F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score, причины, порог и карточка действия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A9F987-4E52-4BD5-8D88-79B9D1AD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9715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467937-8588-4851-AB88-A4EB7ED4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Выбор target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2C60A1-ABEE-45D3-94D4-4536B92D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0175"/>
            <a:ext cx="929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target_alarm_next_24h: будет ли хотя бы одно тревожное событие по каналу в следующие сутки. Это честная proxy-постановка для MVP.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9239bc1b57b4e3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F7D62-C051-4D40-BE0F-A6716AC3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BASELINE LIGHTGBM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096C8-A668-4F9F-A71A-4392C35D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Модель уже обучена на 2025-2026 и проверена на временном разбиении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5334000" cy="1905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66800"/>
                <a:gridCol w="1066800"/>
                <a:gridCol w="1066800"/>
                <a:gridCol w="1066800"/>
                <a:gridCol w="1066800"/>
              </a:tblGrid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positive rate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ROC-AUC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PR-AUC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0,78%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0,936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0,195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valid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1,44%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0,748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0,177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1,56%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0,702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0,150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6572250" y="1476375"/>
          <a:ext xmlns:a="http://schemas.openxmlformats.org/drawingml/2006/main" cx="4191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333500b499473f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4E0DA8-836A-4192-A9F5-FE1416C5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9715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F0210C-C36C-44C0-B30D-96204602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0075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Честное ограничение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106952-CF20-4C6C-BE91-7F416F2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29175"/>
            <a:ext cx="929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Precision и Recall baseline пока ниже целевых требований. Это нормальная первая точка: сильный дисбаланс, proxy-target и drift требуют улучшения target и признаков.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9cd0caf714245f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7FF31-C0F5-4827-A73A-416B5CCB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ВАЖНОСТЬ И DRIFT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AE92E9-124E-474C-A15D-88E6CF9B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Baseline показывает, какие факторы сейчас формируют риск и где распределения меняются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39c1e6a114967"/>
          <a:stretch xmlns:a="http://schemas.openxmlformats.org/drawingml/2006/main"/>
        </p:blipFill>
        <p:spPr>
          <a:xfrm xmlns:a="http://schemas.openxmlformats.org/drawingml/2006/main">
            <a:off x="1259086" y="1381125"/>
            <a:ext cx="3911203" cy="3476625"/>
          </a:xfrm>
          <a:prstGeom xmlns:a="http://schemas.openxmlformats.org/drawingml/2006/main" prst="roundRect">
            <a:avLst>
              <a:gd name="adj" fmla="val 3836"/>
            </a:avLst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36a6897ba4b77"/>
          <a:stretch xmlns:a="http://schemas.openxmlformats.org/drawingml/2006/main"/>
        </p:blipFill>
        <p:spPr>
          <a:xfrm xmlns:a="http://schemas.openxmlformats.org/drawingml/2006/main">
            <a:off x="6191250" y="1796521"/>
            <a:ext cx="4762500" cy="2645833"/>
          </a:xfrm>
          <a:prstGeom xmlns:a="http://schemas.openxmlformats.org/drawingml/2006/main" prst="roundRect">
            <a:avLst>
              <a:gd name="adj" fmla="val 3836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B8D743-EC41-4442-8F42-DF4F25F2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Топ факторов: тип датчика, тревоги за 14 дней, объект. Главный drift: месяц, что подтверждает необходимость временной валидации.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b668e7327eb4d0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1077D-E505-46A0-83ED-2782D0F5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ПРОДУКТОВЫЙ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9B583D-4053-4B3C-8EC4-2D6A6FB8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Диспетчер получает не число ради числа, а очередь действий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3B19D-844F-47CE-8484-F6A8E2A3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19087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3C4C6-00A7-4F35-BA37-59FA8D13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1. Очередь риска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99CBE-233E-47B8-8069-47580235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771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Каналы и объекты сортируются по score. Фильтр отделяет текущие тревоги от прогнозируемых.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C94124-0882-4720-B19E-A69D7547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19087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551D6E-2193-4C2F-9056-B38B897E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9545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2. Карточка прогноза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330567-8D88-463B-8A3B-6983AC30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14550"/>
            <a:ext cx="2771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Показывает тип датчика, объект, вклад признаков и рекомендуемое действие.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1ABDE7-AE63-4C91-9B97-5AED51F4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19087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B72A93-2CF8-49A2-BB28-2A033774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3. Черновик заявки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66FC7D-A350-48BA-B836-BFE5A2AF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14550"/>
            <a:ext cx="2771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Диспетчер добавляет комментарий и сохраняет основание для проверки или ТО.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E9CB59-78B1-4FE2-8D1F-509DC74B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3619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66F022-4750-4CE3-97E5-FAB46352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862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REST API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4E235A-DC80-4BA1-A462-1E94580B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05300"/>
            <a:ext cx="320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GET /risks</a:t>
            </a:r>
          </a:p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GET /risks/{risk_id}</a:t>
            </a:r>
          </a:p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POST /tickets/draft</a:t>
            </a:r>
          </a:p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POST /feedback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91D8EC-F15A-4074-AA14-F28D8885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3619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6032B6-ABDA-4382-863C-6093E3FB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862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Контур feedback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867F9D-030D-4505-9E4A-D6EA8581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320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Результаты проверки возвращаются в систему и помогают уточнять модель, пороги и правила приоритизации.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2e1b9eec3cb4f5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33E9F6-F6FF-4253-BA68-F5463099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ЧТО УЖЕ ГОТОВО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137795-3D9E-4015-A144-8246692D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Репозиторий содержит данные для защиты аналитической части и воспроизводимый baseline</a:t>
            </a:r>
          </a:p>
        </p:txBody>
      </p:sp>
      <p:graphicFrame>
        <p:nvGraphicFramePr>
          <p:cNvPr id="51" name=""/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98107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905375"/>
                <a:gridCol w="4905375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Блок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Содержание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Документация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README, описание кейса, требования, стратегия, setup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EDA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313,5 млн строк, таблицы покрытия, аномалии, графики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ML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скрипт LightGBM, модель, метрики, SHAP, permutation, drift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Артефакты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ROC/PR, PSI/KS, parquet coverage и drift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Ограничения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target proxy, нет подтвержденной аварии от ОДС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A1D22B-BF4E-4B46-8735-53A44C70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rPr>
              <a:t>Репозиторий: github.com/AnnaRazina10/lct-collector-risk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051ae6059434b4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D70316-2CEA-458D-B87A-832FB19A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ПЛАН ДО ФИНАЛА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4B3FF-EEB5-45BC-B8A6-822CA966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Следующий шаг: улучшить качество прогнозов и собрать демонстрационный контур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CB4FB7-9848-4376-91FC-B553E900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238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95209-6EBD-48CE-9CF0-7E2FD4D2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Target v2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3DDFCF-E4D9-45DE-B801-2F24D8B6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Перейти от одиночной тревоги к тревожному кластеру и состояниям «Неисправен», «Обесточен», «Неопределен».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AFD848-16CB-47DE-B00B-C198C503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238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374D1A-F866-4F01-8A0B-7F905704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478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Feature mart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8303C5-957A-40E4-8F11-B3EF1129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669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Добавить окна 1 час и 6 часов, соседние датчики, типовые режимы канала, сезон и календарь работ.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0316FF-3461-4F6F-B1C6-3CFB091F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3238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1F1C80-F05A-4B6D-8CFD-66977533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478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Modeling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DF98C1-456A-4920-A5DE-16FFDC75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66925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Сравнить LightGBM, CatBoost и отдельные пороги для групп датчиков. Проверять только по времени.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ECF40E-2298-4B8D-BDEC-34A0F854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14750"/>
            <a:ext cx="3238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6713D0-AF8A-4688-83CE-F1A265B0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862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Product demo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7F938D-2636-436A-A0E5-6A7016C2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0530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Подключить mock API, показать очередь риска, карточку объяснения и черновик заявки.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544E60-4E7A-442E-AA0C-E62E86F2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3238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8A0408-0C6A-4088-8891-5C04FE05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862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Expert validation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F223BA-30D7-42BF-A88F-17886D4B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05300"/>
            <a:ext cx="2819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Согласовать с предметниками, какие события считать полезным предупреждением, а какие являются шумом.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endParaRPr sz="4800"/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9A3C6-A913-4E17-833B-317F0972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34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Коллектор · Контроль риска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AC1B0-5025-4054-918D-3FAC891A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809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AFB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F4EAFB"/>
                </a:solidFill>
                <a:latin typeface="Montserrat"/>
                <a:ea typeface="Montserrat"/>
                <a:cs typeface="Montserrat"/>
              </a:rPr>
              <a:t>Первый контур уже показывает структуру данных, ограничения target и воспроизводимый baseline. Дальше фокус на target v2, демо API и повышении Precision/Recall.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EB5C5-DC0B-4A79-AFB5-6A0565C3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github.com/AnnaRazina10/lct-collector-risk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2026-09-29T16:34:42.6720000Z</dcterms:created>
  <dcterms:modified xsi:type="dcterms:W3CDTF">2026-09-29T16:34:42.6720000Z</dcterms:modified>
</coreProperties>
</file>