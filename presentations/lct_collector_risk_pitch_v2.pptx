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9d55747acc4b5a" /><Relationship Type="http://schemas.openxmlformats.org/officeDocument/2006/relationships/extended-properties" Target="/docProps/app.xml" Id="Rba1483eefc034e2c" /><Relationship Type="http://schemas.openxmlformats.org/officeDocument/2006/relationships/officeDocument" Target="/ppt/presentation.xml" Id="R5fcc47709b6f47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04ae8fd90c4408"/>
  </p:sldMasterIdLst>
  <p:notesMasterIdLst>
    <p:notesMasterId xmlns:r="http://schemas.openxmlformats.org/officeDocument/2006/relationships" r:id="R9a5e51e0de40474d"/>
  </p:notesMasterIdLst>
  <p:sldIdLst>
    <p:sldId xmlns:r="http://schemas.openxmlformats.org/officeDocument/2006/relationships" id="256" r:id="R0d74322018314039"/>
    <p:sldId xmlns:r="http://schemas.openxmlformats.org/officeDocument/2006/relationships" id="257" r:id="R7ee2880739644782"/>
    <p:sldId xmlns:r="http://schemas.openxmlformats.org/officeDocument/2006/relationships" id="258" r:id="R5b2c573ed5d54306"/>
    <p:sldId xmlns:r="http://schemas.openxmlformats.org/officeDocument/2006/relationships" id="259" r:id="R42f80cc0c50346cb"/>
    <p:sldId xmlns:r="http://schemas.openxmlformats.org/officeDocument/2006/relationships" id="260" r:id="Rfca24085c64b428d"/>
    <p:sldId xmlns:r="http://schemas.openxmlformats.org/officeDocument/2006/relationships" id="261" r:id="Ra712bd78a6ff4ac8"/>
    <p:sldId xmlns:r="http://schemas.openxmlformats.org/officeDocument/2006/relationships" id="262" r:id="Rd8133b5e73e343ee"/>
    <p:sldId xmlns:r="http://schemas.openxmlformats.org/officeDocument/2006/relationships" id="263" r:id="R4fe3cd5887334e8a"/>
    <p:sldId xmlns:r="http://schemas.openxmlformats.org/officeDocument/2006/relationships" id="264" r:id="R215c63d763e94f1f"/>
    <p:sldId xmlns:r="http://schemas.openxmlformats.org/officeDocument/2006/relationships" id="265" r:id="R9ddf990365e24d50"/>
    <p:sldId xmlns:r="http://schemas.openxmlformats.org/officeDocument/2006/relationships" id="266" r:id="R2c41ae0f9ba94160"/>
    <p:sldId xmlns:r="http://schemas.openxmlformats.org/officeDocument/2006/relationships" id="267" r:id="R264a52bb25da4c1f"/>
    <p:sldId xmlns:r="http://schemas.openxmlformats.org/officeDocument/2006/relationships" id="268" r:id="R7b618733d91b439e"/>
    <p:sldId xmlns:r="http://schemas.openxmlformats.org/officeDocument/2006/relationships" id="269" r:id="Rb8747594ea864c18"/>
    <p:sldId xmlns:r="http://schemas.openxmlformats.org/officeDocument/2006/relationships" id="270" r:id="Rc63ca09a916e47a5"/>
    <p:sldId xmlns:r="http://schemas.openxmlformats.org/officeDocument/2006/relationships" id="271" r:id="Rfacc84cd247c4c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e48af950054103" /><Relationship Type="http://schemas.openxmlformats.org/officeDocument/2006/relationships/slideMaster" Target="/ppt/slideMasters/slideMaster1.xml" Id="Raa04ae8fd90c4408" /><Relationship Type="http://schemas.openxmlformats.org/officeDocument/2006/relationships/notesMaster" Target="/ppt/notesMasters/notesMaster1.xml" Id="R9a5e51e0de40474d" /><Relationship Type="http://schemas.openxmlformats.org/officeDocument/2006/relationships/presProps" Target="/ppt/presProps.xml" Id="R0ea28bbd21824ede" /><Relationship Type="http://schemas.openxmlformats.org/officeDocument/2006/relationships/viewProps" Target="/ppt/viewProps.xml" Id="Re0c5fcdcd8f54db1" /><Relationship Type="http://schemas.openxmlformats.org/officeDocument/2006/relationships/tableStyles" Target="/ppt/tableStyles.xml" Id="R7603c1c32a704835" /><Relationship Type="http://schemas.openxmlformats.org/officeDocument/2006/relationships/slide" Target="/ppt/slides/slide1.xml" Id="R0d74322018314039" /><Relationship Type="http://schemas.openxmlformats.org/officeDocument/2006/relationships/slide" Target="/ppt/slides/slide2.xml" Id="R7ee2880739644782" /><Relationship Type="http://schemas.openxmlformats.org/officeDocument/2006/relationships/slide" Target="/ppt/slides/slide3.xml" Id="R5b2c573ed5d54306" /><Relationship Type="http://schemas.openxmlformats.org/officeDocument/2006/relationships/slide" Target="/ppt/slides/slide4.xml" Id="R42f80cc0c50346cb" /><Relationship Type="http://schemas.openxmlformats.org/officeDocument/2006/relationships/slide" Target="/ppt/slides/slide5.xml" Id="Rfca24085c64b428d" /><Relationship Type="http://schemas.openxmlformats.org/officeDocument/2006/relationships/slide" Target="/ppt/slides/slide6.xml" Id="Ra712bd78a6ff4ac8" /><Relationship Type="http://schemas.openxmlformats.org/officeDocument/2006/relationships/slide" Target="/ppt/slides/slide7.xml" Id="Rd8133b5e73e343ee" /><Relationship Type="http://schemas.openxmlformats.org/officeDocument/2006/relationships/slide" Target="/ppt/slides/slide8.xml" Id="R4fe3cd5887334e8a" /><Relationship Type="http://schemas.openxmlformats.org/officeDocument/2006/relationships/slide" Target="/ppt/slides/slide9.xml" Id="R215c63d763e94f1f" /><Relationship Type="http://schemas.openxmlformats.org/officeDocument/2006/relationships/slide" Target="/ppt/slides/slide10.xml" Id="R9ddf990365e24d50" /><Relationship Type="http://schemas.openxmlformats.org/officeDocument/2006/relationships/slide" Target="/ppt/slides/slide11.xml" Id="R2c41ae0f9ba94160" /><Relationship Type="http://schemas.openxmlformats.org/officeDocument/2006/relationships/slide" Target="/ppt/slides/slide12.xml" Id="R264a52bb25da4c1f" /><Relationship Type="http://schemas.openxmlformats.org/officeDocument/2006/relationships/slide" Target="/ppt/slides/slide13.xml" Id="R7b618733d91b439e" /><Relationship Type="http://schemas.openxmlformats.org/officeDocument/2006/relationships/slide" Target="/ppt/slides/slide14.xml" Id="Rb8747594ea864c18" /><Relationship Type="http://schemas.openxmlformats.org/officeDocument/2006/relationships/slide" Target="/ppt/slides/slide15.xml" Id="Rc63ca09a916e47a5" /><Relationship Type="http://schemas.openxmlformats.org/officeDocument/2006/relationships/slide" Target="/ppt/slides/slide16.xml" Id="Rfacc84cd247c4c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5d7ec03d314c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b1a9f89a47449e" /><Relationship Type="http://schemas.openxmlformats.org/officeDocument/2006/relationships/notesMaster" Target="/ppt/notesMasters/notesMaster1.xml" Id="R1da23136a3624c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e8eba7112e48fa" /><Relationship Type="http://schemas.openxmlformats.org/officeDocument/2006/relationships/notesMaster" Target="/ppt/notesMasters/notesMaster1.xml" Id="Redbc6b6c10c94c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8349f641b54ca0" /><Relationship Type="http://schemas.openxmlformats.org/officeDocument/2006/relationships/notesMaster" Target="/ppt/notesMasters/notesMaster1.xml" Id="Rd4a830ab061049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a9369f633b4e50" /><Relationship Type="http://schemas.openxmlformats.org/officeDocument/2006/relationships/notesMaster" Target="/ppt/notesMasters/notesMaster1.xml" Id="R328e0217a1a94c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22958ed2af4ec3" /><Relationship Type="http://schemas.openxmlformats.org/officeDocument/2006/relationships/notesMaster" Target="/ppt/notesMasters/notesMaster1.xml" Id="R4d314ae1721e4b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37e93ff4214120" /><Relationship Type="http://schemas.openxmlformats.org/officeDocument/2006/relationships/notesMaster" Target="/ppt/notesMasters/notesMaster1.xml" Id="R9311354a77864a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d83e1a7fee4051" /><Relationship Type="http://schemas.openxmlformats.org/officeDocument/2006/relationships/notesMaster" Target="/ppt/notesMasters/notesMaster1.xml" Id="R406826aa623144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e0bb8dcb4f48d9" /><Relationship Type="http://schemas.openxmlformats.org/officeDocument/2006/relationships/notesMaster" Target="/ppt/notesMasters/notesMaster1.xml" Id="R07da39ab2dbc48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28893e97cf46ef" /><Relationship Type="http://schemas.openxmlformats.org/officeDocument/2006/relationships/notesMaster" Target="/ppt/notesMasters/notesMaster1.xml" Id="Rf5d7dd7c3eb44b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f323f1b6bd4c3c" /><Relationship Type="http://schemas.openxmlformats.org/officeDocument/2006/relationships/notesMaster" Target="/ppt/notesMasters/notesMaster1.xml" Id="R7d900eb287e641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1358c7392f4ab1" /><Relationship Type="http://schemas.openxmlformats.org/officeDocument/2006/relationships/notesMaster" Target="/ppt/notesMasters/notesMaster1.xml" Id="R6a4ff129ebd34c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8eb4b6a56c49a7" /><Relationship Type="http://schemas.openxmlformats.org/officeDocument/2006/relationships/notesMaster" Target="/ppt/notesMasters/notesMaster1.xml" Id="R4fae530c93e844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84611f5b1b4c23" /><Relationship Type="http://schemas.openxmlformats.org/officeDocument/2006/relationships/notesMaster" Target="/ppt/notesMasters/notesMaster1.xml" Id="Rd78407258a1143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b8d9d06e1e4f3a" /><Relationship Type="http://schemas.openxmlformats.org/officeDocument/2006/relationships/notesMaster" Target="/ppt/notesMasters/notesMaster1.xml" Id="R30f5188137e54c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faa43f775044de1" /><Relationship Type="http://schemas.openxmlformats.org/officeDocument/2006/relationships/notesMaster" Target="/ppt/notesMasters/notesMaster1.xml" Id="R441077676a5249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8b7908f5a8843ad" /><Relationship Type="http://schemas.openxmlformats.org/officeDocument/2006/relationships/notesMaster" Target="/ppt/notesMasters/notesMaster1.xml" Id="R17efdf5856e240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Титульный слайд описательной части.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Обязательный слайд 7: титульный слайд блока задачи и команды.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Обязательный слайд 8: описание команды, сути и уникальности решения.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Обязательный слайд 9: состав команды. Лишние карточки из шаблона удалены визуально, оставлены три участника.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Обязательный слайд 10: история команды, мотивация и вызовы.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Обязательный слайд 11: техническая и продуктовая суть решения.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0d10af4bda4029" /><Relationship Type="http://schemas.openxmlformats.org/officeDocument/2006/relationships/image" Target="/ppt/media/image2.png" Id="R4b034c4a767341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5f7e4314a140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e3b713aea48f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dc7e7f8e7345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f46705006842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c9a6225f224ae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a3b8de34f4c2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33d9c926854b2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6789fe12624d0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a9cd15dd8e423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1920a85fa643c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aa146c002040b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8e2a96fa49451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5f4575bb9e402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2f541d9737432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a60e3294e48dc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1c206989a34c1b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c2ea40f9bf4fd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cc4c92fee2474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af52723056450a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27e353bff4771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067b22c7e64e91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572b92b0243c9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4b034c4a767341e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14.09.2026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14.09.2026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14.09.2026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14.09.2026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14.09.2026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14.09.2026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81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35e4a07569684b74" /><Relationship Type="http://schemas.openxmlformats.org/officeDocument/2006/relationships/theme" Target="/ppt/slideMasters/theme/theme2.xml" Id="R84b2742d23b94827" /><Relationship Type="http://schemas.openxmlformats.org/officeDocument/2006/relationships/slideLayout" Target="/ppt/slideLayouts/slideLayout1.xml" Id="Rbd9f5811090943ef" /><Relationship Type="http://schemas.openxmlformats.org/officeDocument/2006/relationships/slideLayout" Target="/ppt/slideLayouts/slideLayout2.xml" Id="Rda25496b6bb7477c" /><Relationship Type="http://schemas.openxmlformats.org/officeDocument/2006/relationships/slideLayout" Target="/ppt/slideLayouts/slideLayout3.xml" Id="Rdabd831a19814571" /><Relationship Type="http://schemas.openxmlformats.org/officeDocument/2006/relationships/slideLayout" Target="/ppt/slideLayouts/slideLayout4.xml" Id="Rbb28cffcf9ea4408" /><Relationship Type="http://schemas.openxmlformats.org/officeDocument/2006/relationships/slideLayout" Target="/ppt/slideLayouts/slideLayout5.xml" Id="R5f7a97d3df4649d6" /><Relationship Type="http://schemas.openxmlformats.org/officeDocument/2006/relationships/slideLayout" Target="/ppt/slideLayouts/slideLayout6.xml" Id="R2f074706b8234bb4" /><Relationship Type="http://schemas.openxmlformats.org/officeDocument/2006/relationships/slideLayout" Target="/ppt/slideLayouts/slideLayout7.xml" Id="Rd8b34941ccd741b6" /><Relationship Type="http://schemas.openxmlformats.org/officeDocument/2006/relationships/slideLayout" Target="/ppt/slideLayouts/slideLayout8.xml" Id="R28a67987d5e746fa" /><Relationship Type="http://schemas.openxmlformats.org/officeDocument/2006/relationships/slideLayout" Target="/ppt/slideLayouts/slideLayout9.xml" Id="R28f1eee6dd1b44ca" /><Relationship Type="http://schemas.openxmlformats.org/officeDocument/2006/relationships/slideLayout" Target="/ppt/slideLayouts/slideLayout10.xml" Id="R06aae019e58041fd" /><Relationship Type="http://schemas.openxmlformats.org/officeDocument/2006/relationships/slideLayout" Target="/ppt/slideLayouts/slideLayout11.xml" Id="Ra85455d495234c3f" /><Relationship Type="http://schemas.openxmlformats.org/officeDocument/2006/relationships/slideLayout" Target="/ppt/slideLayouts/slideLayout12.xml" Id="Rdfdb0923953b4c0c" /><Relationship Type="http://schemas.openxmlformats.org/officeDocument/2006/relationships/slideLayout" Target="/ppt/slideLayouts/slideLayout13.xml" Id="R63d170041e804f73" /><Relationship Type="http://schemas.openxmlformats.org/officeDocument/2006/relationships/slideLayout" Target="/ppt/slideLayouts/slideLayout14.xml" Id="R5e72103d35e14e4b" /><Relationship Type="http://schemas.openxmlformats.org/officeDocument/2006/relationships/slideLayout" Target="/ppt/slideLayouts/slideLayout15.xml" Id="R942f5d15ca214b02" /><Relationship Type="http://schemas.openxmlformats.org/officeDocument/2006/relationships/slideLayout" Target="/ppt/slideLayouts/slideLayout16.xml" Id="Rf8b4a04a5d8543ef" /><Relationship Type="http://schemas.openxmlformats.org/officeDocument/2006/relationships/slideLayout" Target="/ppt/slideLayouts/slideLayout17.xml" Id="Rbe22e38245274242" /><Relationship Type="http://schemas.openxmlformats.org/officeDocument/2006/relationships/slideLayout" Target="/ppt/slideLayouts/slideLayout18.xml" Id="R3db064d381814ea1" /><Relationship Type="http://schemas.openxmlformats.org/officeDocument/2006/relationships/slideLayout" Target="/ppt/slideLayouts/slideLayout19.xml" Id="R553bc0369ced4330" /><Relationship Type="http://schemas.openxmlformats.org/officeDocument/2006/relationships/slideLayout" Target="/ppt/slideLayouts/slideLayout20.xml" Id="R61d66857cbb34d52" /><Relationship Type="http://schemas.openxmlformats.org/officeDocument/2006/relationships/slideLayout" Target="/ppt/slideLayouts/slideLayout21.xml" Id="R13837d3b329c49d4" /><Relationship Type="http://schemas.openxmlformats.org/officeDocument/2006/relationships/slideLayout" Target="/ppt/slideLayouts/slideLayout22.xml" Id="Rd28a41c4b9ec4bb9" /><Relationship Type="http://schemas.openxmlformats.org/officeDocument/2006/relationships/slideLayout" Target="/ppt/slideLayouts/slideLayout23.xml" Id="Rfdbac5b810174dba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5e4a07569684b7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9f5811090943ef"/>
    <p:sldLayoutId xmlns:r="http://schemas.openxmlformats.org/officeDocument/2006/relationships" id="2147483650" r:id="Rda25496b6bb7477c"/>
    <p:sldLayoutId xmlns:r="http://schemas.openxmlformats.org/officeDocument/2006/relationships" id="2147483651" r:id="Rdabd831a19814571"/>
    <p:sldLayoutId xmlns:r="http://schemas.openxmlformats.org/officeDocument/2006/relationships" id="2147483652" r:id="Rbb28cffcf9ea4408"/>
    <p:sldLayoutId xmlns:r="http://schemas.openxmlformats.org/officeDocument/2006/relationships" id="2147483653" r:id="R5f7a97d3df4649d6"/>
    <p:sldLayoutId xmlns:r="http://schemas.openxmlformats.org/officeDocument/2006/relationships" id="2147483654" r:id="R2f074706b8234bb4"/>
    <p:sldLayoutId xmlns:r="http://schemas.openxmlformats.org/officeDocument/2006/relationships" id="2147483655" r:id="Rd8b34941ccd741b6"/>
    <p:sldLayoutId xmlns:r="http://schemas.openxmlformats.org/officeDocument/2006/relationships" id="2147483656" r:id="R28a67987d5e746fa"/>
    <p:sldLayoutId xmlns:r="http://schemas.openxmlformats.org/officeDocument/2006/relationships" id="2147483657" r:id="R28f1eee6dd1b44ca"/>
    <p:sldLayoutId xmlns:r="http://schemas.openxmlformats.org/officeDocument/2006/relationships" id="2147483658" r:id="R06aae019e58041fd"/>
    <p:sldLayoutId xmlns:r="http://schemas.openxmlformats.org/officeDocument/2006/relationships" id="2147483659" r:id="Ra85455d495234c3f"/>
    <p:sldLayoutId xmlns:r="http://schemas.openxmlformats.org/officeDocument/2006/relationships" id="2147483660" r:id="Rdfdb0923953b4c0c"/>
    <p:sldLayoutId xmlns:r="http://schemas.openxmlformats.org/officeDocument/2006/relationships" id="2147483661" r:id="R63d170041e804f73"/>
    <p:sldLayoutId xmlns:r="http://schemas.openxmlformats.org/officeDocument/2006/relationships" id="2147483662" r:id="R5e72103d35e14e4b"/>
    <p:sldLayoutId xmlns:r="http://schemas.openxmlformats.org/officeDocument/2006/relationships" id="2147483663" r:id="R942f5d15ca214b02"/>
    <p:sldLayoutId xmlns:r="http://schemas.openxmlformats.org/officeDocument/2006/relationships" id="2147483664" r:id="Rf8b4a04a5d8543ef"/>
    <p:sldLayoutId xmlns:r="http://schemas.openxmlformats.org/officeDocument/2006/relationships" id="2147483665" r:id="Rbe22e38245274242"/>
    <p:sldLayoutId xmlns:r="http://schemas.openxmlformats.org/officeDocument/2006/relationships" id="2147483666" r:id="R3db064d381814ea1"/>
    <p:sldLayoutId xmlns:r="http://schemas.openxmlformats.org/officeDocument/2006/relationships" id="2147483667" r:id="R553bc0369ced4330"/>
    <p:sldLayoutId xmlns:r="http://schemas.openxmlformats.org/officeDocument/2006/relationships" id="2147483668" r:id="R61d66857cbb34d52"/>
    <p:sldLayoutId xmlns:r="http://schemas.openxmlformats.org/officeDocument/2006/relationships" id="2147483669" r:id="R13837d3b329c49d4"/>
    <p:sldLayoutId xmlns:r="http://schemas.openxmlformats.org/officeDocument/2006/relationships" id="2147483670" r:id="Rd28a41c4b9ec4bb9"/>
    <p:sldLayoutId xmlns:r="http://schemas.openxmlformats.org/officeDocument/2006/relationships" id="2147483671" r:id="Rfdbac5b810174dba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24119361a4b7c" /><Relationship Type="http://schemas.openxmlformats.org/officeDocument/2006/relationships/notesSlide" Target="/ppt/notesSlides/notesSlide1.xml" Id="Rb6cea2bd02da41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e004d94590f46b4" /><Relationship Type="http://schemas.openxmlformats.org/officeDocument/2006/relationships/image" Target="/ppt/media/image3.png" Id="Rfdda283bf9a74601" /><Relationship Type="http://schemas.openxmlformats.org/officeDocument/2006/relationships/notesSlide" Target="/ppt/notesSlides/notesSlide2.xml" Id="R57c958509a5b44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f86ffb763634f56" /><Relationship Type="http://schemas.openxmlformats.org/officeDocument/2006/relationships/image" Target="/ppt/media/image3.png" Id="R7973d909ca4846a7" /><Relationship Type="http://schemas.openxmlformats.org/officeDocument/2006/relationships/notesSlide" Target="/ppt/notesSlides/notesSlide3.xml" Id="Rb2d93e4f998345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fcc75fe81ee4a81" /><Relationship Type="http://schemas.openxmlformats.org/officeDocument/2006/relationships/image" Target="/ppt/media/image3.png" Id="R31c762cfe9354078" /><Relationship Type="http://schemas.openxmlformats.org/officeDocument/2006/relationships/chart" Target="/ppt/slides/charts/chart1.xml" Id="Rd092e2da01854043" /><Relationship Type="http://schemas.openxmlformats.org/officeDocument/2006/relationships/notesSlide" Target="/ppt/notesSlides/notesSlide4.xml" Id="R084149f1f52548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72de34ebb004a66" /><Relationship Type="http://schemas.openxmlformats.org/officeDocument/2006/relationships/image" Target="/ppt/media/image3.png" Id="R2ce32e879b0f4739" /><Relationship Type="http://schemas.openxmlformats.org/officeDocument/2006/relationships/notesSlide" Target="/ppt/notesSlides/notesSlide5.xml" Id="R3ec4e6f00d464e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4ba8e9805ae4ca8" /><Relationship Type="http://schemas.openxmlformats.org/officeDocument/2006/relationships/image" Target="/ppt/media/image3.png" Id="Re809e7570e2b497e" /><Relationship Type="http://schemas.openxmlformats.org/officeDocument/2006/relationships/notesSlide" Target="/ppt/notesSlides/notesSlide6.xml" Id="R89e9312d59024c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a24a74958436a" /><Relationship Type="http://schemas.openxmlformats.org/officeDocument/2006/relationships/notesSlide" Target="/ppt/notesSlides/notesSlide7.xml" Id="R42801c53d7ae4c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92df6112894133" /><Relationship Type="http://schemas.openxmlformats.org/officeDocument/2006/relationships/image" Target="/ppt/media/image4.png" Id="R4a69bfa7586442f6" /><Relationship Type="http://schemas.openxmlformats.org/officeDocument/2006/relationships/notesSlide" Target="/ppt/notesSlides/notesSlide8.xml" Id="Rfbbd919ebb8045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431a249745e4b1c" /><Relationship Type="http://schemas.openxmlformats.org/officeDocument/2006/relationships/image" Target="/ppt/media/image.png" Id="R699240449dae4456" /><Relationship Type="http://schemas.openxmlformats.org/officeDocument/2006/relationships/image" Target="/ppt/media/image.jpeg" Id="R0800cd6dad95413d" /><Relationship Type="http://schemas.openxmlformats.org/officeDocument/2006/relationships/image" Target="/ppt/media/image2.jpeg" Id="Re7e438af237240c5" /><Relationship Type="http://schemas.openxmlformats.org/officeDocument/2006/relationships/image" Target="/ppt/media/image3.jpeg" Id="Re25a20d3517049be" /><Relationship Type="http://schemas.openxmlformats.org/officeDocument/2006/relationships/notesSlide" Target="/ppt/notesSlides/notesSlide9.xml" Id="R87494cd8113d4b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3776234d4bb4607" /><Relationship Type="http://schemas.openxmlformats.org/officeDocument/2006/relationships/image" Target="/ppt/media/image3.png" Id="Rc56b5b45e0d64cbc" /><Relationship Type="http://schemas.openxmlformats.org/officeDocument/2006/relationships/notesSlide" Target="/ppt/notesSlides/notesSlide10.xml" Id="Rb89606aaa4114a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e7682b38c9f47bf" /><Relationship Type="http://schemas.openxmlformats.org/officeDocument/2006/relationships/image" Target="/ppt/media/image.png" Id="R90762e9085f84fff" /><Relationship Type="http://schemas.openxmlformats.org/officeDocument/2006/relationships/notesSlide" Target="/ppt/notesSlides/notesSlide11.xml" Id="R9a86d56b9ff747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bd91eb6679d4ca5" /><Relationship Type="http://schemas.openxmlformats.org/officeDocument/2006/relationships/image" Target="/ppt/media/image3.png" Id="Rde19623b8546424c" /><Relationship Type="http://schemas.openxmlformats.org/officeDocument/2006/relationships/chart" Target="/ppt/slides/charts/chart2.xml" Id="R8e17fa178cb74467" /><Relationship Type="http://schemas.openxmlformats.org/officeDocument/2006/relationships/notesSlide" Target="/ppt/notesSlides/notesSlide12.xml" Id="R07eb4de287874d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0b85ecb8a0c4f99" /><Relationship Type="http://schemas.openxmlformats.org/officeDocument/2006/relationships/image" Target="/ppt/media/image3.png" Id="R7d1b867162424907" /><Relationship Type="http://schemas.openxmlformats.org/officeDocument/2006/relationships/image" Target="/ppt/media/image5.png" Id="R6fdb6ca783894e92" /><Relationship Type="http://schemas.openxmlformats.org/officeDocument/2006/relationships/image" Target="/ppt/media/image6.png" Id="R242492529cbe48c8" /><Relationship Type="http://schemas.openxmlformats.org/officeDocument/2006/relationships/notesSlide" Target="/ppt/notesSlides/notesSlide13.xml" Id="R203b3b6fad9e40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02ec67956e84263" /><Relationship Type="http://schemas.openxmlformats.org/officeDocument/2006/relationships/image" Target="/ppt/media/image3.png" Id="R38a8055cb55c418c" /><Relationship Type="http://schemas.openxmlformats.org/officeDocument/2006/relationships/notesSlide" Target="/ppt/notesSlides/notesSlide14.xml" Id="R2da5c0be6c7046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6fd08fa6a764e3b" /><Relationship Type="http://schemas.openxmlformats.org/officeDocument/2006/relationships/image" Target="/ppt/media/image3.png" Id="R4fdffc2fc8a146cc" /><Relationship Type="http://schemas.openxmlformats.org/officeDocument/2006/relationships/notesSlide" Target="/ppt/notesSlides/notesSlide15.xml" Id="Rebd2b415e581458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177a7647f4108" /><Relationship Type="http://schemas.openxmlformats.org/officeDocument/2006/relationships/notesSlide" Target="/ppt/notesSlides/notesSlide16.xml" Id="Reb3706a75ff34f2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Доля тревог, %</c:v>
          </c:tx>
          <c:spPr>
            <a:ln xmlns:a="http://schemas.openxmlformats.org/drawingml/2006/main" w="28575">
              <a:solidFill>
                <a:srgbClr val="FF0051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FF0051"/>
              </a:solidFill>
            </c:spPr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</c:v>
                </c:pt>
              </c:numCache>
            </c:numRef>
          </c:cat>
          <c:val>
            <c:numRef>
              <c:f>'Chart Data'!$B$2:$B$9</c:f>
              <c:numCache>
                <c:formatCode>0.0</c:formatCode>
                <c:ptCount val="8"/>
                <c:pt idx="0">
                  <c:v>0.639</c:v>
                </c:pt>
                <c:pt idx="1">
                  <c:v>1.156</c:v>
                </c:pt>
                <c:pt idx="2">
                  <c:v>2.234</c:v>
                </c:pt>
                <c:pt idx="3">
                  <c:v>0.307</c:v>
                </c:pt>
                <c:pt idx="4">
                  <c:v>0.337</c:v>
                </c:pt>
                <c:pt idx="5">
                  <c:v>0.235</c:v>
                </c:pt>
                <c:pt idx="6">
                  <c:v>0.462</c:v>
                </c:pt>
                <c:pt idx="7">
                  <c:v>0.637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1E1A2B"/>
                  </a:solidFill>
                  <a:latin typeface="Montserrat"/>
                  <a:ea typeface="Montserrat"/>
                  <a:cs typeface="Montserra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ROC-AUC</c:v>
          </c:tx>
          <c:spPr>
            <a:solidFill xmlns:a="http://schemas.openxmlformats.org/drawingml/2006/main">
              <a:srgbClr val="5B0A83"/>
            </a:solidFill>
          </c:spPr>
          <c:cat>
            <c:strRef>
              <c:f>'Chart Data'!$A$2:$A$4</c:f>
              <c:strCache>
                <c:ptCount val="3"/>
                <c:pt idx="0">
                  <c:v>train</c:v>
                </c:pt>
                <c:pt idx="1">
                  <c:v>valid</c:v>
                </c:pt>
                <c:pt idx="2">
                  <c:v>test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0.936</c:v>
                </c:pt>
                <c:pt idx="1">
                  <c:v>0.748</c:v>
                </c:pt>
                <c:pt idx="2">
                  <c:v>0.702</c:v>
                </c:pt>
              </c:numCache>
            </c:numRef>
          </c:val>
        </c:ser>
        <c:ser>
          <c:idx val="1"/>
          <c:order val="1"/>
          <c:tx>
            <c:v>PR-AUC</c:v>
          </c:tx>
          <c:spPr>
            <a:solidFill xmlns:a="http://schemas.openxmlformats.org/drawingml/2006/main">
              <a:srgbClr val="FF0051"/>
            </a:solidFill>
          </c:spPr>
          <c:cat>
            <c:strRef>
              <c:f>'Chart Data'!$C$2:$C$4</c:f>
              <c:strCache>
                <c:ptCount val="3"/>
                <c:pt idx="0">
                  <c:v>train</c:v>
                </c:pt>
                <c:pt idx="1">
                  <c:v>valid</c:v>
                </c:pt>
                <c:pt idx="2">
                  <c:v>test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0.1</c:v>
                </c:pt>
                <c:pt idx="1">
                  <c:v>0.07</c:v>
                </c:pt>
                <c:pt idx="2">
                  <c:v>0.063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1E1A2B"/>
                  </a:solidFill>
                  <a:latin typeface="Montserrat"/>
                  <a:ea typeface="Montserrat"/>
                  <a:cs typeface="Montserra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1E1A2B"/>
              </a:solidFill>
              <a:latin typeface="Montserrat"/>
              <a:ea typeface="Montserrat"/>
              <a:cs typeface="Montserrat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endParaRPr sz="4800"/>
          </a:p>
        </p:txBody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305186" y="329801"/>
            <a:ext cx="5193299" cy="1082589"/>
          </a:xfrm>
        </p:spPr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indent="268288">
              <a:buNone/>
            </a:pPr>
            <a:endParaRPr/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DE0A5-36E8-4BC5-9AB2-800F483D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733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41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Коллектор</a:t>
            </a:r>
          </a:p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41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Контроль риска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26B79-30F4-46FE-9A44-1DFE0E0E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819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4EAFB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F4EAFB"/>
                </a:solidFill>
                <a:latin typeface="Montserrat"/>
                <a:ea typeface="Montserrat"/>
                <a:cs typeface="Montserrat"/>
              </a:rPr>
              <a:t>Прогнозирование тревожных кластеров и приоритизация ремонтных действий инженерных коллекторов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A10F0-4605-44CD-B785-B245E084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ЛЦТ 2026 · Кейс 08 · ЖКХ · АО «Москоллектор»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dda283bf9a7460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9B73A3-D164-497D-BE5B-1217242C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ЗАДАЧА И БОЛЬ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9FC9C9-4D90-468C-9B8A-00F3A0DE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Существующий мониторинг реагирует на тревоги после факта и создает нагрузку на диспетчеров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8CEE27-3E0E-4D22-AFC0-222D4F33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3336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A36175-0DB1-475C-AA89-5C205508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825 км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854D8E-F847-49AF-9370-738D2EA2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411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инженерных коллекторов в эксплуатации АО «Москоллектор»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C2B4E9-676F-4CD3-9F7B-A9884D34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571625"/>
            <a:ext cx="25241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8DE619-9B7E-411A-90A6-1C9F4CEB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33550"/>
            <a:ext cx="214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19,7 тыс. км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18D1D6-9A39-4580-B9CE-3CCA0324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кабелей связи, размещенных в инфраструктуре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118C13-5A2A-4C2A-877E-69640A3D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2190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74EDDD-CD71-4F55-B38C-9537232D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8,3 тыс. км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F4CB8C-964A-481D-B80E-90864552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силовых кабелей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1A7F79-F7E5-469B-A707-F6FA4ECB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71625"/>
            <a:ext cx="23812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74684F-E4A0-46B5-B0BF-F75172A6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335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1,9 тыс. км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488291-6CB5-4AE1-9D4C-79D01475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717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332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тепловых и водопроводных сетей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85A73E-6545-4A44-B83A-D2842917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48577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C40BC8-55DB-42CD-BF39-B035F66E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Операционная проблема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8D8452-702A-40BE-A37D-E2F7BD32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4438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Диспетчер получает поток тревог и должен быстро отделять риск от ложного срабатывания. Регламентное обслуживание не учитывает фактическое поведение датчика.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3494AC-B4F4-450D-A18F-877EC636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48577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A704BE-60AF-4BAE-B75C-F8DDA30F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9950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Что требуется заказчику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1FE338-92ED-48EE-9D29-77C6D594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4438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Веб-сервис должен заранее ранжировать объекты риска, объяснять вклад признаков и помогать оформить превентивную заявку.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AF9288-7CC2-4063-B8A0-5B11E791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rPr>
              <a:t>Факты инфраструктуры и требования взяты из кейса 08 ДЖКХ.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973d909ca4846a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80B668-903A-4B15-B0D6-8B835104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ИДЕЯ РЕШЕНИЯ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7DEA50-EE45-4AB2-8408-221DDF5D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MVP строит очередь риска по каналам и объектам на горизонте 24 часа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CF0613-200F-40FD-AA45-F18D2A0B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47625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D488D0-ACBD-4A89-BEF9-88518F21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Скоринг риска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A3E09E-A298-447F-BF81-4A32A1A7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4343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Оцениваем вероятность тревожного события или тревожного кластера на следующий день.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E24684-180D-40A8-AEB4-24A983EE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24000"/>
            <a:ext cx="47625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426AFD-876E-4DA8-A837-A7770BA7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954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Объяснение прогноза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17B6C7-C35C-48B6-B1B8-752F6645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4343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Показываем признаки, которые подняли риск: тип датчика, недавние тревоги, объект, сезонность.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69C4CA-F6A3-43AF-AD61-5239B6E2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47625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54DFBE-4DF5-453D-896D-7FBC4B0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Диспетчерская очередь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EF0C33-E07A-49D4-B774-06DDC87A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4343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Сортируем каналы по приоритету и отделяем текущую тревогу от прогноза будущего риска.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9BC0E8-BE54-481D-8BF7-E32E7493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24250"/>
            <a:ext cx="47625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915D89-847B-4B27-9523-37F9189C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Черновик заявки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020356-DEA6-4BD5-AE1C-0FB22261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14800"/>
            <a:ext cx="4343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Формируем основание для превентивной проверки с комментарием диспетчера.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696F5B-C766-499A-AB55-DE7EBFF1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rPr>
              <a:t>Target: proxy-risk по признаку «тревожное», без утверждения о подтвержденной аварии.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1c762cfe935407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D71E8A-FACD-4E55-A096-ED038C17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ДАННЫЕ И МАСШТАБ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969739-9005-48D3-AC71-42409A38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EDA обработал годовые архивы журналов СМВУ за 2019-2026 годы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7DAC67-4EA5-430C-94F1-C2B88347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3812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553804-3B20-4721-9FDE-01A01CC4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313,5 млн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28A8F5-58F4-4E5E-839A-C58299D3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строк журналов событий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3C8077-52B9-493F-8017-808DF39C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28750"/>
            <a:ext cx="23812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5943CA-A2F5-4B39-913C-EA43C221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90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0051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FF0051"/>
                </a:solidFill>
                <a:latin typeface="Montserrat Medium"/>
                <a:ea typeface="Montserrat Medium"/>
                <a:cs typeface="Montserrat Medium"/>
              </a:rPr>
              <a:t>2,47 млн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0FF93F-A97C-46EA-B2B7-D236192B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288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тревожных событий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556849-7311-4FD0-B379-DA83272A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21907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B5DFC5-2BC0-4625-A9B7-8E3C3946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906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8B8B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168B8B"/>
                </a:solidFill>
                <a:latin typeface="Montserrat Medium"/>
                <a:ea typeface="Montserrat Medium"/>
                <a:cs typeface="Montserrat Medium"/>
              </a:rPr>
              <a:t>12 628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495CE9-1A8B-4DB1-86A1-E21F1A64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288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каналов в журналах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784F71-EB7C-49D8-8EF1-AD4C64D1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28750"/>
            <a:ext cx="21907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4E78F9-6F1A-432F-B216-7643E9BE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906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8B8B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168B8B"/>
                </a:solidFill>
                <a:latin typeface="Montserrat Medium"/>
                <a:ea typeface="Montserrat Medium"/>
                <a:cs typeface="Montserrat Medium"/>
              </a:rPr>
              <a:t>95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0251CF-C1B0-46C4-BFD5-C917891B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288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объектов в справочнике</a:t>
            </a:r>
          </a:p>
        </p:txBody>
      </p:sp>
      <p:graphicFrame>
        <p:nvGraphicFramePr>
          <p:cNvPr id="75" name="Chart"/>
          <p:cNvGraphicFramePr/>
          <p:nvPr/>
        </p:nvGraphicFramePr>
        <p:xfrm>
          <a:off xmlns:a="http://schemas.openxmlformats.org/drawingml/2006/main" x="819150" y="3000375"/>
          <a:ext xmlns:a="http://schemas.openxmlformats.org/drawingml/2006/main" cx="981075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92e2da01854043"/>
          </a:graphicData>
        </a:graphic>
      </p:graphicFrame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9011FB-69D3-484E-B2E9-81CC1E70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rPr>
              <a:t>2026 содержит данные до 30 июня. Пик 2021 требует отдельной обработки при обучении модели.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ce32e879b0f473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7BC541-132B-4FF1-8F21-05E54800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ВЫВОДЫ EDA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EAC200-2E7C-4557-88AD-5D0CECFD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Данные позволяют строить ранжирование риска, но target требует аккуратной трактовки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0688C3-BD5F-491D-A09F-00F15152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143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F2E0EB-D532-4D20-919C-67F61B7E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2021 год аномален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5B4EBB-8C27-4377-8AA0-9377675A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04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Доля тревог 2,23%, что в несколько раз выше соседних лет. Валидацию нужно делать во времени.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FF764D-FB8B-4182-A2BB-945D6FC4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3143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4A57CA-F114-4CC5-A49B-24C23B0C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002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1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Газовая охрана доминирует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3BC951-7CD0-4DB4-A90E-1CEBF5E0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193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859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71,4% строк, но только 0,024% тревог. Без стратификации модель переучится на нормальный поток.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691D4C-4685-4480-ABB5-B097DE77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143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124F0D-0250-4659-87A7-BDD83949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002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Справочник неполный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528D0A-03BF-4B65-8180-7784E84C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1 143 канала из журналов отсутствуют в справочнике. Их нельзя просто удалить.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1F6CAB-8B71-4650-A6D8-6D37CB9F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143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92EB1D-3B21-410B-89AF-DB723536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974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Значение датчика смешанное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999798-9F25-4A56-AC35-ABB55BE9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В поле есть числа и текстовые состояния: «Неисправен», «Обесточен», «Неопределен».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7A8A3B-F033-44FE-AA77-4ACD5DB4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3143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97EE4D-944A-40F8-A4C6-93EBFDEC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957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Сигнал живет в динамике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5B8D8B-6135-4031-B2F1-F37EA98C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148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06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Простые агрегаты слабо коррелируют с target. Нужны rolling windows и изменение относительно нормы канала.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9745FE-C209-4374-93CF-162C6490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143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360087-45FF-4DFE-B8CE-086B4C9E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957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Target proxy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FCE626-D634-4D0B-8B21-FE8BBD87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80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Признак «тревожное» отражает событие мониторинга, но не подтвержденную физическую аварию.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809e7570e2b497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2FA09E-C48A-4E42-9126-0415173E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ML-ПОДХОД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D99228-B261-4D91-B39F-479D4360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Первая модель строит дневную витрину по каналу и прогноз на следующие 24 часа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915B77-8742-4E78-9CB7-8A474984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666750" cy="552450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5B0A83"/>
          </a:solidFill>
          <a:ln xmlns:a="http://schemas.openxmlformats.org/drawingml/2006/main" w="0">
            <a:solidFill>
              <a:srgbClr val="5B0A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EC9BD4-69D0-411D-A6D3-E8FB8503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Сырые события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8CB79C-CF45-4FB7-BA63-AE687135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id канала, дата, время, тревожность, значение датчика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B9862D-4842-430A-9D67-DDC813BC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8097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07AB8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A07AB8"/>
                </a:solidFill>
                <a:latin typeface="Montserrat"/>
                <a:ea typeface="Montserrat"/>
                <a:cs typeface="Montserrat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C42AD4-6C22-4DA9-B2D6-19BB3F53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666875"/>
            <a:ext cx="666750" cy="552450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5B0A83"/>
          </a:solidFill>
          <a:ln xmlns:a="http://schemas.openxmlformats.org/drawingml/2006/main" w="0">
            <a:solidFill>
              <a:srgbClr val="5B0A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9A3D5C-A4C2-4D6C-A5ED-B2E38FDB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765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Витрина признаков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C8FF9B-13CF-4F56-ADF6-45593E5B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90512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дневные окна, rolling 3/7/14 дней, текстовые состояния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25FFE1-50A5-4D12-98E4-507252F0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097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07AB8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A07AB8"/>
                </a:solidFill>
                <a:latin typeface="Montserrat"/>
                <a:ea typeface="Montserrat"/>
                <a:cs typeface="Montserrat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EA7526-2FEC-4E1A-A7D6-47A517E4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66875"/>
            <a:ext cx="666750" cy="552450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0CFBB1-EBFE-4450-9FF9-7121DA97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LightGBM baseline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B9477F-5526-4BF9-BBD3-5A070CE9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0512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категории датчика, объекта и инженерной системы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369C39-AB4C-4EA5-9AED-DB24948E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8097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07AB8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A07AB8"/>
                </a:solidFill>
                <a:latin typeface="Montserrat"/>
                <a:ea typeface="Montserrat"/>
                <a:cs typeface="Montserrat"/>
              </a:rPr>
              <a:t>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709A99-D054-4F34-8338-05767864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666875"/>
            <a:ext cx="666750" cy="552450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5B0A83"/>
          </a:solidFill>
          <a:ln xmlns:a="http://schemas.openxmlformats.org/drawingml/2006/main" w="0">
            <a:solidFill>
              <a:srgbClr val="5B0A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B17E90-C3AF-439F-969A-2558CB1F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4765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Очередь риска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BDBFED-4960-4F1E-A249-BBB0918A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90512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score, причины, порог и карточка действия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BEA696-2E12-4F91-9D0A-83CB2EDC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9715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669480-70CE-4D5E-B019-0F814D6C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91075"/>
            <a:ext cx="929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Выбор target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BB5784-EEB6-43D2-BF8E-6EE46F45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0175"/>
            <a:ext cx="929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75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target_alarm_next_24h: будет ли хотя бы одно тревожное событие по каналу в следующие сутки. Это честная proxy-постановка для MVP.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542DD-0515-4F89-921E-C5F82A46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06E"/>
          </a:solidFill>
          <a:ln xmlns:a="http://schemas.openxmlformats.org/drawingml/2006/main" w="0">
            <a:solidFill>
              <a:srgbClr val="4B00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DF4FC-4973-45D3-94AE-DF0C4DFF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491"/>
          </a:solidFill>
          <a:ln xmlns:a="http://schemas.openxmlformats.org/drawingml/2006/main" w="0">
            <a:solidFill>
              <a:srgbClr val="6D249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52171-F87A-44FF-8205-D15AA4E3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8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0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МОСКВА · ЛЦТ 2026 · КЕЙС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AF7E1-87C3-42DD-8659-7832FC8F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31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КОМАНДА RISK COLLECTOR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AB996-71E2-46D6-9F46-3DF59612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4EAFB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F4EAFB"/>
                </a:solidFill>
                <a:latin typeface="Montserrat"/>
                <a:ea typeface="Montserrat"/>
                <a:cs typeface="Montserrat"/>
              </a:rPr>
              <a:t>Кейс 08 · Прогнозирование аварий и управление ремонтами инженерных коллекторов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7364B-2A14-4C17-BC9E-210283A8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ДЖКХ · АО «Москоллектор»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a69bfa7586442f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7604B-44AA-4874-A790-CD3CE960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A"/>
          </a:solidFill>
          <a:ln xmlns:a="http://schemas.openxmlformats.org/drawingml/2006/main" w="0">
            <a:solidFill>
              <a:srgbClr val="F7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68F40-BE59-4054-9A6B-6B274F7E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6096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О КОМАНДЕ И РЕШЕНИИ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B1386-E786-4E3C-BFD6-6DD2A990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Обязательный блок по шаблону: команда, краткая суть и уникальность решения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06462-89DD-4CCB-9CA1-3FF89913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9530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818FB-4165-496A-BDDB-ED0F74EC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О команде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2DDA1-87F1-4FC1-BEC1-07C98DFA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45339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Капитан: Анна Разина</a:t>
            </a:r>
          </a:p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Кол-во участников: 3 человека</a:t>
            </a:r>
          </a:p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Город: Москва</a:t>
            </a:r>
          </a:p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Команда закрывает ML, backend/frontend и проектную координацию.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9B3FE-2918-4647-B5B5-CF5B46A6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5720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28638-FA42-4871-B601-9019FA04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47825"/>
            <a:ext cx="415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Краткое описание решения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CA308-1F6B-439E-8754-2E4710C6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66925"/>
            <a:ext cx="415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Сервис строит очередь риска по каналам и объектам на горизонте 24 часа. Модель использует историю тревог, тип датчика, объект и rolling-признаки.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89A95-DF8C-4D5B-BCF6-C7E243E8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5720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C07A1-1FEE-4409-8A23-E001AE6E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00450"/>
            <a:ext cx="415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Уникальность решения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6B7B9-CE33-4B8E-8F10-E07A8AE7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19550"/>
            <a:ext cx="415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Мы честно отделяем proxy-risk от подтвержденной аварии, показываем вклад признаков и закладываем feedback-контур диспетчера.</a:t>
            </a: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99240449dae445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FDB994-1DAF-432E-BF83-E37AE9BF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06E"/>
          </a:solidFill>
          <a:ln xmlns:a="http://schemas.openxmlformats.org/drawingml/2006/main" w="0">
            <a:solidFill>
              <a:srgbClr val="4B00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4AE9B-19B4-41BE-A029-6124F009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491"/>
          </a:solidFill>
          <a:ln xmlns:a="http://schemas.openxmlformats.org/drawingml/2006/main" w="0">
            <a:solidFill>
              <a:srgbClr val="6D249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E6DBF-E98D-49A2-9B67-4E4E277E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39624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6E92C-27B1-45C5-B35F-98784B7F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1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КОМАНДА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395E6-1CD3-4568-B4E4-636D1DB8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0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МОСКВА · ЛЦТ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A6B2E-92BB-4D53-BBC9-4B2E2F48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381125"/>
            <a:ext cx="2476500" cy="452437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0cd6dad95413d"/>
          <a:srcRect xmlns:a="http://schemas.openxmlformats.org/drawingml/2006/main" l="0" t="15278" r="0" b="152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04925" y="1590675"/>
            <a:ext cx="2057400" cy="1905000"/>
          </a:xfrm>
          <a:prstGeom xmlns:a="http://schemas.openxmlformats.org/drawingml/2006/main" prst="roundRect">
            <a:avLst>
              <a:gd name="adj" fmla="val 9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DF124-2D8A-4FA6-8F69-E40A613F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71475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99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6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Александр Разин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64648-CE7A-40F8-A3D9-E2C0B138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381500"/>
            <a:ext cx="198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Фронтенд/бэкенд-разработчик</a:t>
            </a:r>
          </a:p>
          <a:p xmlns:a="http://schemas.openxmlformats.org/drawingml/2006/main">
            <a:pPr>
              <a:def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@alndr_alndr</a:t>
            </a:r>
          </a:p>
          <a:p xmlns:a="http://schemas.openxmlformats.org/drawingml/2006/main">
            <a:pPr>
              <a:def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+79654154022</a:t>
            </a:r>
          </a:p>
          <a:p xmlns:a="http://schemas.openxmlformats.org/drawingml/2006/main">
            <a:pPr>
              <a:def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Т-банк, Физтех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856D9-A140-4F4D-92F5-A9237CD8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381125"/>
            <a:ext cx="2476500" cy="452437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438af237240c5"/>
          <a:srcRect xmlns:a="http://schemas.openxmlformats.org/drawingml/2006/main" l="9500" t="0" r="9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0175" y="1590675"/>
            <a:ext cx="2057400" cy="1905000"/>
          </a:xfrm>
          <a:prstGeom xmlns:a="http://schemas.openxmlformats.org/drawingml/2006/main" prst="roundRect">
            <a:avLst>
              <a:gd name="adj" fmla="val 900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CEBD1-7321-49D1-8757-9E6FD838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71475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33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6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Анастасия Разина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53739-4B82-4959-AF3F-3D20E5AD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381500"/>
            <a:ext cx="198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Менеджер проекта</a:t>
            </a:r>
          </a:p>
          <a:p xmlns:a="http://schemas.openxmlformats.org/drawingml/2006/main">
            <a:pPr>
              <a:def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@nastyarazina</a:t>
            </a:r>
          </a:p>
          <a:p xmlns:a="http://schemas.openxmlformats.org/drawingml/2006/main">
            <a:pPr>
              <a:def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+79623689299</a:t>
            </a:r>
          </a:p>
          <a:p xmlns:a="http://schemas.openxmlformats.org/drawingml/2006/main">
            <a:pPr>
              <a:def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МГТУ им. Н. Э. Баумана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4CEE1-0665-43F5-8914-9BAB469B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381125"/>
            <a:ext cx="2476500" cy="452437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a20d3517049be"/>
          <a:srcRect xmlns:a="http://schemas.openxmlformats.org/drawingml/2006/main" l="0" t="19130" r="0" b="19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15425" y="1590675"/>
            <a:ext cx="2057400" cy="1905000"/>
          </a:xfrm>
          <a:prstGeom xmlns:a="http://schemas.openxmlformats.org/drawingml/2006/main" prst="roundRect">
            <a:avLst>
              <a:gd name="adj" fmla="val 9000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153885-0ECA-48C5-BB9E-F159561F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71475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6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Анна Разина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292A4-9C67-4E1D-82BA-FF14EDC6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381500"/>
            <a:ext cx="198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ML-инженер</a:t>
            </a:r>
          </a:p>
          <a:p xmlns:a="http://schemas.openxmlformats.org/drawingml/2006/main">
            <a:pPr>
              <a:def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@annarazina10</a:t>
            </a:r>
          </a:p>
          <a:p xmlns:a="http://schemas.openxmlformats.org/drawingml/2006/main">
            <a:pPr>
              <a:def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+79685804974</a:t>
            </a:r>
          </a:p>
          <a:p xmlns:a="http://schemas.openxmlformats.org/drawingml/2006/main">
            <a:pPr>
              <a:def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Центральный университет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56b5b45e0d64cb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68161-5200-44C5-9883-1AC8E81C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A"/>
          </a:solidFill>
          <a:ln xmlns:a="http://schemas.openxmlformats.org/drawingml/2006/main" w="0">
            <a:solidFill>
              <a:srgbClr val="F7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1E329-B5EC-40F5-83FE-AD6CA0EB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КОМАНДА И ВЫЗОВЫ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B8796-F375-4BBE-8E8C-8F23D9F4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Обязательный блок по шаблону: история, мотивация и сложности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DD117-0C78-40B6-8723-FBB8BA65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3525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42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24306-C265-487C-9A6E-A11EF8A3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Краткая история команды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4A61B-3529-4705-88DA-B9FF1072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Семейная команда из Москвы: Анна отвечает за ML и аналитику, Александр — за веб-часть и интеграции, Анастасия — за постановку задачи, коммуникации и презентацию.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DE0D5-65CD-4D8C-83C5-B909ED18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00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19CDF-DE16-4A73-B412-89D0C7EF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00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42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1C49B-26FD-442A-B265-16D0272A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Почему выбрали эту задачу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49BAD-D110-4D91-BC93-27C126EC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Кейс объединяет городскую инфраструктуру, реальные временные ряды и понятную пользу для диспетчера: меньше ручного шума и раньше видны рискованные каналы.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F408C-620D-4BDA-9A5D-A4059F23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00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157C9-00B5-48C5-B3D3-B5E2B214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42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8A44C-9139-422A-B46D-8F1B4957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Основные сложности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25FF9-6C5F-4A8F-BFF1-28DB4940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Target не равен подтвержденной аварии, события сильно несбалансированы, а 2021 год и справочники требуют отдельной обработки. Мы зафиксировали эти ограничения в EDA и baseline.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0762e9085f84ff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CEC75-349D-46D7-9D40-652291A9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06E"/>
          </a:solidFill>
          <a:ln xmlns:a="http://schemas.openxmlformats.org/drawingml/2006/main" w="0">
            <a:solidFill>
              <a:srgbClr val="4B00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2C96A-8D27-4F3A-888D-DD3F4225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3810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КОРОТКО О РЕШЕНИИ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95D9A-5389-44DD-8B16-D82F8B74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09675"/>
            <a:ext cx="5448300" cy="4991100"/>
          </a:xfrm>
          <a:prstGeom xmlns:a="http://schemas.openxmlformats.org/drawingml/2006/main" prst="roundRect">
            <a:avLst>
              <a:gd name="adj" fmla="val 3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C7C73-015E-4A6F-8923-93F88755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09675"/>
            <a:ext cx="5448300" cy="4991100"/>
          </a:xfrm>
          <a:prstGeom xmlns:a="http://schemas.openxmlformats.org/drawingml/2006/main" prst="roundRect">
            <a:avLst>
              <a:gd name="adj" fmla="val 3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476AC-3FCC-41B2-ADE5-A9D6EC28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Техническая суть решения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F0689-C792-4DC6-A3AA-04E0AC6F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619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Модель LightGBM ранжирует каналы по риску тревоги на следующие 24 часа. Витрина строится по дням, использует rolling-признаки за 3/7/14 дней, тип датчика, объект и текстовые состояния датчиков.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В отчете сохраняются ROC/PR, SHAP, permutation importance, PSI/KS drift и coverage признаков.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0EE29-3DA9-4298-93A5-BBA72FE5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716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Продуктовая суть решения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08AED-C1C2-4CE9-97B2-52431A4A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95500"/>
            <a:ext cx="4619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Диспетчер видит очередь риска, карточку канала, объяснение прогноза и черновик заявки. Система не заменяет диспетчера, а помогает быстрее выделить каналы для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Feedback от проверки нужен для перехода от proxy-target к бизнес-разметке полезных предупреждений.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e19623b8546424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EC9360-25E2-40AE-A29A-B15FB9CF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BASELINE LIGHTGBM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A3C5D0-EF5D-4804-ABE8-30309FC7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Модель уже обучена на 2025-2026 и проверена на временном разбиении</a:t>
            </a:r>
          </a:p>
        </p:txBody>
      </p:sp>
      <p:graphicFrame>
        <p:nvGraphicFramePr>
          <p:cNvPr id="54" name="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5334000" cy="1905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066800"/>
                <a:gridCol w="1066800"/>
                <a:gridCol w="1066800"/>
                <a:gridCol w="1066800"/>
                <a:gridCol w="1066800"/>
              </a:tblGrid>
              <a:tr h="4762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split</a:t>
                      </a:r>
                    </a:p>
                  </a:txBody>
                  <a:tcPr marL="91440" marR="91440" marT="45720" marB="45720">
                    <a:solidFill>
                      <a:srgbClr val="5B0A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positive rate</a:t>
                      </a:r>
                    </a:p>
                  </a:txBody>
                  <a:tcPr marL="91440" marR="91440" marT="45720" marB="45720">
                    <a:solidFill>
                      <a:srgbClr val="5B0A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ROC-AUC</a:t>
                      </a:r>
                    </a:p>
                  </a:txBody>
                  <a:tcPr marL="91440" marR="91440" marT="45720" marB="45720">
                    <a:solidFill>
                      <a:srgbClr val="5B0A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PR-AUC</a:t>
                      </a:r>
                    </a:p>
                  </a:txBody>
                  <a:tcPr marL="91440" marR="91440" marT="45720" marB="45720">
                    <a:solidFill>
                      <a:srgbClr val="5B0A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5B0A8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train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0,78%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0,936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0,195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valid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1,44%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0,748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0,070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0,177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1,56%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0,702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0,063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0,150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6572250" y="1476375"/>
          <a:ext xmlns:a="http://schemas.openxmlformats.org/drawingml/2006/main" cx="41910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17fa178cb74467"/>
          </a:graphicData>
        </a:graphic>
      </p:graphicFrame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296A21-5F2D-4C94-8D48-615BC5A8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97155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803769-D9C1-43F1-9A9A-375863BD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0075"/>
            <a:ext cx="929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Честное ограничение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282BB0-A58A-4488-8C15-D2B2CEB1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29175"/>
            <a:ext cx="9296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259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Precision и Recall baseline пока ниже целевых требований. Это нормальная первая точка: сильный дисбаланс, proxy-target и drift требуют улучшения target и признаков.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d1b86716242490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2D0E59-C9C6-4C9B-BF73-AD993DFE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ВАЖНОСТЬ И DRIFT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5CD222-A637-4F3D-B8B9-E81275C3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Baseline показывает, какие факторы сейчас формируют риск и где распределения меняются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b6ca783894e92"/>
          <a:stretch xmlns:a="http://schemas.openxmlformats.org/drawingml/2006/main"/>
        </p:blipFill>
        <p:spPr>
          <a:xfrm xmlns:a="http://schemas.openxmlformats.org/drawingml/2006/main">
            <a:off x="1259086" y="1381125"/>
            <a:ext cx="3911203" cy="3476625"/>
          </a:xfrm>
          <a:prstGeom xmlns:a="http://schemas.openxmlformats.org/drawingml/2006/main" prst="roundRect">
            <a:avLst>
              <a:gd name="adj" fmla="val 3836"/>
            </a:avLst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492529cbe48c8"/>
          <a:stretch xmlns:a="http://schemas.openxmlformats.org/drawingml/2006/main"/>
        </p:blipFill>
        <p:spPr>
          <a:xfrm xmlns:a="http://schemas.openxmlformats.org/drawingml/2006/main">
            <a:off x="6191250" y="1796521"/>
            <a:ext cx="4762500" cy="2645833"/>
          </a:xfrm>
          <a:prstGeom xmlns:a="http://schemas.openxmlformats.org/drawingml/2006/main" prst="roundRect">
            <a:avLst>
              <a:gd name="adj" fmla="val 3836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6C0A5A-5D5E-4E75-846D-29789E5D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Топ факторов: тип датчика, тревоги за 14 дней, объект. Главный drift: месяц, что подтверждает необходимость временной валидации.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8a8055cb55c418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E27B19-CEA7-44C2-A6D3-FCA43F5A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ПРОДУКТОВЫЙ MVP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F12523-EE54-47C0-9168-14CD00F1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Диспетчер получает не число ради числа, а очередь действий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58D807-BC9D-4EE1-B44F-A968B7B5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3190875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1E7A2D-CA52-4EEF-8526-7B821DD4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1. Очередь риска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686F79-DAE1-4417-AE6C-548ACA21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771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67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Каналы и объекты сортируются по score. Фильтр отделяет текущие тревоги от прогноза будущего риска.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76DE30-B13E-49DC-8C9C-FD8DF7E8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190875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27D2F-A6C3-4538-A635-4DF2A9E1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695450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2. Карточка прогноза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DE11DB-EACD-4D40-A2F3-A4DBE5A3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14550"/>
            <a:ext cx="2771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Показывает тип датчика, объект, вклад признаков и рекомендуемое действие.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48D04D-4DD3-4271-B2A5-D97AB77C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190875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CB87B0-0BF9-455B-8BB2-D94FC5FF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95450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3. Черновик заявки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F1B109-90E4-4927-A80C-6C14C591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14550"/>
            <a:ext cx="2771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Диспетчер добавляет комментарий и сохраняет основание для проверки или ТО.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2A83DD-ABCE-4B5A-A10E-C6F796FA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3619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918C7C-1F17-47B2-A3D9-9CF8B19F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862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REST API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A01314-A63C-4280-B693-C74D0558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05300"/>
            <a:ext cx="320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04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GET /risks</a:t>
            </a:r>
          </a:p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GET /risks/{risk_id}</a:t>
            </a:r>
          </a:p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POST /tickets/draft</a:t>
            </a:r>
          </a:p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POST /feedback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D8B6AE-9930-4856-972D-64500B89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3619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5DC3E9-494A-4794-B3F6-BCDFDF49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862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Контур feedback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7187AA-163E-4600-8CB3-F662E6D4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05300"/>
            <a:ext cx="320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Результаты проверки возвращаются в систему и помогают уточнять модель, пороги и правила приоритизации.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fdffc2fc8a146c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608F1F-6420-480A-88E9-7F7D8C21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ЧТО УЖЕ ГОТОВО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E8C906-0B00-4D32-8006-73CE6072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Репозиторий содержит данные для защиты аналитической части и воспроизводимый baseline</a:t>
            </a:r>
          </a:p>
        </p:txBody>
      </p:sp>
      <p:graphicFrame>
        <p:nvGraphicFramePr>
          <p:cNvPr id="51" name=""/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981075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905375"/>
                <a:gridCol w="4905375"/>
              </a:tblGrid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Блок</a:t>
                      </a:r>
                    </a:p>
                  </a:txBody>
                  <a:tcPr marL="91440" marR="91440" marT="45720" marB="45720">
                    <a:solidFill>
                      <a:srgbClr val="5B0A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Содержание</a:t>
                      </a:r>
                    </a:p>
                  </a:txBody>
                  <a:tcPr marL="91440" marR="91440" marT="45720" marB="45720">
                    <a:solidFill>
                      <a:srgbClr val="5B0A8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Документация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README, описание кейса, требования, стратегия, setup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EDA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313,5 млн строк, таблицы покрытия, аномалии, графики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ML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скрипт LightGBM, модель, метрики, SHAP, permutation, drift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Артефакты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ROC/PR, PSI/KS, parquet coverage и drift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Ограничения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target proxy, нет подтвержденной аварии от ОДС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88A6F8-3DD9-4308-9AC1-08A60535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rPr>
              <a:t>Репозиторий: github.com/AnnaRazina10/lct-collector-risk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endParaRPr sz="4800"/>
          </a:p>
        </p:txBody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305186" y="329801"/>
            <a:ext cx="5193299" cy="1082589"/>
          </a:xfrm>
        </p:spPr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indent="268288">
              <a:buNone/>
            </a:pPr>
            <a:endParaRPr/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27470-6DC0-47F9-ADBE-DAED3341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34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Коллектор · Контроль риска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0417B-C87C-422B-98BB-C6B18896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809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4EAFB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F4EAFB"/>
                </a:solidFill>
                <a:latin typeface="Montserrat"/>
                <a:ea typeface="Montserrat"/>
                <a:cs typeface="Montserrat"/>
              </a:rPr>
              <a:t>Первый контур показывает структуру данных, ограничения target и воспроизводимый baseline. Дальше фокус на target v2, demo API и повышении Precision/Recall.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2EDA9-785C-4DD1-B16E-91242F52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github.com/AnnaRazina10/lct-collector-risk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2026-09-29T17:02:18.5820000Z</dcterms:created>
  <dcterms:modified xsi:type="dcterms:W3CDTF">2026-09-29T17:02:18.5820000Z</dcterms:modified>
</coreProperties>
</file>