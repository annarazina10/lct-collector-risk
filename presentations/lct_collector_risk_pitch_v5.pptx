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2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2ab1047821240eb" /><Relationship Type="http://schemas.openxmlformats.org/officeDocument/2006/relationships/extended-properties" Target="/docProps/app.xml" Id="Re100654691aa4397" /><Relationship Type="http://schemas.openxmlformats.org/officeDocument/2006/relationships/officeDocument" Target="/ppt/presentation.xml" Id="Ref3edf4a58424e8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c160f729d9e4c62"/>
  </p:sldMasterIdLst>
  <p:notesMasterIdLst>
    <p:notesMasterId xmlns:r="http://schemas.openxmlformats.org/officeDocument/2006/relationships" r:id="R445f361da9ba4b0d"/>
  </p:notesMasterIdLst>
  <p:sldIdLst>
    <p:sldId xmlns:r="http://schemas.openxmlformats.org/officeDocument/2006/relationships" id="256" r:id="R4fcb7841be9c4c23"/>
    <p:sldId xmlns:r="http://schemas.openxmlformats.org/officeDocument/2006/relationships" id="257" r:id="R57d26be15e924e56"/>
    <p:sldId xmlns:r="http://schemas.openxmlformats.org/officeDocument/2006/relationships" id="258" r:id="R0ec717a887d74e7f"/>
    <p:sldId xmlns:r="http://schemas.openxmlformats.org/officeDocument/2006/relationships" id="259" r:id="Rffbd5408bef34878"/>
    <p:sldId xmlns:r="http://schemas.openxmlformats.org/officeDocument/2006/relationships" id="260" r:id="Rdf6d03ff193f45b1"/>
    <p:sldId xmlns:r="http://schemas.openxmlformats.org/officeDocument/2006/relationships" id="261" r:id="R4e97db95147c4249"/>
    <p:sldId xmlns:r="http://schemas.openxmlformats.org/officeDocument/2006/relationships" id="262" r:id="Rb400a4726826463c"/>
    <p:sldId xmlns:r="http://schemas.openxmlformats.org/officeDocument/2006/relationships" id="263" r:id="Ra58e30ee1bad4d83"/>
    <p:sldId xmlns:r="http://schemas.openxmlformats.org/officeDocument/2006/relationships" id="264" r:id="R61e05c8e35f24701"/>
    <p:sldId xmlns:r="http://schemas.openxmlformats.org/officeDocument/2006/relationships" id="265" r:id="R7a305a02c3bc4839"/>
    <p:sldId xmlns:r="http://schemas.openxmlformats.org/officeDocument/2006/relationships" id="266" r:id="R313e5806f709439c"/>
    <p:sldId xmlns:r="http://schemas.openxmlformats.org/officeDocument/2006/relationships" id="267" r:id="Rae88ad2232af47f1"/>
    <p:sldId xmlns:r="http://schemas.openxmlformats.org/officeDocument/2006/relationships" id="268" r:id="Rdb786fab20a149d1"/>
    <p:sldId xmlns:r="http://schemas.openxmlformats.org/officeDocument/2006/relationships" id="269" r:id="R3a1684e9a3244fe4"/>
    <p:sldId xmlns:r="http://schemas.openxmlformats.org/officeDocument/2006/relationships" id="270" r:id="R8ada6814ea274ce4"/>
    <p:sldId xmlns:r="http://schemas.openxmlformats.org/officeDocument/2006/relationships" id="271" r:id="R50f288991516494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9b45bed59a47c4" /><Relationship Type="http://schemas.openxmlformats.org/officeDocument/2006/relationships/slideMaster" Target="/ppt/slideMasters/slideMaster1.xml" Id="Rdc160f729d9e4c62" /><Relationship Type="http://schemas.openxmlformats.org/officeDocument/2006/relationships/notesMaster" Target="/ppt/notesMasters/notesMaster1.xml" Id="R445f361da9ba4b0d" /><Relationship Type="http://schemas.openxmlformats.org/officeDocument/2006/relationships/presProps" Target="/ppt/presProps.xml" Id="Rd863df4a1d054af0" /><Relationship Type="http://schemas.openxmlformats.org/officeDocument/2006/relationships/viewProps" Target="/ppt/viewProps.xml" Id="Rec2916a03c0d4c04" /><Relationship Type="http://schemas.openxmlformats.org/officeDocument/2006/relationships/tableStyles" Target="/ppt/tableStyles.xml" Id="R4caa8e71938f42f0" /><Relationship Type="http://schemas.openxmlformats.org/officeDocument/2006/relationships/slide" Target="/ppt/slides/slide1.xml" Id="R4fcb7841be9c4c23" /><Relationship Type="http://schemas.openxmlformats.org/officeDocument/2006/relationships/slide" Target="/ppt/slides/slide2.xml" Id="R57d26be15e924e56" /><Relationship Type="http://schemas.openxmlformats.org/officeDocument/2006/relationships/slide" Target="/ppt/slides/slide3.xml" Id="R0ec717a887d74e7f" /><Relationship Type="http://schemas.openxmlformats.org/officeDocument/2006/relationships/slide" Target="/ppt/slides/slide4.xml" Id="Rffbd5408bef34878" /><Relationship Type="http://schemas.openxmlformats.org/officeDocument/2006/relationships/slide" Target="/ppt/slides/slide5.xml" Id="Rdf6d03ff193f45b1" /><Relationship Type="http://schemas.openxmlformats.org/officeDocument/2006/relationships/slide" Target="/ppt/slides/slide6.xml" Id="R4e97db95147c4249" /><Relationship Type="http://schemas.openxmlformats.org/officeDocument/2006/relationships/slide" Target="/ppt/slides/slide7.xml" Id="Rb400a4726826463c" /><Relationship Type="http://schemas.openxmlformats.org/officeDocument/2006/relationships/slide" Target="/ppt/slides/slide8.xml" Id="Ra58e30ee1bad4d83" /><Relationship Type="http://schemas.openxmlformats.org/officeDocument/2006/relationships/slide" Target="/ppt/slides/slide9.xml" Id="R61e05c8e35f24701" /><Relationship Type="http://schemas.openxmlformats.org/officeDocument/2006/relationships/slide" Target="/ppt/slides/slide10.xml" Id="R7a305a02c3bc4839" /><Relationship Type="http://schemas.openxmlformats.org/officeDocument/2006/relationships/slide" Target="/ppt/slides/slide11.xml" Id="R313e5806f709439c" /><Relationship Type="http://schemas.openxmlformats.org/officeDocument/2006/relationships/slide" Target="/ppt/slides/slide12.xml" Id="Rae88ad2232af47f1" /><Relationship Type="http://schemas.openxmlformats.org/officeDocument/2006/relationships/slide" Target="/ppt/slides/slide13.xml" Id="Rdb786fab20a149d1" /><Relationship Type="http://schemas.openxmlformats.org/officeDocument/2006/relationships/slide" Target="/ppt/slides/slide14.xml" Id="R3a1684e9a3244fe4" /><Relationship Type="http://schemas.openxmlformats.org/officeDocument/2006/relationships/slide" Target="/ppt/slides/slide15.xml" Id="R8ada6814ea274ce4" /><Relationship Type="http://schemas.openxmlformats.org/officeDocument/2006/relationships/slide" Target="/ppt/slides/slide16.xml" Id="R50f288991516494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02118608d74b9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64f846ae23a4272" /><Relationship Type="http://schemas.openxmlformats.org/officeDocument/2006/relationships/notesMaster" Target="/ppt/notesMasters/notesMaster1.xml" Id="Rfe0fc6dc5d534a5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26a9cb602074869" /><Relationship Type="http://schemas.openxmlformats.org/officeDocument/2006/relationships/notesMaster" Target="/ppt/notesMasters/notesMaster1.xml" Id="Rb93cadf013f146f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f4fb7f142a44be1" /><Relationship Type="http://schemas.openxmlformats.org/officeDocument/2006/relationships/notesMaster" Target="/ppt/notesMasters/notesMaster1.xml" Id="R36259cc5aa59429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a3bad5844d44517" /><Relationship Type="http://schemas.openxmlformats.org/officeDocument/2006/relationships/notesMaster" Target="/ppt/notesMasters/notesMaster1.xml" Id="Rc6845853efc34ae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c09b1286c3d478e" /><Relationship Type="http://schemas.openxmlformats.org/officeDocument/2006/relationships/notesMaster" Target="/ppt/notesMasters/notesMaster1.xml" Id="R467710d1fd18499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c2d823117f47aa" /><Relationship Type="http://schemas.openxmlformats.org/officeDocument/2006/relationships/notesMaster" Target="/ppt/notesMasters/notesMaster1.xml" Id="R45e6793e09d244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8d8b24c91da4407" /><Relationship Type="http://schemas.openxmlformats.org/officeDocument/2006/relationships/notesMaster" Target="/ppt/notesMasters/notesMaster1.xml" Id="R2ab60c1e459443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76fad735dc64275" /><Relationship Type="http://schemas.openxmlformats.org/officeDocument/2006/relationships/notesMaster" Target="/ppt/notesMasters/notesMaster1.xml" Id="R720615b076644eb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e4b47084f44507" /><Relationship Type="http://schemas.openxmlformats.org/officeDocument/2006/relationships/notesMaster" Target="/ppt/notesMasters/notesMaster1.xml" Id="R9ed1d27d3d7d402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9d1abc13a654ae0" /><Relationship Type="http://schemas.openxmlformats.org/officeDocument/2006/relationships/notesMaster" Target="/ppt/notesMasters/notesMaster1.xml" Id="R8912ac6f0248498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93cca9885dd4e17" /><Relationship Type="http://schemas.openxmlformats.org/officeDocument/2006/relationships/notesMaster" Target="/ppt/notesMasters/notesMaster1.xml" Id="Ref0359683fd44da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bfd1602531544d7" /><Relationship Type="http://schemas.openxmlformats.org/officeDocument/2006/relationships/notesMaster" Target="/ppt/notesMasters/notesMaster1.xml" Id="R0bf42690362c44e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35a99b19c844dee" /><Relationship Type="http://schemas.openxmlformats.org/officeDocument/2006/relationships/notesMaster" Target="/ppt/notesMasters/notesMaster1.xml" Id="Rf9f36d6d6ac04a9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83de7a239894b6c" /><Relationship Type="http://schemas.openxmlformats.org/officeDocument/2006/relationships/notesMaster" Target="/ppt/notesMasters/notesMaster1.xml" Id="R063f1e8b50e14af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10350ac214144b5e" /><Relationship Type="http://schemas.openxmlformats.org/officeDocument/2006/relationships/notesMaster" Target="/ppt/notesMasters/notesMaster1.xml" Id="R302afaddb635457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35a11ea46d64610" /><Relationship Type="http://schemas.openxmlformats.org/officeDocument/2006/relationships/notesMaster" Target="/ppt/notesMasters/notesMaster1.xml" Id="Ra293392fcb504e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Титульный слайд описательной части.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Обязательный слайд 7: титульный слайд блока задачи и команды.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Обязательный слайд 8: описание команды, сути и уникальности решения.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Обязательный слайд 9: состав команды. Лишние карточки из шаблона удалены визуально, оставлены три участника.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Обязательный слайд 10: история команды, мотивация и вызовы.</a:t>
            </a: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Обязательный слайд 11: техническая и продуктовая суть решения.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35347cb8514f1d" /><Relationship Type="http://schemas.openxmlformats.org/officeDocument/2006/relationships/image" Target="/ppt/media/image2.png" Id="R9b71831c2fef4e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f95b98388b4a2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4c80326992b4a8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846a3930aa44d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7bd3204fca43db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1883ffbf4d44e0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60c24880644490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37569ea32146d9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6ec7b9da58465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8573351539411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fba2c4686494b83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0265439539d46f9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8f93b13c8843fa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f9c14678f446a4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d265d296fe4b83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576aadca1f4699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4f00feceb64c8c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ca869080be4ea0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918239ee4e4a00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17e34df7dc4d0a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2bdb43ce6b54951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436be43af2c40c9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fcdd2290b1430e" /></Relationships>
</file>

<file path=ppt/slideLayouts/slideLayout1.xml><?xml version="1.0" encoding="utf-8"?>
<p:sldLayout xmlns:p="http://schemas.openxmlformats.org/presentationml/2006/main" preserve="1" userDrawn="1">
  <p:cSld name="Титульный слайд">
    <p:bg>
      <p:bgPr>
        <a:blipFill xmlns:a="http://schemas.openxmlformats.org/drawingml/2006/main" rotWithShape="1">
          <a:blip xmlns:r="http://schemas.openxmlformats.org/officeDocument/2006/relationships" r:embed="R9b71831c2fef4ee3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792000" y="395288"/>
            <a:ext cx="5400000" cy="5400000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Иконка задачи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DEF1F2D-30AB-40F9-9975-F952E50B7FCA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0" y="4323440"/>
            <a:ext cx="8930641" cy="82701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>
            <a:lvl1pPr marL="0" indent="712788"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НАЗВАНИЕ КОМАНДЫ</a:t>
            </a:r>
          </a:p>
        </p:txBody>
      </p:sp>
      <p:sp>
        <p:nvSpPr>
          <p:cNvPr id="42" name="Рисунок 41">
            <a:extLst xmlns:a="http://schemas.openxmlformats.org/drawingml/2006/main">
              <a:ext uri="{FF2B5EF4-FFF2-40B4-BE49-F238E27FC236}">
                <a16:creationId xmlns:a16="http://schemas.microsoft.com/office/drawing/2014/main" id="{37DC0E9B-2679-408D-851C-F21F4ACC673A}"/>
              </a:ext>
            </a:extLst>
          </p:cNvPr>
          <p:cNvSpPr>
            <a:spLocks xmlns:a="http://schemas.openxmlformats.org/drawingml/2006/main" noGrp="1"/>
          </p:cNvSpPr>
          <p:nvPr>
            <p:ph type="pic" idx="11" hasCustomPrompt="1"/>
          </p:nvPr>
        </p:nvSpPr>
        <p:spPr>
          <a:xfrm xmlns:a="http://schemas.openxmlformats.org/drawingml/2006/main">
            <a:off x="802640" y="2911980"/>
            <a:ext cx="3386773" cy="1082589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Логотип/логотипы постановщика задачи</a:t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93F843A1-4640-4AAD-9DA4-206FA9FF2A4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0" y="5149851"/>
            <a:ext cx="8930641" cy="75717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712788">
              <a:buNone/>
              <a:defRPr sz="1800"/>
            </a:lvl1pPr>
          </a:lstStyle>
          <a:p xmlns:a="http://schemas.openxmlformats.org/drawingml/2006/main">
            <a:r>
              <a:rPr sz="1600" b="0"/>
              <a:t>Номер и название задачи</a:t>
            </a:r>
          </a:p>
        </p:txBody>
      </p:sp>
    </p:spTree>
  </p:cSld>
</p:sldLayout>
</file>

<file path=ppt/slideLayouts/slideLayout2.xml><?xml version="1.0" encoding="utf-8"?>
<p:sldLayout xmlns:p="http://schemas.openxmlformats.org/presentationml/2006/main" preserve="1" userDrawn="1">
  <p:cSld name="1_Описание команд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Рисунок 10">
            <a:extLst xmlns:a="http://schemas.openxmlformats.org/drawingml/2006/main">
              <a:ext uri="{FF2B5EF4-FFF2-40B4-BE49-F238E27FC236}">
                <a16:creationId xmlns:a16="http://schemas.microsoft.com/office/drawing/2014/main" id="{DB9898DE-D265-4051-B751-CA3C0058CECA}"/>
              </a:ext>
            </a:extLst>
          </p:cNvPr>
          <p:cNvSpPr>
            <a:spLocks xmlns:a="http://schemas.openxmlformats.org/drawingml/2006/main" noGrp="1"/>
          </p:cNvSpPr>
          <p:nvPr>
            <p:ph type="pic" idx="10" hasCustomPrompt="1"/>
          </p:nvPr>
        </p:nvSpPr>
        <p:spPr>
          <a:xfrm xmlns:a="http://schemas.openxmlformats.org/drawingml/2006/main">
            <a:off x="6894095" y="1044081"/>
            <a:ext cx="4962943" cy="2221824"/>
          </a:xfrm>
        </p:spPr>
        <p:txBody>
          <a:bodyPr xmlns:a="http://schemas.openxmlformats.org/drawingml/2006/main" anchor="ctr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Фото команды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1CA6654-BEE5-24C9-BC9D-BB6D2E0BEFA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Команд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67EB9651-F031-4963-AFE9-33BCC0E88757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4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D9DB7EE-83C4-47FA-86C2-BDA70A05315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46075" y="395288"/>
            <a:ext cx="11244772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КОМАНДА «НАЗВАНИЕ»</a:t>
            </a:r>
          </a:p>
        </p:txBody>
      </p:sp>
      <p:sp>
        <p:nvSpPr>
          <p:cNvPr id="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ACA3955-006D-424E-AF29-FC0EE3BE8601}"/>
              </a:ext>
            </a:extLst>
          </p:cNvPr>
          <p:cNvSpPr>
            <a:spLocks xmlns:a="http://schemas.openxmlformats.org/drawingml/2006/main" noGrp="1"/>
          </p:cNvSpPr>
          <p:nvPr>
            <p:ph type="body" idx="27" hasCustomPrompt="1"/>
          </p:nvPr>
        </p:nvSpPr>
        <p:spPr>
          <a:xfrm xmlns:a="http://schemas.openxmlformats.org/drawingml/2006/main">
            <a:off x="806323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134429E-1F41-4952-92F7-E1A3625ABBD9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3014568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2B71317-1166-483E-8736-3204197AE648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5191192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E441C73-4DA4-470D-B9C8-52D6075710B5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7366644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  <p:sp>
        <p:nvSpPr>
          <p:cNvPr id="5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8792BADF-06A6-41F5-BB39-A425B78E145D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9542096" y="4192124"/>
            <a:ext cx="1843581" cy="157649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144688" indent="-144688">
              <a:buClr>
                <a:schemeClr val="accent1"/>
              </a:buClr>
              <a:buFont typeface="Wingdings"/>
              <a:buChar char="§"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Роль в команде</a:t>
            </a:r>
          </a:p>
          <a:p xmlns:a="http://schemas.openxmlformats.org/drawingml/2006/main">
            <a:pPr lvl="0">
              <a:buNone/>
            </a:pPr>
            <a:r>
              <a:t>Telegram</a:t>
            </a:r>
          </a:p>
          <a:p xmlns:a="http://schemas.openxmlformats.org/drawingml/2006/main">
            <a:pPr lvl="0">
              <a:buNone/>
            </a:pPr>
            <a:r>
              <a:t>Номер</a:t>
            </a:r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Пустой с заголовком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Дата 3">
            <a:extLst xmlns:a="http://schemas.openxmlformats.org/drawingml/2006/main">
              <a:ext uri="{FF2B5EF4-FFF2-40B4-BE49-F238E27FC236}">
                <a16:creationId xmlns:a16="http://schemas.microsoft.com/office/drawing/2014/main" id="{1BE2B7EA-895D-4C57-B021-3ADF48C5983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1021F813-DBA1-42EC-A748-A9CC16659E6B}" type="datetime1">
              <a:t>14.09.2026</a:t>
            </a:fld>
            <a:endParaRPr/>
          </a:p>
        </p:txBody>
      </p:sp>
      <p:sp>
        <p:nvSpPr>
          <p:cNvPr id="10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8A502BD2-9512-4029-B654-E898F0583F0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1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6724899-9B39-4945-8292-0304D1DFF6A6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preserve="1" userDrawn="1">
  <p:cSld name="Заголовок и объект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5915C91-9468-44E0-9A6A-47C151E1C59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  <a:lvl2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2pPr>
            <a:lvl3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3pPr>
            <a:lvl4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4pPr>
            <a:lvl5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1" name="Дата 3">
            <a:extLst xmlns:a="http://schemas.openxmlformats.org/drawingml/2006/main">
              <a:ext uri="{FF2B5EF4-FFF2-40B4-BE49-F238E27FC236}">
                <a16:creationId xmlns:a16="http://schemas.microsoft.com/office/drawing/2014/main" id="{6043336A-E468-4FC7-B11B-D72F244391A9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7DE2642A-6018-4CC1-81AB-5FD8D2782D4F}" type="datetime1">
              <a:t>14.09.2026</a:t>
            </a:fld>
            <a:endParaRPr/>
          </a:p>
        </p:txBody>
      </p:sp>
      <p:sp>
        <p:nvSpPr>
          <p:cNvPr id="22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9E78A2F-D265-4D7D-BF63-75BF9ACF92A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3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25A0EB89-1F02-40E6-9D89-EAA34874BF0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4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3BCB09B-B5ED-4308-BCBC-7DB6BF7E0D1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>
            <a:lvl1pPr>
              <a:buNone/>
              <a:defRPr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Два объект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DE4079CB-26E5-4E7E-8375-84F47484485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15387" y="1016001"/>
            <a:ext cx="5704418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C0B9B70F-56BE-4BFF-9AF1-3E24439A89A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6" y="1016001"/>
            <a:ext cx="5670473" cy="518477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4" name="Дата 3">
            <a:extLst xmlns:a="http://schemas.openxmlformats.org/drawingml/2006/main">
              <a:ext uri="{FF2B5EF4-FFF2-40B4-BE49-F238E27FC236}">
                <a16:creationId xmlns:a16="http://schemas.microsoft.com/office/drawing/2014/main" id="{A4424B46-3BA8-41B1-9808-8558C0F0E6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3014BBE-C503-4380-A869-5EE8294FE947}" type="datetime1">
              <a:t>14.09.2026</a:t>
            </a:fld>
            <a:endParaRPr/>
          </a:p>
        </p:txBody>
      </p:sp>
      <p:sp>
        <p:nvSpPr>
          <p:cNvPr id="1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4D73747B-1894-47A4-9E8B-797D1562EA76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6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C3B5973-5E99-43F7-82C6-8E450D7A9851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7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96698D82-4C1C-4876-84CF-285AAC9104D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7.xml><?xml version="1.0" encoding="utf-8"?>
<p:sldLayout xmlns:p="http://schemas.openxmlformats.org/presentationml/2006/main" preserve="1" userDrawn="1">
  <p:cSld name="Сравн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D286EEAA-87D1-47A5-B9C0-E5BAD703F03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86" y="1015427"/>
            <a:ext cx="5682193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4" name="Объект 3">
            <a:extLst xmlns:a="http://schemas.openxmlformats.org/drawingml/2006/main">
              <a:ext uri="{FF2B5EF4-FFF2-40B4-BE49-F238E27FC236}">
                <a16:creationId xmlns:a16="http://schemas.microsoft.com/office/drawing/2014/main" id="{4A2D29F1-B583-4C98-B07B-171DC3552B4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349334" y="1598615"/>
            <a:ext cx="5648250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  <a:endParaRPr/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E6D3064-465D-4982-AF9F-41FF98FCBF98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5" y="1015427"/>
            <a:ext cx="5684841" cy="365125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1400" b="1"/>
            </a:lvl1pPr>
            <a:lvl2pPr marL="289378" indent="0">
              <a:buNone/>
              <a:defRPr sz="1266" b="1"/>
            </a:lvl2pPr>
            <a:lvl3pPr marL="578755" indent="0">
              <a:buNone/>
              <a:defRPr sz="1141" b="1"/>
            </a:lvl3pPr>
            <a:lvl4pPr marL="868132" indent="0">
              <a:buNone/>
              <a:defRPr sz="1013" b="1"/>
            </a:lvl4pPr>
            <a:lvl5pPr marL="1157510" indent="0">
              <a:buNone/>
              <a:defRPr sz="1013" b="1"/>
            </a:lvl5pPr>
            <a:lvl6pPr marL="1446887" indent="0">
              <a:buNone/>
              <a:defRPr sz="1013" b="1"/>
            </a:lvl6pPr>
            <a:lvl7pPr marL="1736266" indent="0">
              <a:buNone/>
              <a:defRPr sz="1013" b="1"/>
            </a:lvl7pPr>
            <a:lvl8pPr marL="2025644" indent="0">
              <a:buNone/>
              <a:defRPr sz="1013" b="1"/>
            </a:lvl8pPr>
            <a:lvl9pPr marL="2315021" indent="0">
              <a:buNone/>
              <a:defRPr sz="1013" b="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6" name="Объект 5">
            <a:extLst xmlns:a="http://schemas.openxmlformats.org/drawingml/2006/main">
              <a:ext uri="{FF2B5EF4-FFF2-40B4-BE49-F238E27FC236}">
                <a16:creationId xmlns:a16="http://schemas.microsoft.com/office/drawing/2014/main" id="{960E92CA-C4D7-4946-B437-9FCD4AA3134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2" y="1598615"/>
            <a:ext cx="5670473" cy="460216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2" name="Дата 3">
            <a:extLst xmlns:a="http://schemas.openxmlformats.org/drawingml/2006/main">
              <a:ext uri="{FF2B5EF4-FFF2-40B4-BE49-F238E27FC236}">
                <a16:creationId xmlns:a16="http://schemas.microsoft.com/office/drawing/2014/main" id="{50BC46DB-57AA-4551-8F67-742F842E120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D568497-304A-497F-ADAE-97D3CF462C1C}" type="datetime1">
              <a:t>14.09.2026</a:t>
            </a:fld>
            <a:endParaRPr/>
          </a:p>
        </p:txBody>
      </p:sp>
      <p:sp>
        <p:nvSpPr>
          <p:cNvPr id="13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F2048DE5-D653-4BDE-8495-A22EF4A50A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4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E0E8C4D1-B7B4-4A6B-87A1-354341CD6A0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5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B533CD5F-4B3E-426C-9977-6EFBE36EEA5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334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8.xml><?xml version="1.0" encoding="utf-8"?>
<p:sldLayout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2CB240C-04A3-49D4-83F9-87A9C6C414DC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78799615-B88F-452A-A6CA-6793B831650C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334966" y="1015999"/>
            <a:ext cx="4437062" cy="121341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2400"/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Объект 2">
            <a:extLst xmlns:a="http://schemas.openxmlformats.org/drawingml/2006/main">
              <a:ext uri="{FF2B5EF4-FFF2-40B4-BE49-F238E27FC236}">
                <a16:creationId xmlns:a16="http://schemas.microsoft.com/office/drawing/2014/main" id="{5B30D2CC-2D7F-43FF-B9B4-355F7E46430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94" y="1015999"/>
            <a:ext cx="6673847" cy="504952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773"/>
            </a:lvl1pPr>
            <a:lvl2pPr>
              <a:buNone/>
              <a:defRPr sz="1520"/>
            </a:lvl2pPr>
            <a:lvl3pPr>
              <a:buNone/>
              <a:defRPr sz="1266"/>
            </a:lvl3pPr>
            <a:lvl4pPr>
              <a:buNone/>
              <a:defRPr sz="1141"/>
            </a:lvl4pPr>
            <a:lvl5pPr>
              <a:buNone/>
              <a:defRPr sz="1141"/>
            </a:lvl5pPr>
            <a:lvl6pPr>
              <a:buNone/>
              <a:defRPr sz="1266"/>
            </a:lvl6pPr>
            <a:lvl7pPr>
              <a:buNone/>
              <a:defRPr sz="1266"/>
            </a:lvl7pPr>
            <a:lvl8pPr>
              <a:buNone/>
              <a:defRPr sz="1266"/>
            </a:lvl8pPr>
            <a:lvl9pPr>
              <a:buNone/>
              <a:defRPr sz="1266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23E8D86B-609C-423A-9220-D7DC81877B7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334966" y="2428239"/>
            <a:ext cx="4437062" cy="36372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289378" indent="0">
              <a:buNone/>
              <a:defRPr sz="886"/>
            </a:lvl2pPr>
            <a:lvl3pPr marL="578755" indent="0">
              <a:buNone/>
              <a:defRPr sz="760"/>
            </a:lvl3pPr>
            <a:lvl4pPr marL="868132" indent="0">
              <a:buNone/>
              <a:defRPr sz="631"/>
            </a:lvl4pPr>
            <a:lvl5pPr marL="1157510" indent="0">
              <a:buNone/>
              <a:defRPr sz="631"/>
            </a:lvl5pPr>
            <a:lvl6pPr marL="1446887" indent="0">
              <a:buNone/>
              <a:defRPr sz="631"/>
            </a:lvl6pPr>
            <a:lvl7pPr marL="1736266" indent="0">
              <a:buNone/>
              <a:defRPr sz="631"/>
            </a:lvl7pPr>
            <a:lvl8pPr marL="2025644" indent="0">
              <a:buNone/>
              <a:defRPr sz="631"/>
            </a:lvl8pPr>
            <a:lvl9pPr marL="2315021" indent="0">
              <a:buNone/>
              <a:defRPr sz="631"/>
            </a:lvl9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8" name="Дата 3">
            <a:extLst xmlns:a="http://schemas.openxmlformats.org/drawingml/2006/main">
              <a:ext uri="{FF2B5EF4-FFF2-40B4-BE49-F238E27FC236}">
                <a16:creationId xmlns:a16="http://schemas.microsoft.com/office/drawing/2014/main" id="{3D3B951D-08AE-4736-8D36-4EB9974DAC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E74468B-3512-454B-AB51-7AE95604D39E}" type="datetime1">
              <a:t>14.09.2026</a:t>
            </a:fld>
            <a:endParaRPr/>
          </a:p>
        </p:txBody>
      </p:sp>
      <p:sp>
        <p:nvSpPr>
          <p:cNvPr id="9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D1D906C7-232A-4192-A02B-35F764700239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0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E0F42FE-1DE2-4412-B92B-28748FBE7FCD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Рисунок с подписью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4">
            <a:extLst xmlns:a="http://schemas.openxmlformats.org/drawingml/2006/main">
              <a:ext uri="{FF2B5EF4-FFF2-40B4-BE49-F238E27FC236}">
                <a16:creationId xmlns:a16="http://schemas.microsoft.com/office/drawing/2014/main" id="{6492DF34-242F-4712-ACC0-85E96FE0065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ABAB2196-A440-4E25-B9FF-D0ADB01B1A15}" type="datetime1">
              <a:t>14.09.2026</a:t>
            </a:fld>
            <a:endParaRPr/>
          </a:p>
        </p:txBody>
      </p:sp>
      <p:sp>
        <p:nvSpPr>
          <p:cNvPr id="6" name="Нижний колонтитул 5">
            <a:extLst xmlns:a="http://schemas.openxmlformats.org/drawingml/2006/main">
              <a:ext uri="{FF2B5EF4-FFF2-40B4-BE49-F238E27FC236}">
                <a16:creationId xmlns:a16="http://schemas.microsoft.com/office/drawing/2014/main" id="{A5BFC209-E220-4DB1-9582-A06EDB7066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045645C-2F92-4AF1-B96A-C79DEB76E78C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802640" y="3922529"/>
            <a:ext cx="5293359" cy="1654542"/>
          </a:xfrm>
        </p:spPr>
        <p:txBody>
          <a:bodyPr xmlns:a="http://schemas.openxmlformats.org/drawingml/2006/main" anchor="ctr"/>
          <a:lstStyle xmlns:a="http://schemas.openxmlformats.org/drawingml/2006/main">
            <a:lvl1pPr algn="l">
              <a:buNone/>
              <a:defRPr sz="28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8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424E19F6-1411-4AFE-9677-D4180DA214C9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 userDrawn="1">
  <p:cSld name="Содержание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7BAE699-64F9-49EF-B784-2DEF2B221955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8E19DA3-4B31-4259-B9A7-5F7A2E642854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3541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2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42FEA996-0F55-4FCB-8FCC-C78FEA766CFA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873544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3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4D8DFD8-867D-4062-800E-27B73FA83BF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54185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4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01B4FB59-79EB-42C6-8468-505204DD843D}"/>
              </a:ext>
            </a:extLst>
          </p:cNvPr>
          <p:cNvSpPr>
            <a:spLocks xmlns:a="http://schemas.openxmlformats.org/drawingml/2006/main" noGrp="1"/>
          </p:cNvSpPr>
          <p:nvPr>
            <p:ph type="body" idx="40" hasCustomPrompt="1"/>
          </p:nvPr>
        </p:nvSpPr>
        <p:spPr>
          <a:xfrm xmlns:a="http://schemas.openxmlformats.org/drawingml/2006/main">
            <a:off x="1854185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15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2DD2E24E-A578-41A0-8812-3CEB5EB7DE20}"/>
              </a:ext>
            </a:extLst>
          </p:cNvPr>
          <p:cNvSpPr>
            <a:spLocks xmlns:a="http://schemas.openxmlformats.org/drawingml/2006/main" noGrp="1"/>
          </p:cNvSpPr>
          <p:nvPr>
            <p:ph type="body" idx="41" hasCustomPrompt="1"/>
          </p:nvPr>
        </p:nvSpPr>
        <p:spPr>
          <a:xfrm xmlns:a="http://schemas.openxmlformats.org/drawingml/2006/main">
            <a:off x="1854185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16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29120726-8DD9-4194-A282-2630D18F49EA}"/>
              </a:ext>
            </a:extLst>
          </p:cNvPr>
          <p:cNvSpPr>
            <a:spLocks xmlns:a="http://schemas.openxmlformats.org/drawingml/2006/main" noGrp="1"/>
          </p:cNvSpPr>
          <p:nvPr>
            <p:ph type="body" idx="42" hasCustomPrompt="1"/>
          </p:nvPr>
        </p:nvSpPr>
        <p:spPr>
          <a:xfrm xmlns:a="http://schemas.openxmlformats.org/drawingml/2006/main">
            <a:off x="1854185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30BC2DD-F35E-474E-A833-EA478E7F80B7}"/>
              </a:ext>
            </a:extLst>
          </p:cNvPr>
          <p:cNvSpPr>
            <a:spLocks xmlns:a="http://schemas.openxmlformats.org/drawingml/2006/main" noGrp="1"/>
          </p:cNvSpPr>
          <p:nvPr>
            <p:ph type="body" idx="43" hasCustomPrompt="1"/>
          </p:nvPr>
        </p:nvSpPr>
        <p:spPr>
          <a:xfrm xmlns:a="http://schemas.openxmlformats.org/drawingml/2006/main">
            <a:off x="7546648" y="1222713"/>
            <a:ext cx="3866856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1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7124A073-4FEB-4F54-A9B4-6797D7B46CC3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7546651" y="1790324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17FB4F65-9ABC-4376-8283-0F33F9BB91D6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7527292" y="2826697"/>
            <a:ext cx="3866856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3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C2E3AAAD-E9EB-4A42-ADAF-EDA850F01ED1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7527292" y="3374436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4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835470A4-56EB-4A53-A875-42155372D2DA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7527292" y="4410809"/>
            <a:ext cx="3866856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Заголовок</a:t>
            </a:r>
          </a:p>
        </p:txBody>
      </p:sp>
      <p:sp>
        <p:nvSpPr>
          <p:cNvPr id="25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3CC4C2-7EF9-4A4B-BDD1-B16EF36B84C3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7527292" y="4958548"/>
            <a:ext cx="3866856" cy="67207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2pPr>
              <a:buNone/>
              <a:defRPr sz="1400"/>
            </a:lvl2pPr>
          </a:lstStyle>
          <a:p xmlns:a="http://schemas.openxmlformats.org/drawingml/2006/main">
            <a:pPr lvl="1">
              <a:buNone/>
            </a:pPr>
            <a:r>
              <a:t>Описание</a:t>
            </a:r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3CEA4EC-5717-426C-A1A1-534D0A055245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778493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01</a:t>
            </a:r>
          </a:p>
        </p:txBody>
      </p:sp>
      <p:sp>
        <p:nvSpPr>
          <p:cNvPr id="28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ECD22E46-ECAB-4A6C-9243-E1661118B47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759137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02</a:t>
            </a:r>
          </a:p>
        </p:txBody>
      </p:sp>
      <p:sp>
        <p:nvSpPr>
          <p:cNvPr id="29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A3CA815C-23B0-4736-B973-0A405AFC5D08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759137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03</a:t>
            </a:r>
          </a:p>
        </p:txBody>
      </p:sp>
      <p:sp>
        <p:nvSpPr>
          <p:cNvPr id="30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0C64CE05-E630-4FDE-B773-3165E579B3B6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6451600" y="1187988"/>
            <a:ext cx="771003" cy="423628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04</a:t>
            </a:r>
          </a:p>
        </p:txBody>
      </p:sp>
      <p:sp>
        <p:nvSpPr>
          <p:cNvPr id="31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2DBB510-86A6-45BB-B6E1-54FE5A86B490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6432244" y="2791972"/>
            <a:ext cx="771003" cy="403756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05</a:t>
            </a:r>
          </a:p>
        </p:txBody>
      </p:sp>
      <p:sp>
        <p:nvSpPr>
          <p:cNvPr id="32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CA530A5B-20B1-4742-8CF2-55C8F5CC1E91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6432244" y="4376084"/>
            <a:ext cx="771003" cy="403913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2800" b="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06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 userDrawn="1">
  <p:cSld name="Фотограф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CAFA80CC-940E-479C-90C0-76DA923785E9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7268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7" name="Рисунок 7">
            <a:extLst xmlns:a="http://schemas.openxmlformats.org/drawingml/2006/main">
              <a:ext uri="{FF2B5EF4-FFF2-40B4-BE49-F238E27FC236}">
                <a16:creationId xmlns:a16="http://schemas.microsoft.com/office/drawing/2014/main" id="{7F6989B1-EABA-40DD-BFD6-7E0075CDDEE8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7440147" y="1016001"/>
            <a:ext cx="4405777" cy="307847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8" name="Рисунок 9">
            <a:extLst xmlns:a="http://schemas.openxmlformats.org/drawingml/2006/main">
              <a:ext uri="{FF2B5EF4-FFF2-40B4-BE49-F238E27FC236}">
                <a16:creationId xmlns:a16="http://schemas.microsoft.com/office/drawing/2014/main" id="{C157B27F-5477-43C4-BE9E-F7CF2A081F1A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7440149" y="4389108"/>
            <a:ext cx="4405775" cy="181166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9" name="Рисунок 11">
            <a:extLst xmlns:a="http://schemas.openxmlformats.org/drawingml/2006/main">
              <a:ext uri="{FF2B5EF4-FFF2-40B4-BE49-F238E27FC236}">
                <a16:creationId xmlns:a16="http://schemas.microsoft.com/office/drawing/2014/main" id="{3E695B26-F7D2-4380-AAA1-0FB24A689AAD}"/>
              </a:ext>
            </a:extLst>
          </p:cNvPr>
          <p:cNvSpPr>
            <a:spLocks xmlns:a="http://schemas.openxmlformats.org/drawingml/2006/main" noGrp="1"/>
          </p:cNvSpPr>
          <p:nvPr>
            <p:ph type="pic" idx="12"/>
          </p:nvPr>
        </p:nvSpPr>
        <p:spPr>
          <a:xfrm xmlns:a="http://schemas.openxmlformats.org/drawingml/2006/main">
            <a:off x="346075" y="3223948"/>
            <a:ext cx="6806142" cy="297682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0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7EA2CF14-9D94-4B6F-AAA7-0B38CBB654CE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346075" y="1016001"/>
            <a:ext cx="6806142" cy="202988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 userDrawn="1">
  <p:cSld name="Пункты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82A4DA7B-A7D8-4443-AD1C-4C7CDC678488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23" name="Текст 101">
            <a:extLst xmlns:a="http://schemas.openxmlformats.org/drawingml/2006/main">
              <a:ext uri="{FF2B5EF4-FFF2-40B4-BE49-F238E27FC236}">
                <a16:creationId xmlns:a16="http://schemas.microsoft.com/office/drawing/2014/main" id="{B61EFF39-7063-4F67-A1C0-B9D05F3602E3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1994303" y="2973742"/>
            <a:ext cx="2190810" cy="910516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Текст</a:t>
            </a:r>
          </a:p>
        </p:txBody>
      </p:sp>
      <p:sp>
        <p:nvSpPr>
          <p:cNvPr id="75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A0F2F041-BB01-463D-9CD2-6A231D592408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6662924" y="158812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8BDD636-A558-406A-A768-05FF3D12BD8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662924" y="2445138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53EE4994-79EE-43D0-B40B-E2DE25879B80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6662924" y="3302147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4CD31D83-EE69-46A0-B5B2-B2969969DCFB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62924" y="415915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74">
            <a:extLst xmlns:a="http://schemas.openxmlformats.org/drawingml/2006/main">
              <a:ext uri="{FF2B5EF4-FFF2-40B4-BE49-F238E27FC236}">
                <a16:creationId xmlns:a16="http://schemas.microsoft.com/office/drawing/2014/main" id="{BFB2A4EF-E632-42AC-82F0-453D4A95A9E4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6662924" y="5016166"/>
            <a:ext cx="4902200" cy="7125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 userDrawn="1">
  <p:cSld name="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4E505DF-C567-47F2-9374-60838F80010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1107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26867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626932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807582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3407647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4584029"/>
            <a:ext cx="4790314" cy="1615356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5184094"/>
            <a:ext cx="4790314" cy="101529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5.xml><?xml version="1.0" encoding="utf-8"?>
<p:sldLayout xmlns:p="http://schemas.openxmlformats.org/presentationml/2006/main" preserve="1" userDrawn="1">
  <p:cSld name="1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2938A0C3-5C2F-47B8-B008-79A49A1195B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9532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6.xml><?xml version="1.0" encoding="utf-8"?>
<p:sldLayout xmlns:p="http://schemas.openxmlformats.org/presentationml/2006/main" preserve="1" userDrawn="1">
  <p:cSld name="2_Статистика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BF4F29EB-DFD0-428E-8E89-ED117A3553E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26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55CB4C33-0A35-4822-B0EF-4E754699A1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7721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1350734-1D64-4861-9813-14C6593B8523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6683077" y="1016000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010826A5-76AC-452C-9459-7CC1CCF22ED5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6683077" y="1395537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694E912-AC3F-437A-90AD-A48291DCE9BD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6683077" y="2284561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60000"/>
                    <a:lumOff val="4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E78EAF0-6854-4E73-A48A-917C1A86C3F4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6683077" y="2664098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2D68DD9-6181-4C35-909B-154E5E309C97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6683077" y="3553122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7D5E34DD-827F-4597-BFDE-34D8830FB250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6683077" y="3932659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305AE9F-2B19-4EA1-A48B-435746C35E60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6683077" y="4821684"/>
            <a:ext cx="4790314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F9D9CFB-62B9-4CE0-8770-0CB398D99F7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6683077" y="5201221"/>
            <a:ext cx="4790314" cy="6421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</p:spTree>
  </p:cSld>
</p:sldLayout>
</file>

<file path=ppt/slideLayouts/slideLayout17.xml><?xml version="1.0" encoding="utf-8"?>
<p:sldLayout xmlns:p="http://schemas.openxmlformats.org/presentationml/2006/main" preserve="1" userDrawn="1">
  <p:cSld name="Стадии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52F0272-0FEA-44CE-966E-3D169B2F53D4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E583EE3-33C6-4FCC-9F56-28AB0B4FCAD9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346075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FEBE25F-FFFE-4B9D-94E7-7A69C7B0D747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346075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E63DE62-DFB7-44A9-A85D-B687FAE797DC}"/>
              </a:ext>
            </a:extLst>
          </p:cNvPr>
          <p:cNvSpPr>
            <a:spLocks xmlns:a="http://schemas.openxmlformats.org/drawingml/2006/main" noGrp="1"/>
          </p:cNvSpPr>
          <p:nvPr>
            <p:ph type="body" idx="28"/>
          </p:nvPr>
        </p:nvSpPr>
        <p:spPr>
          <a:xfrm xmlns:a="http://schemas.openxmlformats.org/drawingml/2006/main">
            <a:off x="4832960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5791B9B-D32F-4C66-AD0A-B1F3CB6B2B21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>
          <a:xfrm xmlns:a="http://schemas.openxmlformats.org/drawingml/2006/main">
            <a:off x="4832960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4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052024B-27A5-4D0B-A7E7-5161FB0ED379}"/>
              </a:ext>
            </a:extLst>
          </p:cNvPr>
          <p:cNvSpPr>
            <a:spLocks xmlns:a="http://schemas.openxmlformats.org/drawingml/2006/main" noGrp="1"/>
          </p:cNvSpPr>
          <p:nvPr>
            <p:ph type="body" idx="30"/>
          </p:nvPr>
        </p:nvSpPr>
        <p:spPr>
          <a:xfrm xmlns:a="http://schemas.openxmlformats.org/drawingml/2006/main">
            <a:off x="9330862" y="1024937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5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FC47B0-ECC1-49CE-99A3-DC05480669A7}"/>
              </a:ext>
            </a:extLst>
          </p:cNvPr>
          <p:cNvSpPr>
            <a:spLocks xmlns:a="http://schemas.openxmlformats.org/drawingml/2006/main" noGrp="1"/>
          </p:cNvSpPr>
          <p:nvPr>
            <p:ph type="body" idx="31"/>
          </p:nvPr>
        </p:nvSpPr>
        <p:spPr>
          <a:xfrm xmlns:a="http://schemas.openxmlformats.org/drawingml/2006/main">
            <a:off x="9330862" y="1380939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B86BD35-3919-4E07-B138-AAF7CFF7DF02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>
          <a:xfrm xmlns:a="http://schemas.openxmlformats.org/drawingml/2006/main">
            <a:off x="2593517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0D94F19-5929-4A71-8C96-769ED6DD0BAE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>
          <a:xfrm xmlns:a="http://schemas.openxmlformats.org/drawingml/2006/main">
            <a:off x="2593517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84303F2-08F5-497F-BC9B-59F70995863F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>
          <a:xfrm xmlns:a="http://schemas.openxmlformats.org/drawingml/2006/main">
            <a:off x="7080402" y="4358152"/>
            <a:ext cx="2526079" cy="1476687"/>
          </a:xfrm>
          <a:prstGeom xmlns:a="http://schemas.openxmlformats.org/drawingml/2006/main" prst="roundRect">
            <a:avLst>
              <a:gd name="adj" fmla="val 1588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7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5C32CD-4539-4313-8B67-943CB8F5EBD9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>
          <a:xfrm xmlns:a="http://schemas.openxmlformats.org/drawingml/2006/main">
            <a:off x="7080402" y="4714154"/>
            <a:ext cx="2526079" cy="112068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84256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18.xml><?xml version="1.0" encoding="utf-8"?>
<p:sldLayout xmlns:p="http://schemas.openxmlformats.org/presentationml/2006/main" preserve="1" userDrawn="1">
  <p:cSld name="Проблема и решение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062B0DBE-B5A9-470E-85A9-7CC062D5339A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7650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2FAEFDC9-8968-4F3D-8F8F-5591D6F30FE0}"/>
              </a:ext>
            </a:extLst>
          </p:cNvPr>
          <p:cNvSpPr>
            <a:spLocks xmlns:a="http://schemas.openxmlformats.org/drawingml/2006/main" noGrp="1"/>
          </p:cNvSpPr>
          <p:nvPr>
            <p:ph type="body" idx="26" hasCustomPrompt="1"/>
          </p:nvPr>
        </p:nvSpPr>
        <p:spPr>
          <a:xfrm xmlns:a="http://schemas.openxmlformats.org/drawingml/2006/main">
            <a:off x="517027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Описание проблемы 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A7C77525-23F2-401E-A901-0374D8239BBC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464542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Примеры уже имеющихся способов решения данной проблемы</a:t>
            </a:r>
          </a:p>
        </p:txBody>
      </p:sp>
      <p:sp>
        <p:nvSpPr>
          <p:cNvPr id="153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D2F4E226-3842-4532-A60F-4E8C02DAD6DC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8385481" y="3810175"/>
            <a:ext cx="3264113" cy="2375115"/>
          </a:xfrm>
          <a:prstGeom xmlns:a="http://schemas.openxmlformats.org/drawingml/2006/main" prst="roundRect">
            <a:avLst>
              <a:gd name="adj" fmla="val 10167"/>
            </a:avLst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49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>
              <a:buNone/>
              <a:defRPr sz="1400" b="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Ваше предложение решения данной проблемы</a:t>
            </a:r>
          </a:p>
        </p:txBody>
      </p:sp>
      <p:sp>
        <p:nvSpPr>
          <p:cNvPr id="18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C44A233F-7BDF-4F40-844F-FC23B1912AA4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517027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Проблема</a:t>
            </a:r>
          </a:p>
        </p:txBody>
      </p:sp>
      <p:sp>
        <p:nvSpPr>
          <p:cNvPr id="19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683ED6E-2444-48B8-A78B-F1EBA53E21C2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464542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Альтернативные решения</a:t>
            </a:r>
          </a:p>
        </p:txBody>
      </p:sp>
      <p:sp>
        <p:nvSpPr>
          <p:cNvPr id="19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B788F042-DAFC-4B5A-B1AA-8ADEFAAA9801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8385481" y="3252336"/>
            <a:ext cx="3264113" cy="391783"/>
          </a:xfrm>
          <a:prstGeom xmlns:a="http://schemas.openxmlformats.org/drawingml/2006/main" prst="roundRect">
            <a:avLst>
              <a:gd name="adj" fmla="val 10167"/>
            </a:avLst>
          </a:prstGeom>
          <a:noFill xmlns:a="http://schemas.openxmlformats.org/drawingml/2006/main"/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 marL="0" indent="0" algn="ctr">
              <a:buNone/>
              <a:defRPr sz="16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Решение</a:t>
            </a:r>
          </a:p>
        </p:txBody>
      </p:sp>
    </p:spTree>
  </p:cSld>
</p:sldLayout>
</file>

<file path=ppt/slideLayouts/slideLayout19.xml><?xml version="1.0" encoding="utf-8"?>
<p:sldLayout xmlns:p="http://schemas.openxmlformats.org/presentationml/2006/main" preserve="1" userDrawn="1">
  <p:cSld name="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4162940" y="1264478"/>
            <a:ext cx="3866121" cy="2436377"/>
          </a:xfrm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4D396B86-640F-4AD1-BBB2-E085B6CD8771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346075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4240502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1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7C8F4076-BB2C-4FA3-9BAD-5EF87B638D5F}"/>
              </a:ext>
            </a:extLst>
          </p:cNvPr>
          <p:cNvSpPr>
            <a:spLocks xmlns:a="http://schemas.openxmlformats.org/drawingml/2006/main" noGrp="1"/>
          </p:cNvSpPr>
          <p:nvPr>
            <p:ph type="body" idx="17"/>
          </p:nvPr>
        </p:nvSpPr>
        <p:spPr>
          <a:xfrm xmlns:a="http://schemas.openxmlformats.org/drawingml/2006/main">
            <a:off x="8230203" y="4656083"/>
            <a:ext cx="3626835" cy="154469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</p:spTree>
  </p:cSld>
</p:sldLayout>
</file>

<file path=ppt/slideLayouts/slideLayout20.xml><?xml version="1.0" encoding="utf-8"?>
<p:sldLayout xmlns:p="http://schemas.openxmlformats.org/presentationml/2006/main" preserve="1" userDrawn="1">
  <p:cSld name="1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3AF0E63-1EB1-47F5-B09E-CA3E5DE528F3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00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6641864C-9659-45A2-A61F-BB1A3067B1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53289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8340B20B-0618-415E-8908-3C85578C4D16}"/>
              </a:ext>
            </a:extLst>
          </p:cNvPr>
          <p:cNvSpPr>
            <a:spLocks xmlns:a="http://schemas.openxmlformats.org/drawingml/2006/main" noGrp="1"/>
          </p:cNvSpPr>
          <p:nvPr>
            <p:ph type="body" idx="15"/>
          </p:nvPr>
        </p:nvSpPr>
        <p:spPr>
          <a:xfrm xmlns:a="http://schemas.openxmlformats.org/drawingml/2006/main">
            <a:off x="1210643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9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47A76FC9-6FDA-4102-9D33-F9766B07D3E6}"/>
              </a:ext>
            </a:extLst>
          </p:cNvPr>
          <p:cNvSpPr>
            <a:spLocks xmlns:a="http://schemas.openxmlformats.org/drawingml/2006/main" noGrp="1"/>
          </p:cNvSpPr>
          <p:nvPr>
            <p:ph type="body" idx="16"/>
          </p:nvPr>
        </p:nvSpPr>
        <p:spPr>
          <a:xfrm xmlns:a="http://schemas.openxmlformats.org/drawingml/2006/main">
            <a:off x="6857950" y="4324451"/>
            <a:ext cx="4121687" cy="161226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79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F4BB4485-D5EB-48AD-A465-1B1299C88CD1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210642" y="1577998"/>
            <a:ext cx="4121688" cy="2283975"/>
          </a:xfrm>
        </p:spPr>
      </p:sp>
      <p:sp>
        <p:nvSpPr>
          <p:cNvPr id="123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C7FB8BAF-17B6-40DC-9912-73B3494AC45E}"/>
              </a:ext>
            </a:extLst>
          </p:cNvPr>
          <p:cNvSpPr>
            <a:spLocks xmlns:a="http://schemas.openxmlformats.org/drawingml/2006/main" noGrp="1"/>
          </p:cNvSpPr>
          <p:nvPr>
            <p:ph type="pic" idx="18"/>
          </p:nvPr>
        </p:nvSpPr>
        <p:spPr>
          <a:xfrm xmlns:a="http://schemas.openxmlformats.org/drawingml/2006/main">
            <a:off x="6855540" y="1577998"/>
            <a:ext cx="4121688" cy="2283975"/>
          </a:xfrm>
        </p:spPr>
      </p:sp>
    </p:spTree>
  </p:cSld>
</p:sldLayout>
</file>

<file path=ppt/slideLayouts/slideLayout21.xml><?xml version="1.0" encoding="utf-8"?>
<p:sldLayout xmlns:p="http://schemas.openxmlformats.org/presentationml/2006/main" preserve="1" userDrawn="1">
  <p:cSld name="2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5009872" y="1235915"/>
            <a:ext cx="2172255" cy="4602697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3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34F2EADD-49A3-44E7-AC8B-D07BF1B4F1A8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356349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6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15551546-3EE0-4A54-9DEE-1E9FEBF43B2F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56349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7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9D9ADB6F-AC53-4034-92EE-80435562B80A}"/>
              </a:ext>
            </a:extLst>
          </p:cNvPr>
          <p:cNvSpPr>
            <a:spLocks xmlns:a="http://schemas.openxmlformats.org/drawingml/2006/main" noGrp="1"/>
          </p:cNvSpPr>
          <p:nvPr>
            <p:ph type="body" idx="22"/>
          </p:nvPr>
        </p:nvSpPr>
        <p:spPr>
          <a:xfrm xmlns:a="http://schemas.openxmlformats.org/drawingml/2006/main">
            <a:off x="8040021" y="1641283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5">
                    <a:lumMod val="20000"/>
                    <a:lumOff val="80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8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AB22390-1508-4419-B1B3-375A734DF0EE}"/>
              </a:ext>
            </a:extLst>
          </p:cNvPr>
          <p:cNvSpPr>
            <a:spLocks xmlns:a="http://schemas.openxmlformats.org/drawingml/2006/main" noGrp="1"/>
          </p:cNvSpPr>
          <p:nvPr>
            <p:ph type="body" idx="23"/>
          </p:nvPr>
        </p:nvSpPr>
        <p:spPr>
          <a:xfrm xmlns:a="http://schemas.openxmlformats.org/drawingml/2006/main">
            <a:off x="8040021" y="2020820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49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FF699DD2-8E32-4C98-8444-90139EB2FDC6}"/>
              </a:ext>
            </a:extLst>
          </p:cNvPr>
          <p:cNvSpPr>
            <a:spLocks xmlns:a="http://schemas.openxmlformats.org/drawingml/2006/main" noGrp="1"/>
          </p:cNvSpPr>
          <p:nvPr>
            <p:ph type="body" idx="24"/>
          </p:nvPr>
        </p:nvSpPr>
        <p:spPr>
          <a:xfrm xmlns:a="http://schemas.openxmlformats.org/drawingml/2006/main">
            <a:off x="356349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4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0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6496F1D2-4B4B-412C-B228-1C27099F20D3}"/>
              </a:ext>
            </a:extLst>
          </p:cNvPr>
          <p:cNvSpPr>
            <a:spLocks xmlns:a="http://schemas.openxmlformats.org/drawingml/2006/main" noGrp="1"/>
          </p:cNvSpPr>
          <p:nvPr>
            <p:ph type="body" idx="25"/>
          </p:nvPr>
        </p:nvSpPr>
        <p:spPr>
          <a:xfrm xmlns:a="http://schemas.openxmlformats.org/drawingml/2006/main">
            <a:off x="356349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1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55E268D8-B309-4AA0-8E1B-30DF4A867252}"/>
              </a:ext>
            </a:extLst>
          </p:cNvPr>
          <p:cNvSpPr>
            <a:spLocks xmlns:a="http://schemas.openxmlformats.org/drawingml/2006/main" noGrp="1"/>
          </p:cNvSpPr>
          <p:nvPr>
            <p:ph type="body" idx="26"/>
          </p:nvPr>
        </p:nvSpPr>
        <p:spPr>
          <a:xfrm xmlns:a="http://schemas.openxmlformats.org/drawingml/2006/main">
            <a:off x="8040021" y="3864598"/>
            <a:ext cx="3812931" cy="1021701"/>
          </a:xfrm>
          <a:prstGeom xmlns:a="http://schemas.openxmlformats.org/drawingml/2006/main" prst="roundRect">
            <a:avLst/>
          </a:prstGeom>
          <a:gradFill xmlns:a="http://schemas.openxmlformats.org/drawingml/2006/main">
            <a:gsLst>
              <a:gs pos="0">
                <a:schemeClr val="accent1">
                  <a:lumMod val="5000"/>
                  <a:lumOff val="95000"/>
                  <a:alpha val="20000"/>
                </a:schemeClr>
              </a:gs>
              <a:gs pos="65000">
                <a:schemeClr val="bg1">
                  <a:alpha val="0"/>
                </a:schemeClr>
              </a:gs>
            </a:gsLst>
            <a:lin ang="5400000" scaled="1"/>
          </a:gradFill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buNone/>
              <a:defRPr sz="18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sp>
        <p:nvSpPr>
          <p:cNvPr id="152" name="Текст 35">
            <a:extLst xmlns:a="http://schemas.openxmlformats.org/drawingml/2006/main">
              <a:ext uri="{FF2B5EF4-FFF2-40B4-BE49-F238E27FC236}">
                <a16:creationId xmlns:a16="http://schemas.microsoft.com/office/drawing/2014/main" id="{E6797EA4-A26A-41BA-A1AB-8E1F9B9574DE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8040021" y="4244135"/>
            <a:ext cx="3812931" cy="129059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1400"/>
            </a:lvl1pPr>
          </a:lstStyle>
          <a:p xmlns:a="http://schemas.openxmlformats.org/drawingml/2006/main">
            <a:pPr lvl="0">
              <a:buNone/>
            </a:pPr>
            <a:r>
              <a:t>Образец текста</a:t>
            </a:r>
          </a:p>
        </p:txBody>
      </p:sp>
      <p:cxnSp>
        <p:nvCxnSpPr>
          <p:cNvPr id="181" name="Google Shape;2799;p94"/>
          <p:cNvCxnSpPr/>
          <p:nvPr/>
        </p:nvCxnSpPr>
        <p:spPr>
          <a:xfrm xmlns:a="http://schemas.openxmlformats.org/drawingml/2006/main">
            <a:off x="4244694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" name="Google Shape;2799;p94"/>
          <p:cNvCxnSpPr/>
          <p:nvPr/>
        </p:nvCxnSpPr>
        <p:spPr>
          <a:xfrm xmlns:a="http://schemas.openxmlformats.org/drawingml/2006/main">
            <a:off x="4244694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3" name="Google Shape;2799;p94"/>
          <p:cNvCxnSpPr/>
          <p:nvPr/>
        </p:nvCxnSpPr>
        <p:spPr>
          <a:xfrm xmlns:a="http://schemas.openxmlformats.org/drawingml/2006/main">
            <a:off x="7250583" y="1870413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5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4" name="Google Shape;2799;p94"/>
          <p:cNvCxnSpPr/>
          <p:nvPr/>
        </p:nvCxnSpPr>
        <p:spPr>
          <a:xfrm xmlns:a="http://schemas.openxmlformats.org/drawingml/2006/main">
            <a:off x="7250583" y="4094630"/>
            <a:ext cx="686698" cy="0"/>
          </a:xfrm>
          <a:prstGeom xmlns:a="http://schemas.openxmlformats.org/drawingml/2006/main" prst="straightConnector1">
            <a:avLst/>
          </a:prstGeom>
          <a:ln xmlns:a="http://schemas.openxmlformats.org/drawingml/2006/main" w="25400" cap="flat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Заголовок 3">
            <a:extLst xmlns:a="http://schemas.openxmlformats.org/drawingml/2006/main">
              <a:ext uri="{FF2B5EF4-FFF2-40B4-BE49-F238E27FC236}">
                <a16:creationId xmlns:a16="http://schemas.microsoft.com/office/drawing/2014/main" id="{A19765B8-4F24-5E1F-432E-F592BFAF73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9" name="Дата 8">
            <a:extLst xmlns:a="http://schemas.openxmlformats.org/drawingml/2006/main">
              <a:ext uri="{FF2B5EF4-FFF2-40B4-BE49-F238E27FC236}">
                <a16:creationId xmlns:a16="http://schemas.microsoft.com/office/drawing/2014/main" id="{E19B813A-8796-C89A-4669-BFA5CA98F24A}"/>
              </a:ext>
            </a:extLst>
          </p:cNvPr>
          <p:cNvSpPr>
            <a:spLocks xmlns:a="http://schemas.openxmlformats.org/drawingml/2006/main" noGrp="1"/>
          </p:cNvSpPr>
          <p:nvPr>
            <p:ph type="dt" idx="28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10" name="Нижний колонтитул 9">
            <a:extLst xmlns:a="http://schemas.openxmlformats.org/drawingml/2006/main">
              <a:ext uri="{FF2B5EF4-FFF2-40B4-BE49-F238E27FC236}">
                <a16:creationId xmlns:a16="http://schemas.microsoft.com/office/drawing/2014/main" id="{2648A9B9-3888-6E59-EA1C-76276C4EE93D}"/>
              </a:ext>
            </a:extLst>
          </p:cNvPr>
          <p:cNvSpPr>
            <a:spLocks xmlns:a="http://schemas.openxmlformats.org/drawingml/2006/main" noGrp="1"/>
          </p:cNvSpPr>
          <p:nvPr>
            <p:ph type="ftr" idx="29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1" name="Номер слайда 10">
            <a:extLst xmlns:a="http://schemas.openxmlformats.org/drawingml/2006/main">
              <a:ext uri="{FF2B5EF4-FFF2-40B4-BE49-F238E27FC236}">
                <a16:creationId xmlns:a16="http://schemas.microsoft.com/office/drawing/2014/main" id="{0E2B1EF5-F5AA-C72A-5C4D-8EE372388A4E}"/>
              </a:ext>
            </a:extLst>
          </p:cNvPr>
          <p:cNvSpPr>
            <a:spLocks xmlns:a="http://schemas.openxmlformats.org/drawingml/2006/main" noGrp="1"/>
          </p:cNvSpPr>
          <p:nvPr>
            <p:ph type="sldNum" idx="3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</p:sldLayout>
</file>

<file path=ppt/slideLayouts/slideLayout22.xml><?xml version="1.0" encoding="utf-8"?>
<p:sldLayout xmlns:p="http://schemas.openxmlformats.org/presentationml/2006/main" preserve="1" userDrawn="1">
  <p:cSld name="3_Демо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2E6A2544-8689-48EB-9658-2D1DE4E48784}"/>
              </a:ext>
            </a:extLst>
          </p:cNvPr>
          <p:cNvSpPr>
            <a:spLocks xmlns:a="http://schemas.openxmlformats.org/drawingml/2006/main" noGrp="1"/>
          </p:cNvSpPr>
          <p:nvPr>
            <p:ph type="pic" idx="14"/>
          </p:nvPr>
        </p:nvSpPr>
        <p:spPr>
          <a:xfrm xmlns:a="http://schemas.openxmlformats.org/drawingml/2006/main">
            <a:off x="1001460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75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5F8A3887-CB84-43EA-BFC4-CD93F421C5F2}"/>
              </a:ext>
            </a:extLst>
          </p:cNvPr>
          <p:cNvSpPr>
            <a:spLocks xmlns:a="http://schemas.openxmlformats.org/drawingml/2006/main" noGrp="1"/>
          </p:cNvSpPr>
          <p:nvPr>
            <p:ph type="pic" idx="15"/>
          </p:nvPr>
        </p:nvSpPr>
        <p:spPr>
          <a:xfrm xmlns:a="http://schemas.openxmlformats.org/drawingml/2006/main">
            <a:off x="3831097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02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E009EEBC-6069-4389-9953-A05FCC07FDF9}"/>
              </a:ext>
            </a:extLst>
          </p:cNvPr>
          <p:cNvSpPr>
            <a:spLocks xmlns:a="http://schemas.openxmlformats.org/drawingml/2006/main" noGrp="1"/>
          </p:cNvSpPr>
          <p:nvPr>
            <p:ph type="pic" idx="16"/>
          </p:nvPr>
        </p:nvSpPr>
        <p:spPr>
          <a:xfrm xmlns:a="http://schemas.openxmlformats.org/drawingml/2006/main">
            <a:off x="6660734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171" name="Picture Placeholder 1">
            <a:extLst xmlns:a="http://schemas.openxmlformats.org/drawingml/2006/main">
              <a:ext uri="{FF2B5EF4-FFF2-40B4-BE49-F238E27FC236}">
                <a16:creationId xmlns:a16="http://schemas.microsoft.com/office/drawing/2014/main" id="{16E9D3D5-A966-4770-89F5-48C9F92735FE}"/>
              </a:ext>
            </a:extLst>
          </p:cNvPr>
          <p:cNvSpPr>
            <a:spLocks xmlns:a="http://schemas.openxmlformats.org/drawingml/2006/main" noGrp="1"/>
          </p:cNvSpPr>
          <p:nvPr>
            <p:ph type="pic" idx="17"/>
          </p:nvPr>
        </p:nvSpPr>
        <p:spPr>
          <a:xfrm xmlns:a="http://schemas.openxmlformats.org/drawingml/2006/main">
            <a:off x="9490368" y="1038224"/>
            <a:ext cx="1726214" cy="3657600"/>
          </a:xfrm>
          <a:prstGeom xmlns:a="http://schemas.openxmlformats.org/drawingml/2006/main" prst="roundRect">
            <a:avLst>
              <a:gd name="adj" fmla="val 12528"/>
            </a:avLst>
          </a:prstGeom>
          <a:noFill xmlns:a="http://schemas.openxmlformats.org/drawingml/2006/main"/>
        </p:spPr>
      </p:sp>
      <p:sp>
        <p:nvSpPr>
          <p:cNvPr id="5" name="Дата 3">
            <a:extLst xmlns:a="http://schemas.openxmlformats.org/drawingml/2006/main">
              <a:ext uri="{FF2B5EF4-FFF2-40B4-BE49-F238E27FC236}">
                <a16:creationId xmlns:a16="http://schemas.microsoft.com/office/drawing/2014/main" id="{916B7A0B-21BC-45FE-AFF7-52F34B6D0F83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DC8C16AD-D907-4463-BE30-FCBB33ACAE3F}" type="datetime1">
              <a:t>14.09.2026</a:t>
            </a:fld>
            <a:endParaRPr/>
          </a:p>
        </p:txBody>
      </p:sp>
      <p:sp>
        <p:nvSpPr>
          <p:cNvPr id="6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6D393D3D-D368-4E15-8F2F-7A07229A98A8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7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0F5F999C-FF8F-49FD-8575-A50C0300C4F5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  <p:sp>
        <p:nvSpPr>
          <p:cNvPr id="197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B3D45624-8EA3-4B52-B030-A364BB470CC4}"/>
              </a:ext>
            </a:extLst>
          </p:cNvPr>
          <p:cNvSpPr>
            <a:spLocks xmlns:a="http://schemas.openxmlformats.org/drawingml/2006/main" noGrp="1"/>
          </p:cNvSpPr>
          <p:nvPr>
            <p:ph type="body" idx="18"/>
          </p:nvPr>
        </p:nvSpPr>
        <p:spPr>
          <a:xfrm xmlns:a="http://schemas.openxmlformats.org/drawingml/2006/main">
            <a:off x="346076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CA86BD45-703D-484A-9D4A-1FEA90A4808F}"/>
              </a:ext>
            </a:extLst>
          </p:cNvPr>
          <p:cNvSpPr>
            <a:spLocks xmlns:a="http://schemas.openxmlformats.org/drawingml/2006/main" noGrp="1"/>
          </p:cNvSpPr>
          <p:nvPr>
            <p:ph type="body" idx="19"/>
          </p:nvPr>
        </p:nvSpPr>
        <p:spPr>
          <a:xfrm xmlns:a="http://schemas.openxmlformats.org/drawingml/2006/main">
            <a:off x="3269562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199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FE3D94F-B533-4C0D-9E9B-72F06706305C}"/>
              </a:ext>
            </a:extLst>
          </p:cNvPr>
          <p:cNvSpPr>
            <a:spLocks xmlns:a="http://schemas.openxmlformats.org/drawingml/2006/main" noGrp="1"/>
          </p:cNvSpPr>
          <p:nvPr>
            <p:ph type="body" idx="20"/>
          </p:nvPr>
        </p:nvSpPr>
        <p:spPr>
          <a:xfrm xmlns:a="http://schemas.openxmlformats.org/drawingml/2006/main">
            <a:off x="6193048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00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0C4A1F6E-BDC1-410D-A748-7E90C2221ED1}"/>
              </a:ext>
            </a:extLst>
          </p:cNvPr>
          <p:cNvSpPr>
            <a:spLocks xmlns:a="http://schemas.openxmlformats.org/drawingml/2006/main" noGrp="1"/>
          </p:cNvSpPr>
          <p:nvPr>
            <p:ph type="body" idx="21"/>
          </p:nvPr>
        </p:nvSpPr>
        <p:spPr>
          <a:xfrm xmlns:a="http://schemas.openxmlformats.org/drawingml/2006/main">
            <a:off x="9116535" y="4929435"/>
            <a:ext cx="2739248" cy="127134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D008DEFE-D4AF-4461-AEAA-AABBFA1473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</p:spTree>
  </p:cSld>
</p:sldLayout>
</file>

<file path=ppt/slideLayouts/slideLayout23.xml><?xml version="1.0" encoding="utf-8"?>
<p:sldLayout xmlns:p="http://schemas.openxmlformats.org/presentationml/2006/main" userDrawn="1">
  <p:cSld name="Пустой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image" Target="/ppt/media/image.png" Id="R6e66ddf843474241" /><Relationship Type="http://schemas.openxmlformats.org/officeDocument/2006/relationships/theme" Target="/ppt/slideMasters/theme/theme2.xml" Id="R394972f8620e40ff" /><Relationship Type="http://schemas.openxmlformats.org/officeDocument/2006/relationships/slideLayout" Target="/ppt/slideLayouts/slideLayout1.xml" Id="R35f660c448ef4967" /><Relationship Type="http://schemas.openxmlformats.org/officeDocument/2006/relationships/slideLayout" Target="/ppt/slideLayouts/slideLayout2.xml" Id="R3e782a91601e48b0" /><Relationship Type="http://schemas.openxmlformats.org/officeDocument/2006/relationships/slideLayout" Target="/ppt/slideLayouts/slideLayout3.xml" Id="R244aac5acde04ab4" /><Relationship Type="http://schemas.openxmlformats.org/officeDocument/2006/relationships/slideLayout" Target="/ppt/slideLayouts/slideLayout4.xml" Id="R1545b8e959d64dcf" /><Relationship Type="http://schemas.openxmlformats.org/officeDocument/2006/relationships/slideLayout" Target="/ppt/slideLayouts/slideLayout5.xml" Id="R0e923d53d2844a9f" /><Relationship Type="http://schemas.openxmlformats.org/officeDocument/2006/relationships/slideLayout" Target="/ppt/slideLayouts/slideLayout6.xml" Id="Rd7fbb6258e9347a7" /><Relationship Type="http://schemas.openxmlformats.org/officeDocument/2006/relationships/slideLayout" Target="/ppt/slideLayouts/slideLayout7.xml" Id="R6177de7db0b24a26" /><Relationship Type="http://schemas.openxmlformats.org/officeDocument/2006/relationships/slideLayout" Target="/ppt/slideLayouts/slideLayout8.xml" Id="Rf132d0e82c33489e" /><Relationship Type="http://schemas.openxmlformats.org/officeDocument/2006/relationships/slideLayout" Target="/ppt/slideLayouts/slideLayout9.xml" Id="Rb0d8208cee874884" /><Relationship Type="http://schemas.openxmlformats.org/officeDocument/2006/relationships/slideLayout" Target="/ppt/slideLayouts/slideLayout10.xml" Id="R8c72d120fffc45ff" /><Relationship Type="http://schemas.openxmlformats.org/officeDocument/2006/relationships/slideLayout" Target="/ppt/slideLayouts/slideLayout11.xml" Id="R96a89526d5e144cc" /><Relationship Type="http://schemas.openxmlformats.org/officeDocument/2006/relationships/slideLayout" Target="/ppt/slideLayouts/slideLayout12.xml" Id="R78fdd8cf71a74373" /><Relationship Type="http://schemas.openxmlformats.org/officeDocument/2006/relationships/slideLayout" Target="/ppt/slideLayouts/slideLayout13.xml" Id="R9d1906bb6c294300" /><Relationship Type="http://schemas.openxmlformats.org/officeDocument/2006/relationships/slideLayout" Target="/ppt/slideLayouts/slideLayout14.xml" Id="R90c96f494ac94746" /><Relationship Type="http://schemas.openxmlformats.org/officeDocument/2006/relationships/slideLayout" Target="/ppt/slideLayouts/slideLayout15.xml" Id="R4964377725fa4e34" /><Relationship Type="http://schemas.openxmlformats.org/officeDocument/2006/relationships/slideLayout" Target="/ppt/slideLayouts/slideLayout16.xml" Id="R85338a4a0d8b40be" /><Relationship Type="http://schemas.openxmlformats.org/officeDocument/2006/relationships/slideLayout" Target="/ppt/slideLayouts/slideLayout17.xml" Id="Rf7672b1963c44bea" /><Relationship Type="http://schemas.openxmlformats.org/officeDocument/2006/relationships/slideLayout" Target="/ppt/slideLayouts/slideLayout18.xml" Id="R1b23d7eccabf4f47" /><Relationship Type="http://schemas.openxmlformats.org/officeDocument/2006/relationships/slideLayout" Target="/ppt/slideLayouts/slideLayout19.xml" Id="R79f44818a43b43dd" /><Relationship Type="http://schemas.openxmlformats.org/officeDocument/2006/relationships/slideLayout" Target="/ppt/slideLayouts/slideLayout20.xml" Id="R9182c7aa7a784ad6" /><Relationship Type="http://schemas.openxmlformats.org/officeDocument/2006/relationships/slideLayout" Target="/ppt/slideLayouts/slideLayout21.xml" Id="R6070c3146fdc4966" /><Relationship Type="http://schemas.openxmlformats.org/officeDocument/2006/relationships/slideLayout" Target="/ppt/slideLayouts/slideLayout22.xml" Id="R3aa2b72af26f48e6" /><Relationship Type="http://schemas.openxmlformats.org/officeDocument/2006/relationships/slideLayout" Target="/ppt/slideLayouts/slideLayout23.xml" Id="Rd130312588a5491a" /></Relationships>
</file>

<file path=ppt/slideMasters/slideMaster1.xml><?xml version="1.0" encoding="utf-8"?>
<p:sldMaster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e66ddf843474241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Заголовок 1">
            <a:extLst xmlns:a="http://schemas.openxmlformats.org/drawingml/2006/main">
              <a:ext uri="{FF2B5EF4-FFF2-40B4-BE49-F238E27FC236}">
                <a16:creationId xmlns:a16="http://schemas.microsoft.com/office/drawing/2014/main" id="{F2BCE23A-38F1-44E4-8D99-E9CD24A3AF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46075" y="421226"/>
            <a:ext cx="9862734" cy="3761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b">
            <a:noAutofit/>
          </a:bodyPr>
          <a:lstStyle xmlns:a="http://schemas.openxmlformats.org/drawingml/2006/main"/>
          <a:p xmlns:a="http://schemas.openxmlformats.org/drawingml/2006/main">
            <a:r>
              <a:t>ОБРАЗЕЦ ЗАГОЛОВКА</a:t>
            </a: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36EAD268-7E0C-4473-BF2C-A75921B98BC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15392" y="1016177"/>
            <a:ext cx="11561229" cy="516079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Образец текста</a:t>
            </a:r>
          </a:p>
          <a:p xmlns:a="http://schemas.openxmlformats.org/drawingml/2006/main">
            <a:pPr lvl="1">
              <a:buNone/>
            </a:pPr>
            <a:r>
              <a:t>Второй уровень</a:t>
            </a:r>
          </a:p>
          <a:p xmlns:a="http://schemas.openxmlformats.org/drawingml/2006/main">
            <a:pPr lvl="2">
              <a:buNone/>
            </a:pPr>
            <a:r>
              <a:t>Третий уровень</a:t>
            </a:r>
          </a:p>
          <a:p xmlns:a="http://schemas.openxmlformats.org/drawingml/2006/main">
            <a:pPr lvl="3">
              <a:buNone/>
            </a:pPr>
            <a:r>
              <a:t>Четвертый уровень</a:t>
            </a:r>
          </a:p>
          <a:p xmlns:a="http://schemas.openxmlformats.org/drawingml/2006/main">
            <a:pPr lvl="4">
              <a:buNone/>
            </a:pPr>
            <a:r>
              <a:t>Пятый уровень</a:t>
            </a:r>
          </a:p>
        </p:txBody>
      </p:sp>
      <p:sp>
        <p:nvSpPr>
          <p:cNvPr id="4" name="Дата 3">
            <a:extLst xmlns:a="http://schemas.openxmlformats.org/drawingml/2006/main">
              <a:ext uri="{FF2B5EF4-FFF2-40B4-BE49-F238E27FC236}">
                <a16:creationId xmlns:a16="http://schemas.microsoft.com/office/drawing/2014/main" id="{D905FB47-C828-44E8-81A6-7D70F28691C7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306390" y="6356362"/>
            <a:ext cx="1047663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9D490EE5-ED7D-46E8-8345-A78A0CB0F4A4}" type="datetime1">
              <a:t>14.09.2026</a:t>
            </a:fld>
            <a:endParaRPr/>
          </a:p>
        </p:txBody>
      </p:sp>
      <p:sp>
        <p:nvSpPr>
          <p:cNvPr id="5" name="Нижний колонтитул 4">
            <a:extLst xmlns:a="http://schemas.openxmlformats.org/drawingml/2006/main">
              <a:ext uri="{FF2B5EF4-FFF2-40B4-BE49-F238E27FC236}">
                <a16:creationId xmlns:a16="http://schemas.microsoft.com/office/drawing/2014/main" id="{738C8EAA-BD95-4729-8C84-AB6D45F44AA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1459571" y="6356362"/>
            <a:ext cx="957478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76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15" name="Номер слайда 5">
            <a:extLst xmlns:a="http://schemas.openxmlformats.org/drawingml/2006/main">
              <a:ext uri="{FF2B5EF4-FFF2-40B4-BE49-F238E27FC236}">
                <a16:creationId xmlns:a16="http://schemas.microsoft.com/office/drawing/2014/main" id="{797EBB71-A16C-4900-8120-78386F05C8E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bg1">
                    <a:lumMod val="95000"/>
                  </a:schemeClr>
                </a:solidFill>
              </a:defRPr>
            </a:lvl1pPr>
          </a:lstStyle>
          <a:p xmlns:a="http://schemas.openxmlformats.org/drawingml/2006/main">
            <a:fld id="{52DCC5B9-D646-4B76-891F-6FF4E74E9CB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f660c448ef4967"/>
    <p:sldLayoutId xmlns:r="http://schemas.openxmlformats.org/officeDocument/2006/relationships" id="2147483650" r:id="R3e782a91601e48b0"/>
    <p:sldLayoutId xmlns:r="http://schemas.openxmlformats.org/officeDocument/2006/relationships" id="2147483651" r:id="R244aac5acde04ab4"/>
    <p:sldLayoutId xmlns:r="http://schemas.openxmlformats.org/officeDocument/2006/relationships" id="2147483652" r:id="R1545b8e959d64dcf"/>
    <p:sldLayoutId xmlns:r="http://schemas.openxmlformats.org/officeDocument/2006/relationships" id="2147483653" r:id="R0e923d53d2844a9f"/>
    <p:sldLayoutId xmlns:r="http://schemas.openxmlformats.org/officeDocument/2006/relationships" id="2147483654" r:id="Rd7fbb6258e9347a7"/>
    <p:sldLayoutId xmlns:r="http://schemas.openxmlformats.org/officeDocument/2006/relationships" id="2147483655" r:id="R6177de7db0b24a26"/>
    <p:sldLayoutId xmlns:r="http://schemas.openxmlformats.org/officeDocument/2006/relationships" id="2147483656" r:id="Rf132d0e82c33489e"/>
    <p:sldLayoutId xmlns:r="http://schemas.openxmlformats.org/officeDocument/2006/relationships" id="2147483657" r:id="Rb0d8208cee874884"/>
    <p:sldLayoutId xmlns:r="http://schemas.openxmlformats.org/officeDocument/2006/relationships" id="2147483658" r:id="R8c72d120fffc45ff"/>
    <p:sldLayoutId xmlns:r="http://schemas.openxmlformats.org/officeDocument/2006/relationships" id="2147483659" r:id="R96a89526d5e144cc"/>
    <p:sldLayoutId xmlns:r="http://schemas.openxmlformats.org/officeDocument/2006/relationships" id="2147483660" r:id="R78fdd8cf71a74373"/>
    <p:sldLayoutId xmlns:r="http://schemas.openxmlformats.org/officeDocument/2006/relationships" id="2147483661" r:id="R9d1906bb6c294300"/>
    <p:sldLayoutId xmlns:r="http://schemas.openxmlformats.org/officeDocument/2006/relationships" id="2147483662" r:id="R90c96f494ac94746"/>
    <p:sldLayoutId xmlns:r="http://schemas.openxmlformats.org/officeDocument/2006/relationships" id="2147483663" r:id="R4964377725fa4e34"/>
    <p:sldLayoutId xmlns:r="http://schemas.openxmlformats.org/officeDocument/2006/relationships" id="2147483664" r:id="R85338a4a0d8b40be"/>
    <p:sldLayoutId xmlns:r="http://schemas.openxmlformats.org/officeDocument/2006/relationships" id="2147483665" r:id="Rf7672b1963c44bea"/>
    <p:sldLayoutId xmlns:r="http://schemas.openxmlformats.org/officeDocument/2006/relationships" id="2147483666" r:id="R1b23d7eccabf4f47"/>
    <p:sldLayoutId xmlns:r="http://schemas.openxmlformats.org/officeDocument/2006/relationships" id="2147483667" r:id="R79f44818a43b43dd"/>
    <p:sldLayoutId xmlns:r="http://schemas.openxmlformats.org/officeDocument/2006/relationships" id="2147483668" r:id="R9182c7aa7a784ad6"/>
    <p:sldLayoutId xmlns:r="http://schemas.openxmlformats.org/officeDocument/2006/relationships" id="2147483669" r:id="R6070c3146fdc4966"/>
    <p:sldLayoutId xmlns:r="http://schemas.openxmlformats.org/officeDocument/2006/relationships" id="2147483670" r:id="R3aa2b72af26f48e6"/>
    <p:sldLayoutId xmlns:r="http://schemas.openxmlformats.org/officeDocument/2006/relationships" id="2147483671" r:id="Rd130312588a5491a"/>
  </p:sldLayoutIdLst>
  <p:hf hdr="0" ftr="0" dt="0"/>
  <p:txStyles>
    <p:titleStyle>
      <a:lvl1pPr xmlns:a="http://schemas.openxmlformats.org/drawingml/2006/main" algn="l" defTabSz="578755">
        <a:lnSpc>
          <a:spcPct val="90000"/>
        </a:lnSpc>
        <a:spcBef>
          <a:spcPct val="0"/>
        </a:spcBef>
        <a:buNone/>
        <a:defRPr sz="1997" b="1" kern="1200">
          <a:solidFill>
            <a:schemeClr val="bg1">
              <a:lumMod val="95000"/>
            </a:schemeClr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44688" indent="-144688" algn="l" defTabSz="578755">
        <a:lnSpc>
          <a:spcPct val="90000"/>
        </a:lnSpc>
        <a:spcBef>
          <a:spcPts val="631"/>
        </a:spcBef>
        <a:buFont typeface="Arial"/>
        <a:buChar char="•"/>
        <a:defRPr sz="1452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434067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271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72344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9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01282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1302200" indent="-144688" algn="l" defTabSz="578755">
        <a:lnSpc>
          <a:spcPct val="90000"/>
        </a:lnSpc>
        <a:spcBef>
          <a:spcPts val="317"/>
        </a:spcBef>
        <a:buFont typeface="Arial"/>
        <a:buChar char="•"/>
        <a:defRPr sz="907" kern="1200">
          <a:solidFill>
            <a:schemeClr val="bg1">
              <a:lumMod val="9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1591576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880955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170334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459712" indent="-144688" algn="l" defTabSz="578755">
        <a:lnSpc>
          <a:spcPct val="90000"/>
        </a:lnSpc>
        <a:spcBef>
          <a:spcPts val="317"/>
        </a:spcBef>
        <a:buFont typeface="Arial"/>
        <a:buChar char="•"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289378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578755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868132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157510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446887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1736266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025644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315021" algn="l" defTabSz="578755">
        <a:buNone/>
        <a:defRPr sz="1141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9" orient="horz" pos="4156">
          <p15:clr>
            <a:srgbClr xmlns:a="http://schemas.openxmlformats.org/drawingml/2006/main" val="F26B43"/>
          </p15:clr>
        </p15:guide>
        <p15:guide id="20" orient="horz" pos="482">
          <p15:clr>
            <a:srgbClr xmlns:a="http://schemas.openxmlformats.org/drawingml/2006/main" val="F26B43"/>
          </p15:clr>
        </p15:guide>
        <p15:guide id="21" pos="218">
          <p15:clr>
            <a:srgbClr xmlns:a="http://schemas.openxmlformats.org/drawingml/2006/main" val="F26B43"/>
          </p15:clr>
        </p15:guide>
        <p15:guide id="22" pos="7469">
          <p15:clr>
            <a:srgbClr xmlns:a="http://schemas.openxmlformats.org/drawingml/2006/main" val="F26B43"/>
          </p15:clr>
        </p15:guide>
        <p15:guide id="23" orient="horz" pos="249">
          <p15:clr>
            <a:srgbClr xmlns:a="http://schemas.openxmlformats.org/drawingml/2006/main" val="F26B43"/>
          </p15:clr>
        </p15:guide>
        <p15:guide id="24" orient="horz" pos="4042">
          <p15:clr>
            <a:srgbClr xmlns:a="http://schemas.openxmlformats.org/drawingml/2006/main" val="F26B43"/>
          </p15:clr>
        </p15:guide>
        <p15:guide id="25" orient="horz" pos="3906">
          <p15:clr>
            <a:srgbClr xmlns:a="http://schemas.openxmlformats.org/drawingml/2006/main" val="F26B43"/>
          </p15:clr>
        </p15:guide>
        <p15:guide id="26" orient="horz" pos="640">
          <p15:clr>
            <a:srgbClr xmlns:a="http://schemas.openxmlformats.org/drawingml/2006/main" val="F26B43"/>
          </p15:clr>
        </p15:guide>
        <p15:guide id="27" pos="3840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6fb57f90464923" /><Relationship Type="http://schemas.openxmlformats.org/officeDocument/2006/relationships/notesSlide" Target="/ppt/notesSlides/notesSlide1.xml" Id="R04ec149148e84f2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afbae41da98541b6" /><Relationship Type="http://schemas.openxmlformats.org/officeDocument/2006/relationships/image" Target="/ppt/media/image3.png" Id="R6a90e894267745af" /><Relationship Type="http://schemas.openxmlformats.org/officeDocument/2006/relationships/notesSlide" Target="/ppt/notesSlides/notesSlide2.xml" Id="R3e7d221b69ad49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e044e7f1057f4783" /><Relationship Type="http://schemas.openxmlformats.org/officeDocument/2006/relationships/image" Target="/ppt/media/image3.png" Id="Re9d1270ef83f4a30" /><Relationship Type="http://schemas.openxmlformats.org/officeDocument/2006/relationships/notesSlide" Target="/ppt/notesSlides/notesSlide3.xml" Id="Rdac43b075d6b43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374f182136643fc" /><Relationship Type="http://schemas.openxmlformats.org/officeDocument/2006/relationships/image" Target="/ppt/media/image3.png" Id="R76746dc4b196410a" /><Relationship Type="http://schemas.openxmlformats.org/officeDocument/2006/relationships/chart" Target="/ppt/slides/charts/chart1.xml" Id="R028f9561a26e4a27" /><Relationship Type="http://schemas.openxmlformats.org/officeDocument/2006/relationships/notesSlide" Target="/ppt/notesSlides/notesSlide4.xml" Id="Rae9c324ea7e547c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931b2d6d9d9349c9" /><Relationship Type="http://schemas.openxmlformats.org/officeDocument/2006/relationships/image" Target="/ppt/media/image3.png" Id="R4591635d442c4462" /><Relationship Type="http://schemas.openxmlformats.org/officeDocument/2006/relationships/notesSlide" Target="/ppt/notesSlides/notesSlide5.xml" Id="Red72fc8e57c1436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6a9019c55b74325" /><Relationship Type="http://schemas.openxmlformats.org/officeDocument/2006/relationships/image" Target="/ppt/media/image3.png" Id="R873b769ad31349ca" /><Relationship Type="http://schemas.openxmlformats.org/officeDocument/2006/relationships/notesSlide" Target="/ppt/notesSlides/notesSlide6.xml" Id="R5af2f0c0953b4a4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784c99d2b942b2" /><Relationship Type="http://schemas.openxmlformats.org/officeDocument/2006/relationships/notesSlide" Target="/ppt/notesSlides/notesSlide7.xml" Id="Re24398a8c55045c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190831d5b7b4dea" /><Relationship Type="http://schemas.openxmlformats.org/officeDocument/2006/relationships/image" Target="/ppt/media/image4.png" Id="Rda6d24db078a4c47" /><Relationship Type="http://schemas.openxmlformats.org/officeDocument/2006/relationships/notesSlide" Target="/ppt/notesSlides/notesSlide8.xml" Id="R111eac9e44ec41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2dd518afc8a4eb7" /><Relationship Type="http://schemas.openxmlformats.org/officeDocument/2006/relationships/image" Target="/ppt/media/image.png" Id="Re932d072abf14c3d" /><Relationship Type="http://schemas.openxmlformats.org/officeDocument/2006/relationships/image" Target="/ppt/media/image.jpeg" Id="R3f895817597c4f12" /><Relationship Type="http://schemas.openxmlformats.org/officeDocument/2006/relationships/image" Target="/ppt/media/image2.jpeg" Id="R53020b3ed62943bf" /><Relationship Type="http://schemas.openxmlformats.org/officeDocument/2006/relationships/image" Target="/ppt/media/image3.jpeg" Id="Rf7f043f0fee64f75" /><Relationship Type="http://schemas.openxmlformats.org/officeDocument/2006/relationships/notesSlide" Target="/ppt/notesSlides/notesSlide9.xml" Id="R10bec62e41fe4e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b120f8855af4bb6" /><Relationship Type="http://schemas.openxmlformats.org/officeDocument/2006/relationships/image" Target="/ppt/media/image3.png" Id="R1f63286ec84248ac" /><Relationship Type="http://schemas.openxmlformats.org/officeDocument/2006/relationships/notesSlide" Target="/ppt/notesSlides/notesSlide10.xml" Id="Reeba995101d14d7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7836621c2d8046c4" /><Relationship Type="http://schemas.openxmlformats.org/officeDocument/2006/relationships/image" Target="/ppt/media/image.png" Id="Re66dbd52063d4d05" /><Relationship Type="http://schemas.openxmlformats.org/officeDocument/2006/relationships/notesSlide" Target="/ppt/notesSlides/notesSlide11.xml" Id="Rc6b3f4a1c813436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459a0948fba4821" /><Relationship Type="http://schemas.openxmlformats.org/officeDocument/2006/relationships/image" Target="/ppt/media/image3.png" Id="R891f19808611482b" /><Relationship Type="http://schemas.openxmlformats.org/officeDocument/2006/relationships/chart" Target="/ppt/slides/charts/chart2.xml" Id="R161aaedb4bf4424a" /><Relationship Type="http://schemas.openxmlformats.org/officeDocument/2006/relationships/notesSlide" Target="/ppt/notesSlides/notesSlide12.xml" Id="R6c1496ec98614ab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8b82560490e540b2" /><Relationship Type="http://schemas.openxmlformats.org/officeDocument/2006/relationships/image" Target="/ppt/media/image3.png" Id="R897fac6ca78c42c8" /><Relationship Type="http://schemas.openxmlformats.org/officeDocument/2006/relationships/image" Target="/ppt/media/image5.png" Id="R33736f918d2c4d7e" /><Relationship Type="http://schemas.openxmlformats.org/officeDocument/2006/relationships/image" Target="/ppt/media/image6.png" Id="R317b748ff5434ae0" /><Relationship Type="http://schemas.openxmlformats.org/officeDocument/2006/relationships/notesSlide" Target="/ppt/notesSlides/notesSlide13.xml" Id="R4e71ba33149f4d0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bb4f333c5a5e4599" /><Relationship Type="http://schemas.openxmlformats.org/officeDocument/2006/relationships/image" Target="/ppt/media/image3.png" Id="Rb28d2fbbe73d4bc8" /><Relationship Type="http://schemas.openxmlformats.org/officeDocument/2006/relationships/notesSlide" Target="/ppt/notesSlides/notesSlide14.xml" Id="Rf08e5f04ada1437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1.xml" Id="Rfee6b57eda1c4cbe" /><Relationship Type="http://schemas.openxmlformats.org/officeDocument/2006/relationships/image" Target="/ppt/media/image3.png" Id="R816e990241a3446a" /><Relationship Type="http://schemas.openxmlformats.org/officeDocument/2006/relationships/notesSlide" Target="/ppt/notesSlides/notesSlide15.xml" Id="R0f4dc2381dc74baa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41a89e4f1e4bdc" /><Relationship Type="http://schemas.openxmlformats.org/officeDocument/2006/relationships/notesSlide" Target="/ppt/notesSlides/notesSlide16.xml" Id="Rc52917bb649b47f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Доля тревог, %</c:v>
          </c:tx>
          <c:spPr>
            <a:ln xmlns:a="http://schemas.openxmlformats.org/drawingml/2006/main" w="28575">
              <a:solidFill>
                <a:srgbClr val="FF0051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FF0051"/>
              </a:solidFill>
            </c:spPr>
          </c:marker>
          <c:cat>
            <c:numRef>
              <c:f>'Chart Data'!$A$2:$A$9</c:f>
              <c:numCache>
                <c:formatCode>General</c:formatCode>
                <c:ptCount val="8"/>
                <c:pt idx="0">
                  <c:v>2019</c:v>
                </c:pt>
                <c:pt idx="1">
                  <c:v>2020</c:v>
                </c:pt>
                <c:pt idx="2">
                  <c:v>2021</c:v>
                </c:pt>
                <c:pt idx="3">
                  <c:v>2022</c:v>
                </c:pt>
                <c:pt idx="4">
                  <c:v>2023</c:v>
                </c:pt>
                <c:pt idx="5">
                  <c:v>2024</c:v>
                </c:pt>
                <c:pt idx="6">
                  <c:v>2025</c:v>
                </c:pt>
                <c:pt idx="7">
                  <c:v>2026</c:v>
                </c:pt>
              </c:numCache>
            </c:numRef>
          </c:cat>
          <c:val>
            <c:numRef>
              <c:f>'Chart Data'!$B$2:$B$9</c:f>
              <c:numCache>
                <c:formatCode>0.0</c:formatCode>
                <c:ptCount val="8"/>
                <c:pt idx="0">
                  <c:v>0.639</c:v>
                </c:pt>
                <c:pt idx="1">
                  <c:v>1.156</c:v>
                </c:pt>
                <c:pt idx="2">
                  <c:v>2.234</c:v>
                </c:pt>
                <c:pt idx="3">
                  <c:v>0.307</c:v>
                </c:pt>
                <c:pt idx="4">
                  <c:v>0.337</c:v>
                </c:pt>
                <c:pt idx="5">
                  <c:v>0.235</c:v>
                </c:pt>
                <c:pt idx="6">
                  <c:v>0.462</c:v>
                </c:pt>
                <c:pt idx="7">
                  <c:v>0.637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1E1A2B"/>
                  </a:solidFill>
                  <a:latin typeface="Montserrat"/>
                  <a:ea typeface="Montserrat"/>
                  <a:cs typeface="Montserra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ROC-AUC</c:v>
          </c:tx>
          <c:spPr>
            <a:solidFill xmlns:a="http://schemas.openxmlformats.org/drawingml/2006/main">
              <a:srgbClr val="5B0A83"/>
            </a:solidFill>
          </c:spPr>
          <c:cat>
            <c:strRef>
              <c:f>'Chart Data'!$A$2:$A$4</c:f>
              <c:strCache>
                <c:ptCount val="3"/>
                <c:pt idx="0">
                  <c:v>train</c:v>
                </c:pt>
                <c:pt idx="1">
                  <c:v>valid</c:v>
                </c:pt>
                <c:pt idx="2">
                  <c:v>test</c:v>
                </c:pt>
              </c:strCache>
            </c:strRef>
          </c:cat>
          <c:val>
            <c:numRef>
              <c:f>'Chart Data'!$B$2:$B$4</c:f>
              <c:numCache>
                <c:formatCode>0.0</c:formatCode>
                <c:ptCount val="3"/>
                <c:pt idx="0">
                  <c:v>0.936</c:v>
                </c:pt>
                <c:pt idx="1">
                  <c:v>0.748</c:v>
                </c:pt>
                <c:pt idx="2">
                  <c:v>0.702</c:v>
                </c:pt>
              </c:numCache>
            </c:numRef>
          </c:val>
        </c:ser>
        <c:ser>
          <c:idx val="1"/>
          <c:order val="1"/>
          <c:tx>
            <c:v>PR-AUC</c:v>
          </c:tx>
          <c:spPr>
            <a:solidFill xmlns:a="http://schemas.openxmlformats.org/drawingml/2006/main">
              <a:srgbClr val="FF0051"/>
            </a:solidFill>
          </c:spPr>
          <c:cat>
            <c:strRef>
              <c:f>'Chart Data'!$C$2:$C$4</c:f>
              <c:strCache>
                <c:ptCount val="3"/>
                <c:pt idx="0">
                  <c:v>train</c:v>
                </c:pt>
                <c:pt idx="1">
                  <c:v>valid</c:v>
                </c:pt>
                <c:pt idx="2">
                  <c:v>test</c:v>
                </c:pt>
              </c:strCache>
            </c:strRef>
          </c:cat>
          <c:val>
            <c:numRef>
              <c:f>'Chart Data'!$D$2:$D$4</c:f>
              <c:numCache>
                <c:formatCode>0.0</c:formatCode>
                <c:ptCount val="3"/>
                <c:pt idx="0">
                  <c:v>0.1</c:v>
                </c:pt>
                <c:pt idx="1">
                  <c:v>0.07</c:v>
                </c:pt>
                <c:pt idx="2">
                  <c:v>0.063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750">
                  <a:solidFill>
                    <a:srgbClr val="1E1A2B"/>
                  </a:solidFill>
                  <a:latin typeface="Montserrat"/>
                  <a:ea typeface="Montserrat"/>
                  <a:cs typeface="Montserrat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72768"/>
      </c:catAx>
      <c:valAx>
        <c:axId val="48672768"/>
        <c:scaling>
          <c:orientation val="minMax"/>
          <c:min val="0"/>
        </c:scaling>
        <c:delete val="0"/>
        <c:axPos val="l"/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Montserrat"/>
                <a:ea typeface="Montserrat"/>
                <a:cs typeface="Montserrat"/>
              </a:defRPr>
            </a:pPr>
          </a:p>
        </c:txPr>
        <c:crossAx val="48650112"/>
        <c:crossBetween val="between"/>
      </c:valAx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825">
              <a:solidFill>
                <a:srgbClr val="1E1A2B"/>
              </a:solidFill>
              <a:latin typeface="Montserrat"/>
              <a:ea typeface="Montserrat"/>
              <a:cs typeface="Montserrat"/>
            </a:defRPr>
          </a:pPr>
        </a:p>
      </c:txPr>
    </c:legend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8288" indent="0">
              <a:buNone/>
            </a:pPr>
            <a:endParaRPr sz="4800"/>
          </a:p>
        </p:txBody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305186" y="329801"/>
            <a:ext cx="5193299" cy="1082589"/>
          </a:xfrm>
        </p:spPr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indent="268288">
              <a:buNone/>
            </a:pPr>
            <a:endParaRPr/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77EDC-49D4-4062-9CA4-C6A465E54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952625"/>
            <a:ext cx="7334250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390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AS</a:t>
            </a:r>
          </a:p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390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Коллектор Контроль риска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079A9D-63F8-4A59-AD40-0E6980079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714750"/>
            <a:ext cx="8191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F4EAFB"/>
                </a:solidFill>
                <a:latin typeface="Montserrat"/>
                <a:ea typeface="Montserrat"/>
                <a:cs typeface="Montserrat"/>
              </a:defRPr>
            </a:pPr>
            <a:r>
              <a:rPr sz="1650" b="0">
                <a:solidFill>
                  <a:srgbClr val="F4EAFB"/>
                </a:solidFill>
                <a:latin typeface="Montserrat"/>
                <a:ea typeface="Montserrat"/>
                <a:cs typeface="Montserrat"/>
              </a:rPr>
              <a:t>Прогнозирование тревожных кластеров и приоритизация ремонтных действий инженерных коллекторов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2E31BB-95DC-4223-BFD4-2EA982C78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29300"/>
            <a:ext cx="685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ЛЦТ 2026 · Кейс 08 · ЖКХ · АО «Москоллектор»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6a90e894267745af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7BA813-4261-49C4-8650-40E3E7F6D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ЗАДАЧА И БОЛЬ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A23418-7940-41D1-AE6C-8E0808625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Существующий мониторинг реагирует на тревоги после факта и создает нагрузку на диспетчеров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8E0C362-DEC4-429D-9C99-8A8314986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23336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C1BD1F-FB4A-4930-B5A1-4AB6D472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33550"/>
            <a:ext cx="19526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825 км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9EBBD0-E495-43D8-94E4-08A301560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71700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411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инженерных коллекторов в эксплуатации АО «Москоллектор»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E788B3-FC7C-4921-8DDE-8AB7ED99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571625"/>
            <a:ext cx="2524125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3202E1-3A6F-43DC-9BA7-D9E241A57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733550"/>
            <a:ext cx="2143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19,7 тыс. км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92FC947-1E45-4E5D-AA3A-AE02F9794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171700"/>
            <a:ext cx="21431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кабелей связи, размещенных в инфраструктуре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D206E11-D66D-41C2-B8CB-93099EDCC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71625"/>
            <a:ext cx="21907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6DF99C-592F-4577-9EFB-EAE8A5E4A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33550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8,3 тыс. км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856354A-1740-4695-B636-B60556F78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силовых кабелей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587088-2941-4B3C-B298-76429677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71625"/>
            <a:ext cx="2381250" cy="1123950"/>
          </a:xfrm>
          <a:prstGeom xmlns:a="http://schemas.openxmlformats.org/drawingml/2006/main" prst="roundRect">
            <a:avLst>
              <a:gd name="adj" fmla="val 1525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F2CB50C-47E4-4167-9724-D1C46F2E0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733550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1,9 тыс. км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6CCE0D4-A23A-442E-B024-4694F44F7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717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332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тепловых и водопроводных сетей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40CB432-D9C8-4743-8A9B-E078C3A26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38500"/>
            <a:ext cx="48577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4711C86-884A-42C6-896C-141216830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409950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Операционная проблема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D258693-872B-4939-B48A-E29B6D45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29050"/>
            <a:ext cx="4438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Диспетчер получает поток тревог и должен быстро отделять риск от ложного срабатывания. Регламентное обслуживание не учитывает фактическое поведение датчика.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651C7EE-2190-4200-B652-C6A31487F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238500"/>
            <a:ext cx="4857750" cy="1809750"/>
          </a:xfrm>
          <a:prstGeom xmlns:a="http://schemas.openxmlformats.org/drawingml/2006/main" prst="roundRect">
            <a:avLst>
              <a:gd name="adj" fmla="val 947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9DE832B-0FCA-4766-A6C9-97EFD6638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09950"/>
            <a:ext cx="44386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Что требуется заказчику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82B32F1-D640-4E45-81D1-3E2FADB52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29050"/>
            <a:ext cx="44386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Веб-сервис должен заранее ранжировать объекты риска, объяснять вклад признаков и помогать оформить превентивную заявку.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50B369-DD97-4275-A1AF-DD82EA87A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56D80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756D80"/>
                </a:solidFill>
                <a:latin typeface="Montserrat"/>
                <a:ea typeface="Montserrat"/>
                <a:cs typeface="Montserrat"/>
              </a:rPr>
              <a:t>Факты инфраструктуры и требования взяты из кейса 08 ДЖКХ.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9d1270ef83f4a30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7F9661E-97FD-44FE-B128-66C7A6B86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ИДЕЯ РЕШЕНИЯ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8F8264-E886-49C2-B4FC-4923FFE18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MVP строит очередь риска по каналам и объектам на горизонте 24 часа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4FB385F-BCBC-435E-A61C-3DD3AA6B4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24000"/>
            <a:ext cx="476250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9FDD6A1-0FF6-480E-A43F-F1D0F2FF7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954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Скоринг риска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32F357-3260-4122-9AB9-B5A6870A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14550"/>
            <a:ext cx="4343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Оцениваем вероятность тревожного события или тревожного кластера на следующий день.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2C6AB3D-4A7B-48B4-B91B-F4FF4637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524000"/>
            <a:ext cx="476250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A704F4B-898D-408C-BFC0-49BD1AE2E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169545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Объяснение прогноза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3657B26-3CE0-4470-BDA8-DB1734335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114550"/>
            <a:ext cx="4343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Показываем признаки, которые подняли риск: тип датчика, недавние тревоги, объект, сезонность.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22FB3AE-426C-4CE4-AF8A-F080C9D4E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524250"/>
            <a:ext cx="476250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D94731-04A2-453F-A2BE-CD3B2F99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957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Диспетчерская очередь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76C88F-DD90-45E0-A1FA-E5504BE83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14800"/>
            <a:ext cx="4343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Сортируем каналы по приоритету и отделяем текущую тревогу от прогноза будущего риска.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122534-7E1F-47F1-ADEA-8BB82674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3524250"/>
            <a:ext cx="4762500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380D6DC-7758-469A-9B5D-4A5F7E64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695700"/>
            <a:ext cx="4343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Черновик заявки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B6AD19A-8083-4D6A-B9C2-D129DDD73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114800"/>
            <a:ext cx="43434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Формируем основание для превентивной проверки с комментарием диспетчера.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8D62F0D-82E4-43A3-9A15-614DD37CE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56D80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756D80"/>
                </a:solidFill>
                <a:latin typeface="Montserrat"/>
                <a:ea typeface="Montserrat"/>
                <a:cs typeface="Montserrat"/>
              </a:rPr>
              <a:t>Target: proxy-risk по признаку «тревожное», без утверждения о подтвержденной аварии.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76746dc4b196410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8596C4-1914-4E0B-A3FD-CBE1708C9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ДАННЫЕ И МАСШТАБ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24D6773-5C0D-49F1-B51D-D816D855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EDA обработал годовые архивы журналов СМВУ за 2019-2026 годы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128D0D-59B6-40A3-9FA1-3CC23AE89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23812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2EC301B-883E-4D7B-9AAE-59591A247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90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2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313,5 млн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D3BED62-BB4B-4910-A897-3E0CDFF50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288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строк журналов событий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CACDF29-6E3D-4DC6-9551-D9A78EA9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428750"/>
            <a:ext cx="23812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3AC532-B5DB-4E35-82F9-974AA806F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590675"/>
            <a:ext cx="2000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0051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250" b="1">
                <a:solidFill>
                  <a:srgbClr val="FF0051"/>
                </a:solidFill>
                <a:latin typeface="Montserrat Medium"/>
                <a:ea typeface="Montserrat Medium"/>
                <a:cs typeface="Montserrat Medium"/>
              </a:rPr>
              <a:t>2,47 млн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8A9708-E3BF-4095-B5C0-8DA7B76A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28825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тревожных событий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B5047F4-363F-4EE6-91CD-3DF51E759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428750"/>
            <a:ext cx="21907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F76BFA-4E14-4D1E-816E-541C47011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906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8B8B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250" b="1">
                <a:solidFill>
                  <a:srgbClr val="168B8B"/>
                </a:solidFill>
                <a:latin typeface="Montserrat Medium"/>
                <a:ea typeface="Montserrat Medium"/>
                <a:cs typeface="Montserrat Medium"/>
              </a:rPr>
              <a:t>12 628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A06D98A-ECEF-48F2-8514-56E6778D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288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каналов в журналах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C265FDF-7614-42F3-8138-D729475C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1428750"/>
            <a:ext cx="2190750" cy="1047750"/>
          </a:xfrm>
          <a:prstGeom xmlns:a="http://schemas.openxmlformats.org/drawingml/2006/main" prst="roundRect">
            <a:avLst>
              <a:gd name="adj" fmla="val 1636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9A391B1-E1EB-4363-9443-F4E1C1BA9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90675"/>
            <a:ext cx="180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333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168B8B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250" b="1">
                <a:solidFill>
                  <a:srgbClr val="168B8B"/>
                </a:solidFill>
                <a:latin typeface="Montserrat Medium"/>
                <a:ea typeface="Montserrat Medium"/>
                <a:cs typeface="Montserrat Medium"/>
              </a:rPr>
              <a:t>95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39657D6-7BB8-421B-9534-9304F096D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028825"/>
            <a:ext cx="1809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050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объектов в справочнике</a:t>
            </a:r>
          </a:p>
        </p:txBody>
      </p:sp>
      <p:graphicFrame>
        <p:nvGraphicFramePr>
          <p:cNvPr id="75" name="Chart"/>
          <p:cNvGraphicFramePr/>
          <p:nvPr/>
        </p:nvGraphicFramePr>
        <p:xfrm>
          <a:off xmlns:a="http://schemas.openxmlformats.org/drawingml/2006/main" x="819150" y="3000375"/>
          <a:ext xmlns:a="http://schemas.openxmlformats.org/drawingml/2006/main" cx="981075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28f9561a26e4a27"/>
          </a:graphicData>
        </a:graphic>
      </p:graphicFrame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D037DE-C985-41C8-BFA5-A91D54A85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56D80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756D80"/>
                </a:solidFill>
                <a:latin typeface="Montserrat"/>
                <a:ea typeface="Montserrat"/>
                <a:cs typeface="Montserrat"/>
              </a:rPr>
              <a:t>2026 содержит данные до 30 июня. Пик 2021 требует отдельной обработки при обучении модели.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4591635d442c4462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DE1845B-E2ED-4B8F-8618-E2AA9C211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ВЫВОДЫ EDA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ABD665-CE92-4B8A-8D45-36B492A03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Данные позволяют строить ранжирование риска, но target требует аккуратной трактовки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4B84D6-CEAD-4613-A9C7-7CA55C8A8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143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3CCD44-BD35-44EF-B75B-C54ADB4DB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2021 год аномален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71F8E1E-AC77-489F-BEC3-27905A4D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193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7047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Доля тревог 2,23%, что в несколько раз выше соседних лет. Валидацию нужно делать во времени.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D23B6B8-B9B7-4EB5-83A0-43BF929BF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428750"/>
            <a:ext cx="3143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DB0E513-3B05-4059-B78C-DDF15A15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6002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312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Газовая охрана доминирует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D6E065-1B7A-42EA-AD51-B54891D1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193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859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71,4% строк, но только 0,024% тревог. Без стратификации модель переучится на нормальный поток.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107294-F742-4BA2-AB0E-FC351CE6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428750"/>
            <a:ext cx="3143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FB98BEB-915D-4D93-856B-A22E323DC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002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Справочник неполный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C7F94AA-7A80-4674-BDA6-1AAC6279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0193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1 143 канала из журналов отсутствуют в справочнике. Их нельзя просто удалить.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3AB74AB-952E-4D68-9F74-2FE9B9AD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24250"/>
            <a:ext cx="3143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A5F02B9-7708-4530-8DAB-BBB9E012C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6957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974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Значение датчика смешанное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C7A7D4-FE56-4023-A784-47C91511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148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В поле есть числа и текстовые состояния: «Неисправен», «Обесточен», «Неопределен».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EA23283-47FC-4559-BBCC-34D882772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24250"/>
            <a:ext cx="3143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71DF479-FCED-4642-AC6A-9AE24EC3D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6957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Сигнал живет в динамике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02F7C2B-4A9C-4398-B876-47DDD32E3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148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06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Простые агрегаты слабо коррелируют с target. Нужны rolling windows и изменение относительно нормы канала.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4B87384-D89E-492A-9700-F3CBCA8A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24250"/>
            <a:ext cx="3143250" cy="1524000"/>
          </a:xfrm>
          <a:prstGeom xmlns:a="http://schemas.openxmlformats.org/drawingml/2006/main" prst="roundRect">
            <a:avLst>
              <a:gd name="adj" fmla="val 1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5881E2E-D282-43A3-B57D-647B01392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695700"/>
            <a:ext cx="27241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Target proxy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FE9A1BD-1321-4ACA-A435-62812BA01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14800"/>
            <a:ext cx="27241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803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Признак «тревожное» отражает событие мониторинга, но не подтвержденную физическую аварию.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6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73b769ad31349c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CE3150-0E61-4B9B-800B-CC9095B99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ML-ПОДХОД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6B3C9B-BADD-40F3-95EA-9C2641908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Первая модель строит дневную витрину по каналу и прогноз на следующие 24 часа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C97E48-945B-4C1F-8E38-D66A9309B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66875"/>
            <a:ext cx="666750" cy="552450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5B0A83"/>
          </a:solidFill>
          <a:ln xmlns:a="http://schemas.openxmlformats.org/drawingml/2006/main" w="0">
            <a:solidFill>
              <a:srgbClr val="5B0A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6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1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49128C-BB79-47F4-A73C-B1AD9FCE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765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Сырые события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2DCBBDE-5DCF-4B58-B5F8-368D1F19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0512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id канала, дата, время, тревожность, значение датчика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3F4585-1076-4022-826F-0065C18B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18097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07AB8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A07AB8"/>
                </a:solidFill>
                <a:latin typeface="Montserrat"/>
                <a:ea typeface="Montserrat"/>
                <a:cs typeface="Montserrat"/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ACE7F7-6CD5-4CA4-AE33-5A58F20F9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666875"/>
            <a:ext cx="666750" cy="552450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5B0A83"/>
          </a:solidFill>
          <a:ln xmlns:a="http://schemas.openxmlformats.org/drawingml/2006/main" w="0">
            <a:solidFill>
              <a:srgbClr val="5B0A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6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BD9C1FA-228A-418A-B252-A135C935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4765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Витрина признаков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4FE9253-5682-4DC8-AA00-3364B3819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290512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дневные окна, rolling 3/7/14 дней, текстовые состояния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B8D785-7535-4648-8677-7B62C9B3D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8097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07AB8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A07AB8"/>
                </a:solidFill>
                <a:latin typeface="Montserrat"/>
                <a:ea typeface="Montserrat"/>
                <a:cs typeface="Montserrat"/>
              </a:rPr>
              <a:t>&gt;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657BBBA-81B6-4C8D-A8AC-BF09EBEAD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66875"/>
            <a:ext cx="666750" cy="552450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6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3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BEF29E-3564-483B-82B1-A4740EFE1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765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LightGBM baseline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1BDED3F-5FFB-40FD-BD89-DB2A03306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0512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категории датчика, объекта и инженерной системы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34A36B3-1E18-4FA8-BBD2-177D3C32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8097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07AB8"/>
                </a:solidFill>
                <a:latin typeface="Montserrat"/>
                <a:ea typeface="Montserrat"/>
                <a:cs typeface="Montserrat"/>
              </a:defRPr>
            </a:pPr>
            <a:r>
              <a:rPr sz="2550" b="1">
                <a:solidFill>
                  <a:srgbClr val="A07AB8"/>
                </a:solidFill>
                <a:latin typeface="Montserrat"/>
                <a:ea typeface="Montserrat"/>
                <a:cs typeface="Montserrat"/>
              </a:rPr>
              <a:t>&gt;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1D5DFB-DF7E-430D-A751-C9B7F17ED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1666875"/>
            <a:ext cx="666750" cy="552450"/>
          </a:xfrm>
          <a:prstGeom xmlns:a="http://schemas.openxmlformats.org/drawingml/2006/main" prst="roundRect">
            <a:avLst>
              <a:gd name="adj" fmla="val 41379"/>
            </a:avLst>
          </a:prstGeom>
          <a:solidFill xmlns:a="http://schemas.openxmlformats.org/drawingml/2006/main">
            <a:srgbClr val="5B0A83"/>
          </a:solidFill>
          <a:ln xmlns:a="http://schemas.openxmlformats.org/drawingml/2006/main" w="0">
            <a:solidFill>
              <a:srgbClr val="5B0A83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6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4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2C2F29D-50CB-43A8-AAF3-C52A95F86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476500"/>
            <a:ext cx="22383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Очередь риска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340CEBA-65DA-4A19-A054-160C21CFF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905125"/>
            <a:ext cx="233362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125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125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score, причины, порог и карточка действия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C6A4BAB-1A11-4ABA-8370-3F3C9127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19625"/>
            <a:ext cx="9715500" cy="952500"/>
          </a:xfrm>
          <a:prstGeom xmlns:a="http://schemas.openxmlformats.org/drawingml/2006/main" prst="roundRect">
            <a:avLst>
              <a:gd name="adj" fmla="val 1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08FE942-33FB-4031-AAE1-F35D71445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91075"/>
            <a:ext cx="929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Выбор target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A75306-CE15-4487-B166-5C11EA6F7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0175"/>
            <a:ext cx="92964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4375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target_alarm_next_24h: будет ли хотя бы одно тревожное событие по каналу в следующие сутки. Это честная proxy-постановка для MVP.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8288" indent="0">
              <a:buNone/>
            </a:pPr>
            <a:r>
              <a:t/>
            </a:r>
            <a:endParaRPr sz="4800"/>
          </a:p>
        </p:txBody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305186" y="329801"/>
            <a:ext cx="5193299" cy="108258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indent="268288">
              <a:buNone/>
            </a:pPr>
            <a:r>
              <a:t/>
            </a:r>
            <a:endParaRPr/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25D6E0-3E2A-4ECE-BF36-C3107ED55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31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КОМАНДА 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C3F2B-819A-48E5-A78A-A5A954684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810125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4EAFB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F4EAFB"/>
                </a:solidFill>
                <a:latin typeface="Montserrat"/>
                <a:ea typeface="Montserrat"/>
                <a:cs typeface="Montserrat"/>
              </a:rPr>
              <a:t>Кейс 08 · Прогнозирование аварий и управление ремонтами инженерных коллекторов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704AAF-E318-4A7C-B16B-58ACF1590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810250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ДЖКХ · АО «Москоллектор»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slides/slide8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da6d24db078a4c47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Прямоугольник 2">
            <a:extLst xmlns:a="http://schemas.openxmlformats.org/drawingml/2006/main">
              <a:ext uri="{FF2B5EF4-FFF2-40B4-BE49-F238E27FC236}">
                <a16:creationId xmlns:a16="http://schemas.microsoft.com/office/drawing/2014/main" id="{13BA75DB-8EAE-769C-2B17-FF7CD6EEF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971800"/>
            <a:ext cx="6456363" cy="388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CEE4">
              <a:alpha val="49804"/>
            </a:srgbClr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/>
          </a:p>
        </p:txBody>
      </p:sp>
      <p:sp>
        <p:nvSpPr>
          <p:cNvPr id="2" name="Рисунок 1">
            <a:extLst xmlns:a="http://schemas.openxmlformats.org/drawingml/2006/main">
              <a:ext uri="{FF2B5EF4-FFF2-40B4-BE49-F238E27FC236}">
                <a16:creationId xmlns:a16="http://schemas.microsoft.com/office/drawing/2014/main" id="{C7F1B208-7478-7BDA-1FDE-22C1555254C4}"/>
              </a:ext>
            </a:extLst>
          </p:cNvPr>
          <p:cNvSpPr>
            <a:spLocks xmlns:a="http://schemas.openxmlformats.org/drawingml/2006/main" noGrp="1"/>
          </p:cNvSpPr>
          <p:nvPr>
            <p:ph type="pic" idx="10"/>
          </p:nvPr>
        </p:nvSpPr>
        <p:spPr>
          <a:xfrm xmlns:a="http://schemas.openxmlformats.org/drawingml/2006/main">
            <a:off x="0" y="335267"/>
            <a:ext cx="6456363" cy="297178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2D7670A-4313-AE7C-DDA9-134ADC224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2303118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8A04531-793D-BF7A-34F3-615C18C06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6606" y="4876070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/>
            </a:r>
          </a:p>
        </p:txBody>
      </p:sp>
      <p:sp>
        <p:nvSpPr>
          <p:cNvPr id="1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66B04C6-E9BA-5BA2-7A5C-84468D491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883009"/>
            <a:ext cx="5629858" cy="239903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chemeClr val="tx1"/>
                </a:solidFill>
              </a:rPr>
              <a:t/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5E7A1E-FFEA-1C2F-65E6-56769FEFB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962" y="348478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18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7CB04CCE-DD7B-2901-A280-8E4E0794513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19903" y="1039236"/>
            <a:ext cx="3636703" cy="10151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 sz="2400">
              <a:solidFill>
                <a:schemeClr val="accent5"/>
              </a:solidFill>
              <a:latin typeface="+mn-lt"/>
              <a:ea typeface="+mn-lt"/>
              <a:cs typeface="+mn-lt"/>
            </a:endParaRPr>
          </a:p>
        </p:txBody>
      </p:sp>
      <p:sp>
        <p:nvSpPr>
          <p:cNvPr id="7" name="Прямая соединительная линия 6">
            <a:extLst xmlns:a="http://schemas.openxmlformats.org/drawingml/2006/main">
              <a:ext uri="{FF2B5EF4-FFF2-40B4-BE49-F238E27FC236}">
                <a16:creationId xmlns:a16="http://schemas.microsoft.com/office/drawing/2014/main" id="{76419C3A-85ED-44C5-A3FC-9D0E0F44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80774" y="2240031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6" name="Прямая соединительная линия 15">
            <a:extLst xmlns:a="http://schemas.openxmlformats.org/drawingml/2006/main">
              <a:ext uri="{FF2B5EF4-FFF2-40B4-BE49-F238E27FC236}">
                <a16:creationId xmlns:a16="http://schemas.microsoft.com/office/drawing/2014/main" id="{53CBFF38-A8C4-4D40-A37B-4A89AEC4C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7347" y="4437879"/>
            <a:ext cx="4884824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7" name="Прямая соединительная линия 16">
            <a:extLst xmlns:a="http://schemas.openxmlformats.org/drawingml/2006/main">
              <a:ext uri="{FF2B5EF4-FFF2-40B4-BE49-F238E27FC236}">
                <a16:creationId xmlns:a16="http://schemas.microsoft.com/office/drawing/2014/main" id="{35315C84-CF4D-495B-99AC-B6A962319B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833" y="3448639"/>
            <a:ext cx="5700167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5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556F1CE-69ED-AE0F-D388-9032B66C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4" y="4541737"/>
            <a:ext cx="4945564" cy="6686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sz="1600"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811D897-A2AE-AA09-747E-1B90C43B5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8027" y="2619903"/>
            <a:ext cx="4945565" cy="89003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Font typeface="Wingdings"/>
              <a:buNone/>
            </a:pPr>
            <a:r>
              <a:rPr>
                <a:solidFill>
                  <a:schemeClr val="tx1"/>
                </a:solidFill>
              </a:rPr>
              <a:t/>
            </a:r>
          </a:p>
        </p:txBody>
      </p:sp>
      <p:sp>
        <p:nvSpPr>
          <p:cNvPr id="10" name="Номер слайда 35">
            <a:extLst xmlns:a="http://schemas.openxmlformats.org/drawingml/2006/main">
              <a:ext uri="{FF2B5EF4-FFF2-40B4-BE49-F238E27FC236}">
                <a16:creationId xmlns:a16="http://schemas.microsoft.com/office/drawing/2014/main" id="{75D9ACE7-3A6B-03B3-9BA4-502350CBA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3507" y="6356358"/>
            <a:ext cx="55911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>
            <a:lvl1pPr marL="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11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220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32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43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5549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2658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199765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6877" algn="l" defTabSz="91422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buNone/>
            </a:pPr>
            <a:fld id="{69ADA83D-DF77-AA76-6DA0-7A70CD7A4D20}" type="slidenum">
              <a:rPr sz="1200">
                <a:solidFill>
                  <a:schemeClr val="accent5"/>
                </a:solidFill>
              </a:rPr>
              <a:t/>
            </a:fld>
            <a:endParaRPr sz="1200">
              <a:solidFill>
                <a:schemeClr val="accent5"/>
              </a:solidFill>
            </a:endParaRP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086CE9-7CAA-4073-B6EB-4C18D52E1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35623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О команде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95A4B6-395F-4115-834C-49E48C0B1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4000500"/>
            <a:ext cx="5476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• Название команды: AS</a:t>
            </a:r>
          </a:p>
          <a:p xmlns:a="http://schemas.openxmlformats.org/drawingml/2006/main">
            <a:pPr>
              <a:def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• Капитан: Анна Разина, ML-инженер</a:t>
            </a:r>
          </a:p>
          <a:p xmlns:a="http://schemas.openxmlformats.org/drawingml/2006/main">
            <a:pPr>
              <a:def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• Кол-во участников: 3 человека</a:t>
            </a:r>
          </a:p>
          <a:p xmlns:a="http://schemas.openxmlformats.org/drawingml/2006/main">
            <a:pPr>
              <a:def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• Краткое описание: команда закрывает ML, веб-разработку и проектную координацию</a:t>
            </a:r>
          </a:p>
          <a:p xmlns:a="http://schemas.openxmlformats.org/drawingml/2006/main">
            <a:pPr>
              <a:def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• Город и регион: Москва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137123-7D89-4788-906D-85019499F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381250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6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Краткое описание решения: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497EEB-CD70-4553-9F6F-6C868F025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2743200"/>
            <a:ext cx="46196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Сервис ранжирует каналы и объекты по риску тревожного события на горизонте 24 часа. Модель использует историю событий, тип датчика, объект и rolling-признаки.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B5E2C12-069A-47EC-8A6A-159BCFD24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619625"/>
            <a:ext cx="461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6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Уникальность решения: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68E400-87F5-448B-B361-1F098CD6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4981575"/>
            <a:ext cx="4619625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Мы явно разделяем proxy-risk и подтвержденную аварию, показываем вклад признаков и добавляем feedback-контур для диспетчера.</a:t>
            </a:r>
          </a:p>
        </p:txBody>
      </p:sp>
    </p:spTree>
    <p:extLst>
      <p:ext uri="{BB962C8B-B14F-4D97-AF65-F5344CB8AC3E}">
        <p14:creationId xmlns:p14="http://schemas.microsoft.com/office/powerpoint/2010/main" val="3539778944"/>
      </p:ext>
    </p:extLst>
  </p:cSld>
</p:sld>
</file>

<file path=ppt/slides/slide9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932d072abf14c3d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Скругленный прямоугольник 55">
            <a:extLst xmlns:a="http://schemas.openxmlformats.org/drawingml/2006/main">
              <a:ext uri="{FF2B5EF4-FFF2-40B4-BE49-F238E27FC236}">
                <a16:creationId xmlns:a16="http://schemas.microsoft.com/office/drawing/2014/main" id="{635392F3-78F4-5585-E25E-CDBEA7E9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394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5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9398668D-F141-1433-7B1B-1518BC470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678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/>
            </a:r>
          </a:p>
        </p:txBody>
      </p:sp>
      <p:sp>
        <p:nvSpPr>
          <p:cNvPr id="5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D1E397B-73F6-7777-9CD1-12E439862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677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59" name="Скругленный прямоугольник 58">
            <a:extLst xmlns:a="http://schemas.openxmlformats.org/drawingml/2006/main">
              <a:ext uri="{FF2B5EF4-FFF2-40B4-BE49-F238E27FC236}">
                <a16:creationId xmlns:a16="http://schemas.microsoft.com/office/drawing/2014/main" id="{0F406257-4D6A-D88A-21D7-91882F262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6712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6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44C1868D-BA5E-04C0-2882-2494450EF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996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/>
            </a:r>
          </a:p>
        </p:txBody>
      </p:sp>
      <p:sp>
        <p:nvSpPr>
          <p:cNvPr id="6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A52C52A-3120-DA42-507D-5AE477E99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8995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62" name="Скругленный прямоугольник 61">
            <a:extLst xmlns:a="http://schemas.openxmlformats.org/drawingml/2006/main">
              <a:ext uri="{FF2B5EF4-FFF2-40B4-BE49-F238E27FC236}">
                <a16:creationId xmlns:a16="http://schemas.microsoft.com/office/drawing/2014/main" id="{D1FBCE3B-1D71-DB46-9E48-C63F3ADD4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2031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6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B4F394B-14E6-36F0-A4B2-EFA5843E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315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/>
            </a:r>
          </a:p>
        </p:txBody>
      </p:sp>
      <p:sp>
        <p:nvSpPr>
          <p:cNvPr id="6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F91B8FA-A68A-4E4D-B286-02AF30BF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4314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65" name="Скругленный прямоугольник 64">
            <a:extLst xmlns:a="http://schemas.openxmlformats.org/drawingml/2006/main">
              <a:ext uri="{FF2B5EF4-FFF2-40B4-BE49-F238E27FC236}">
                <a16:creationId xmlns:a16="http://schemas.microsoft.com/office/drawing/2014/main" id="{603D078F-23CD-0C3A-EF6E-9FA3818E2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7349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66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575DCA32-E606-5EE7-1034-420DB3623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633" y="4250028"/>
            <a:ext cx="1894354" cy="162461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spcBef>
                <a:spcPts val="600"/>
              </a:spcBef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/>
            </a:r>
          </a:p>
        </p:txBody>
      </p:sp>
      <p:sp>
        <p:nvSpPr>
          <p:cNvPr id="6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9E3872F7-FC5C-5043-A741-AF2746714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9632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17" name="Скругленный прямоугольник 16">
            <a:extLst xmlns:a="http://schemas.openxmlformats.org/drawingml/2006/main">
              <a:ext uri="{FF2B5EF4-FFF2-40B4-BE49-F238E27FC236}">
                <a16:creationId xmlns:a16="http://schemas.microsoft.com/office/drawing/2014/main" id="{FC0035EA-559C-020F-D4A8-B4146A26E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522006"/>
            <a:ext cx="2192713" cy="4834352"/>
          </a:xfrm>
          <a:prstGeom xmlns:a="http://schemas.openxmlformats.org/drawingml/2006/main" prst="roundRect">
            <a:avLst>
              <a:gd name="adj" fmla="val 9821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13" name="Скругленный прямоугольник 12">
            <a:extLst xmlns:a="http://schemas.openxmlformats.org/drawingml/2006/main">
              <a:ext uri="{FF2B5EF4-FFF2-40B4-BE49-F238E27FC236}">
                <a16:creationId xmlns:a16="http://schemas.microsoft.com/office/drawing/2014/main" id="{4F9EEB10-D234-64E3-5744-B3981F11A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ADFA4405-6EC1-3A52-92A7-2CA2130BB2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rPr>
                <a:solidFill>
                  <a:schemeClr val="bg1"/>
                </a:solidFill>
              </a:rPr>
              <a:t/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2" name="Рисунок 1">
            <a:extLst xmlns:a="http://schemas.openxmlformats.org/drawingml/2006/main">
              <a:ext uri="{FF2B5EF4-FFF2-40B4-BE49-F238E27FC236}">
                <a16:creationId xmlns:a16="http://schemas.microsoft.com/office/drawing/2014/main" id="{4C94D4FF-301C-477D-8018-73C5CC99D493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581397" y="1816054"/>
            <a:ext cx="1722566" cy="15529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3" name="Рисунок 2">
            <a:extLst xmlns:a="http://schemas.openxmlformats.org/drawingml/2006/main">
              <a:ext uri="{FF2B5EF4-FFF2-40B4-BE49-F238E27FC236}">
                <a16:creationId xmlns:a16="http://schemas.microsoft.com/office/drawing/2014/main" id="{855F75D9-2AE8-476E-3BFF-E3DD59A60081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2886467" y="1826554"/>
            <a:ext cx="1722566" cy="15424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767E99FD-70C0-A2B6-EA8E-C07EBA0B37E0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5191784" y="1809238"/>
            <a:ext cx="1722567" cy="155971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" name="Рисунок 4">
            <a:extLst xmlns:a="http://schemas.openxmlformats.org/drawingml/2006/main">
              <a:ext uri="{FF2B5EF4-FFF2-40B4-BE49-F238E27FC236}">
                <a16:creationId xmlns:a16="http://schemas.microsoft.com/office/drawing/2014/main" id="{D6C4749F-7C67-9CD8-7C7C-023BB23DC622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7520208" y="1809238"/>
            <a:ext cx="1722567" cy="155971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Рисунок 5">
            <a:extLst xmlns:a="http://schemas.openxmlformats.org/drawingml/2006/main">
              <a:ext uri="{FF2B5EF4-FFF2-40B4-BE49-F238E27FC236}">
                <a16:creationId xmlns:a16="http://schemas.microsoft.com/office/drawing/2014/main" id="{B1F74E3B-D178-4815-DD0C-A02592AA14E6}"/>
              </a:ext>
            </a:extLst>
          </p:cNvPr>
          <p:cNvSpPr>
            <a:spLocks xmlns:a="http://schemas.openxmlformats.org/drawingml/2006/main" noGrp="1"/>
          </p:cNvSpPr>
          <p:nvPr>
            <p:ph type="pic" idx="4294967295"/>
          </p:nvPr>
        </p:nvSpPr>
        <p:spPr>
          <a:xfrm xmlns:a="http://schemas.openxmlformats.org/drawingml/2006/main">
            <a:off x="9802422" y="1809238"/>
            <a:ext cx="1722566" cy="155971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A8302BF4-F579-F30C-0D0B-9EC587DE2AD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835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392728C-0D28-63FE-46DB-BBDA5226DAE1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18360" y="4250028"/>
            <a:ext cx="1894354" cy="162461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>
              <a:spcBef>
                <a:spcPts val="600"/>
              </a:spcBef>
              <a:spcAft>
                <a:spcPts val="0"/>
              </a:spcAft>
              <a:buFont typeface="Arial"/>
              <a:buChar char="•"/>
            </a:pPr>
            <a:r>
              <a:rPr sz="1200">
                <a:solidFill>
                  <a:schemeClr val="tx1"/>
                </a:solidFill>
              </a:rPr>
              <a:t/>
            </a:r>
          </a:p>
        </p:txBody>
      </p:sp>
      <p:sp>
        <p:nvSpPr>
          <p:cNvPr id="15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34A1767C-75B2-E3D4-5057-DD85E6AB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359" y="3622118"/>
            <a:ext cx="1722566" cy="62791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buNone/>
            </a:pPr>
            <a:r>
              <a:rPr sz="1600"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AE0B1964-BDEF-4AE9-9581-2165381E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85775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67778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2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КОМАНДА AS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0FA71C5-E20D-41A5-BAB7-C93A13C40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428750"/>
            <a:ext cx="4619625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006E"/>
          </a:solidFill>
          <a:ln xmlns:a="http://schemas.openxmlformats.org/drawingml/2006/main" w="0">
            <a:solidFill>
              <a:srgbClr val="4B006E"/>
            </a:solidFill>
            <a:prstDash val="solid"/>
          </a:ln>
        </p:spPr>
      </p:sp>
      <p:pic>
        <p:nvPicPr>
          <p:cNvPr id="1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895817597c4f12"/>
          <a:srcRect xmlns:a="http://schemas.openxmlformats.org/drawingml/2006/main" l="0" t="16195" r="0" b="1619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406" y="1809750"/>
            <a:ext cx="1722596" cy="1552861"/>
          </a:xfrm>
          <a:prstGeom xmlns:a="http://schemas.openxmlformats.org/drawingml/2006/main" prst="roundRect">
            <a:avLst>
              <a:gd name="adj" fmla="val 7361"/>
            </a:avLst>
          </a:prstGeom>
        </p:spPr>
      </p:pic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6F5E3DF4-F0CF-40BA-A767-DC78CFBD7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3695700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62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42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Александр Разин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7E902CC-CD78-4230-B6B5-19C376F65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118" y="4286250"/>
            <a:ext cx="1752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B48F1A4-4C3B-4656-B75E-5AAD6E071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218" y="4333875"/>
            <a:ext cx="16573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938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Фронтенд/бэкенд-разработчик</a:t>
            </a:r>
          </a:p>
          <a:p xmlns:a="http://schemas.openxmlformats.org/drawingml/2006/main">
            <a:pPr>
              <a:defRPr sz="938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938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@alndr_alndr</a:t>
            </a:r>
          </a:p>
          <a:p xmlns:a="http://schemas.openxmlformats.org/drawingml/2006/main">
            <a:pPr>
              <a:defRPr sz="938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938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+79654154022</a:t>
            </a:r>
          </a:p>
          <a:p xmlns:a="http://schemas.openxmlformats.org/drawingml/2006/main">
            <a:pPr>
              <a:defRPr sz="938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938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Т-банк, Физтех</a:t>
            </a:r>
          </a:p>
        </p:txBody>
      </p:sp>
      <p:pic>
        <p:nvPicPr>
          <p:cNvPr id="1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020b3ed62943bf"/>
          <a:srcRect xmlns:a="http://schemas.openxmlformats.org/drawingml/2006/main" l="8401" t="0" r="840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86456" y="1809750"/>
            <a:ext cx="1722596" cy="1552861"/>
          </a:xfrm>
          <a:prstGeom xmlns:a="http://schemas.openxmlformats.org/drawingml/2006/main" prst="roundRect">
            <a:avLst>
              <a:gd name="adj" fmla="val 7361"/>
            </a:avLst>
          </a:prstGeom>
        </p:spPr>
      </p:pic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B9AC9BF1-343A-44BD-8588-66B51B081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554" y="3695700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34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42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Анастасия Разина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089416B5-F3B5-4CEF-89F5-B2F55D931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454" y="4286250"/>
            <a:ext cx="1752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13E92B3-0A64-45A8-B61E-AFB449D74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8554" y="4333875"/>
            <a:ext cx="16573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938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Менеджер проекта</a:t>
            </a:r>
          </a:p>
          <a:p xmlns:a="http://schemas.openxmlformats.org/drawingml/2006/main">
            <a:pPr>
              <a:defRPr sz="938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938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@nastyarazina</a:t>
            </a:r>
          </a:p>
          <a:p xmlns:a="http://schemas.openxmlformats.org/drawingml/2006/main">
            <a:pPr>
              <a:defRPr sz="938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938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+79623689299</a:t>
            </a:r>
          </a:p>
          <a:p xmlns:a="http://schemas.openxmlformats.org/drawingml/2006/main">
            <a:pPr>
              <a:defRPr sz="938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938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МГТУ им. Н. Э. Баумана</a:t>
            </a:r>
          </a:p>
        </p:txBody>
      </p:sp>
      <p:pic>
        <p:nvPicPr>
          <p:cNvPr id="1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f043f0fee64f75"/>
          <a:srcRect xmlns:a="http://schemas.openxmlformats.org/drawingml/2006/main" l="0" t="19945" r="0" b="1994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91792" y="1809750"/>
            <a:ext cx="1722596" cy="1552861"/>
          </a:xfrm>
          <a:prstGeom xmlns:a="http://schemas.openxmlformats.org/drawingml/2006/main" prst="roundRect">
            <a:avLst>
              <a:gd name="adj" fmla="val 7361"/>
            </a:avLst>
          </a:prstGeom>
        </p:spPr>
      </p:pic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813118D-F421-4891-9A26-DA7C50FE7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890" y="3695700"/>
            <a:ext cx="1695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42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Анна Разина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34219675-3A62-4973-B08B-99084E410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790" y="4286250"/>
            <a:ext cx="17526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3F9C4DF8-0AE0-4790-8106-C0FD69C7E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3890" y="4333875"/>
            <a:ext cx="16573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938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938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ML-инженер</a:t>
            </a:r>
          </a:p>
          <a:p xmlns:a="http://schemas.openxmlformats.org/drawingml/2006/main">
            <a:pPr>
              <a:defRPr sz="938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938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@annarazina10</a:t>
            </a:r>
          </a:p>
          <a:p xmlns:a="http://schemas.openxmlformats.org/drawingml/2006/main">
            <a:pPr>
              <a:defRPr sz="938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938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+79685804974</a:t>
            </a:r>
          </a:p>
          <a:p xmlns:a="http://schemas.openxmlformats.org/drawingml/2006/main">
            <a:pPr>
              <a:defRPr sz="938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938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Центральный университет</a:t>
            </a:r>
          </a:p>
        </p:txBody>
      </p:sp>
    </p:spTree>
    <p:extLst>
      <p:ext uri="{BB962C8B-B14F-4D97-AF65-F5344CB8AC3E}">
        <p14:creationId xmlns:p14="http://schemas.microsoft.com/office/powerpoint/2010/main" val="922147036"/>
      </p:ext>
    </p:extLst>
  </p:cSld>
</p:sld>
</file>

<file path=ppt/slides/slide10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1f63286ec84248ac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9376089D-9A77-730A-ADAF-A685C17F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952656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18" name="Номер слайда 17">
            <a:extLst xmlns:a="http://schemas.openxmlformats.org/drawingml/2006/main">
              <a:ext uri="{FF2B5EF4-FFF2-40B4-BE49-F238E27FC236}">
                <a16:creationId xmlns:a16="http://schemas.microsoft.com/office/drawing/2014/main" id="{74006CB4-BD4D-EF41-3DCA-EDB126B8489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rPr>
                <a:solidFill>
                  <a:schemeClr val="accent5"/>
                </a:solidFill>
              </a:rPr>
              <a:t/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7" name="Заголовок 6">
            <a:extLst xmlns:a="http://schemas.openxmlformats.org/drawingml/2006/main">
              <a:ext uri="{FF2B5EF4-FFF2-40B4-BE49-F238E27FC236}">
                <a16:creationId xmlns:a16="http://schemas.microsoft.com/office/drawing/2014/main" id="{9F7DE1A9-1AD8-0498-5446-8F5D409119D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07849" y="449787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>
              <a:latin typeface="+mn-lt"/>
              <a:ea typeface="+mn-lt"/>
              <a:cs typeface="+mn-lt"/>
            </a:endParaRPr>
          </a:p>
        </p:txBody>
      </p:sp>
      <p:sp>
        <p:nvSpPr>
          <p:cNvPr id="37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C7B87D78-5037-F48A-F05C-8E80D4A5A4D0}"/>
              </a:ext>
            </a:extLst>
          </p:cNvPr>
          <p:cNvSpPr>
            <a:spLocks xmlns:a="http://schemas.openxmlformats.org/drawingml/2006/main" noGrp="1"/>
          </p:cNvSpPr>
          <p:nvPr>
            <p:ph type="body" idx="27"/>
          </p:nvPr>
        </p:nvSpPr>
        <p:spPr>
          <a:xfrm xmlns:a="http://schemas.openxmlformats.org/drawingml/2006/main">
            <a:off x="533607" y="1602273"/>
            <a:ext cx="4425822" cy="9342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/>
            </a:r>
          </a:p>
        </p:txBody>
      </p:sp>
      <p:sp>
        <p:nvSpPr>
          <p:cNvPr id="38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BAD76A99-219B-023F-35AA-74EDFF6A5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1279645"/>
            <a:ext cx="2990173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40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812662F-49C9-0A37-1671-EE5E187C6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5139255"/>
            <a:ext cx="7318749" cy="105536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/>
            </a:r>
            <a:endParaRPr>
              <a:solidFill>
                <a:schemeClr val="tx1"/>
              </a:solidFill>
            </a:endParaRPr>
          </a:p>
        </p:txBody>
      </p:sp>
      <p:sp>
        <p:nvSpPr>
          <p:cNvPr id="4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AF2119E-43D8-37AF-C511-A59B0DD8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8" y="4571473"/>
            <a:ext cx="6438692" cy="62905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10000"/>
              </a:lnSpc>
              <a:buNone/>
            </a:pPr>
            <a:r>
              <a:rPr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43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819ADE62-86A0-41CF-FEBE-6AC207E6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3429000"/>
            <a:ext cx="4945565" cy="107852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>
                <a:solidFill>
                  <a:schemeClr val="tx1"/>
                </a:solidFill>
              </a:rPr>
              <a:t/>
            </a:r>
          </a:p>
        </p:txBody>
      </p:sp>
      <p:sp>
        <p:nvSpPr>
          <p:cNvPr id="44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A0EBDB05-E223-F4C0-4AF4-743B80D71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607" y="2900091"/>
            <a:ext cx="5629858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5" name="Прямая соединительная линия 4">
            <a:extLst xmlns:a="http://schemas.openxmlformats.org/drawingml/2006/main">
              <a:ext uri="{FF2B5EF4-FFF2-40B4-BE49-F238E27FC236}">
                <a16:creationId xmlns:a16="http://schemas.microsoft.com/office/drawing/2014/main" id="{4E0F2D17-236F-4367-A05B-4FCA28251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2745691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" name="Прямая соединительная линия 5">
            <a:extLst xmlns:a="http://schemas.openxmlformats.org/drawingml/2006/main">
              <a:ext uri="{FF2B5EF4-FFF2-40B4-BE49-F238E27FC236}">
                <a16:creationId xmlns:a16="http://schemas.microsoft.com/office/drawing/2014/main" id="{E0444B1D-FE7F-4157-92CE-BAE80B4AC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4407066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" name="Прямая соединительная линия 7">
            <a:extLst xmlns:a="http://schemas.openxmlformats.org/drawingml/2006/main">
              <a:ext uri="{FF2B5EF4-FFF2-40B4-BE49-F238E27FC236}">
                <a16:creationId xmlns:a16="http://schemas.microsoft.com/office/drawing/2014/main" id="{B39D2E9B-3A64-43F9-8544-A1706CD8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8" y="1110074"/>
            <a:ext cx="1123315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1"/>
            </a:solidFill>
          </a:ln>
        </p:spPr>
        <p:style>
          <a:lnRef xmlns:a="http://schemas.openxmlformats.org/drawingml/2006/main" idx="1">
            <a:schemeClr val="accent2"/>
          </a:lnRef>
          <a:fillRef xmlns:a="http://schemas.openxmlformats.org/drawingml/2006/main" idx="0">
            <a:schemeClr val="accent2"/>
          </a:fillRef>
          <a:effectRef xmlns:a="http://schemas.openxmlformats.org/drawingml/2006/main" idx="0">
            <a:schemeClr val="accent2"/>
          </a:effectRef>
          <a:fontRef xmlns:a="http://schemas.openxmlformats.org/drawingml/2006/main" idx="minor">
            <a:schemeClr val="tx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DE3DBF43-8386-18C6-2DBB-93FBC617A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1279645"/>
            <a:ext cx="956838" cy="35393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buNone/>
            </a:pPr>
            <a:r>
              <a:rPr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11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1C998835-697E-638C-C9A8-992A3CFE1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2900091"/>
            <a:ext cx="930595" cy="52890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12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63CDAC47-57C1-8743-C534-E78438BFE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5788" y="4571473"/>
            <a:ext cx="930596" cy="5677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>
            <a:lvl1pPr marL="144688" indent="-144688" algn="l" defTabSz="578755">
              <a:lnSpc>
                <a:spcPct val="90000"/>
              </a:lnSpc>
              <a:spcBef>
                <a:spcPts val="631"/>
              </a:spcBef>
              <a:buClr>
                <a:schemeClr val="accent1"/>
              </a:buClr>
              <a:buFont typeface="Wingdings"/>
              <a:buChar char="§"/>
              <a:defRPr sz="1400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1pPr>
            <a:lvl2pPr marL="434067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271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2pPr>
            <a:lvl3pPr marL="72344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9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3pPr>
            <a:lvl4pPr marL="101282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4pPr>
            <a:lvl5pPr marL="1302200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907" kern="1200">
                <a:solidFill>
                  <a:schemeClr val="bg1">
                    <a:lumMod val="95000"/>
                  </a:schemeClr>
                </a:solidFill>
                <a:latin typeface="+mn-lt"/>
                <a:ea typeface="+mn-lt"/>
                <a:cs typeface="+mn-lt"/>
              </a:defRPr>
            </a:lvl5pPr>
            <a:lvl6pPr marL="1591576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880955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170334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459712" indent="-144688" algn="l" defTabSz="578755">
              <a:lnSpc>
                <a:spcPct val="90000"/>
              </a:lnSpc>
              <a:spcBef>
                <a:spcPts val="317"/>
              </a:spcBef>
              <a:buFont typeface="Arial"/>
              <a:buChar char="•"/>
              <a:defRPr sz="114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0" indent="0" algn="r">
              <a:lnSpc>
                <a:spcPct val="100000"/>
              </a:lnSpc>
              <a:buNone/>
            </a:pPr>
            <a:r>
              <a:rPr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357F33A-6A47-4182-B553-DCD4409C3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6672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61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9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КОМАНДА И ВЫЗОВЫ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25CD1B7-95BD-4896-A8C6-46147F931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362075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Краткая история команды: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6A4037C-5D89-4F9A-A6CB-6D09ED82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7239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AS — семейная команда из Москвы. Анна отвечает за ML и аналитику, Александр — за веб-часть и интеграции, Анастасия — за постановку задачи и презентацию.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821A306-9868-4E5E-A03E-739A89EC1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00375"/>
            <a:ext cx="609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457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Почему выбрали именно эту задачу из предложенных на хакатоне?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063E85-E7F8-4C4D-8C6F-194517DD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24250"/>
            <a:ext cx="7429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Кейс соединяет городскую инфраструктуру, реальные временные ряды и понятную пользу для диспетчера: меньше ручного шума и раньше видны рискованные каналы.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1B8B7A4-D46D-425A-91A0-B06A417D0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686300"/>
            <a:ext cx="638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0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С какими основными сложностями или вызовами вы столкнулись и как их преодолели?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94185EE-9C84-4743-8C56-6D8ECDC57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38750"/>
            <a:ext cx="8572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Target не равен подтвержденной аварии, события сильно несбалансированы, а 2021 год и справочники требуют отдельной обработки. Мы зафиксировали эти ограничения в EDA и baseline.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4062A82-1761-47A5-AD00-7A5CCD1F0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13620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3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01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87137FF-4435-4A47-BCEC-64B5F3161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3000375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3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02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24FA5FB-A251-4213-A7F6-B9BBFAAC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77650" y="46863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350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035511140"/>
      </p:ext>
    </p:extLst>
  </p:cSld>
</p:sld>
</file>

<file path=ppt/slides/slide11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e66dbd52063d4d05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Скругленный прямоугольник 9">
            <a:extLst xmlns:a="http://schemas.openxmlformats.org/drawingml/2006/main">
              <a:ext uri="{FF2B5EF4-FFF2-40B4-BE49-F238E27FC236}">
                <a16:creationId xmlns:a16="http://schemas.microsoft.com/office/drawing/2014/main" id="{99639827-4B20-41B4-B9A5-E5F859569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750912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4" name="Скругленный прямоугольник 23">
            <a:extLst xmlns:a="http://schemas.openxmlformats.org/drawingml/2006/main">
              <a:ext uri="{FF2B5EF4-FFF2-40B4-BE49-F238E27FC236}">
                <a16:creationId xmlns:a16="http://schemas.microsoft.com/office/drawing/2014/main" id="{D6D9A41E-4495-E50B-97DA-5E654B99A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0774" y="1211284"/>
            <a:ext cx="5440313" cy="4989492"/>
          </a:xfrm>
          <a:prstGeom xmlns:a="http://schemas.openxmlformats.org/drawingml/2006/main" prst="roundRect">
            <a:avLst>
              <a:gd name="adj" fmla="val 3865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7" name="Скругленный прямоугольник 26">
            <a:extLst xmlns:a="http://schemas.openxmlformats.org/drawingml/2006/main">
              <a:ext uri="{FF2B5EF4-FFF2-40B4-BE49-F238E27FC236}">
                <a16:creationId xmlns:a16="http://schemas.microsoft.com/office/drawing/2014/main" id="{4205FFC6-B5B1-7076-639B-E4DAFE652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6" y="1211284"/>
            <a:ext cx="5440313" cy="4989492"/>
          </a:xfrm>
          <a:prstGeom xmlns:a="http://schemas.openxmlformats.org/drawingml/2006/main" prst="roundRect">
            <a:avLst>
              <a:gd name="adj" fmla="val 3407"/>
            </a:avLst>
          </a:prstGeom>
          <a:solidFill xmlns:a="http://schemas.openxmlformats.org/drawingml/2006/main">
            <a:schemeClr val="bg1"/>
          </a:solidFill>
          <a:ln xmlns:a="http://schemas.openxmlformats.org/drawingml/2006/main" w="9525" cmpd="sng">
            <a:noFill/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/>
            </a: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889AB292-D098-2ABD-0429-89B4EFAD43B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9ADA83D-DF77-AA76-6DA0-7A70CD7A4D20}" type="slidenum">
              <a:rPr>
                <a:solidFill>
                  <a:schemeClr val="bg1"/>
                </a:solidFill>
              </a:rPr>
              <a:t/>
            </a:fld>
            <a:endParaRPr>
              <a:solidFill>
                <a:schemeClr val="bg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B2BA7842-46FE-F786-9D85-92BBE62C549A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589493" y="1920927"/>
            <a:ext cx="4929861" cy="3868581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chemeClr val="tx1"/>
                </a:solidFill>
              </a:rPr>
              <a:t/>
            </a: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FADF42A3-53F4-C8E0-2D79-332DAAEB9A8A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6513513" y="1920927"/>
            <a:ext cx="4957144" cy="387644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1400">
                <a:solidFill>
                  <a:schemeClr val="tx1"/>
                </a:solidFill>
              </a:rPr>
              <a:t/>
            </a: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9ADE5A7A-262A-121D-63C7-92347C3B48D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56851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26BEC078-5087-6080-D7D6-F5A0B438BDE2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78063" y="1476583"/>
            <a:ext cx="4929861" cy="555147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2859F02A-65ED-43C1-C072-8FCD6772DA35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6513513" y="1476583"/>
            <a:ext cx="5214724" cy="561519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00000"/>
              </a:lnSpc>
              <a:buNone/>
            </a:pPr>
            <a:r>
              <a:rPr sz="2000" b="1">
                <a:solidFill>
                  <a:schemeClr val="accent5"/>
                </a:solidFill>
              </a:rPr>
              <a:t/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BECE34-9160-4110-96AA-36A75219C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9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КОРОТКО О РЕШЕНИИ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4FF81AD-70BD-4707-B18F-4AE12830D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Техническая суть решения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F3DCC24-E680-4B7C-85E8-56C6FB69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48101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D8FE14-D189-4147-8EE4-8CEBD835B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95500"/>
            <a:ext cx="4619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Модель LightGBM ранжирует каналы по риску тревоги на следующие 24 часа. Витрина строится по дням, использует rolling-признаки за 3/7/14 дней, тип датчика, объект и текстовые состояния датчиков.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В отчете сохраняются ROC/PR, SHAP, permutation importance, PSI/KS drift и coverage признаков.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AC686A-F777-40CB-93FE-03DAD3B58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571625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Маркетинговая суть решения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B4BBEA2-28D3-4E18-A036-494817259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81200"/>
            <a:ext cx="48101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80B7A8B-3D9A-4AF4-A288-AFDD38B10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095500"/>
            <a:ext cx="4619625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Диспетчер видит очередь риска, карточку канала, объяснение прогноза и черновик заявки. Система не заменяет диспетчера, а помогает быстрее выделить каналы для проверки.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425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425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Feedback от проверки нужен для перехода от proxy-target к бизнес-разметке полезных предупреждений.</a:t>
            </a:r>
          </a:p>
        </p:txBody>
      </p:sp>
    </p:spTree>
    <p:extLst>
      <p:ext uri="{BB962C8B-B14F-4D97-AF65-F5344CB8AC3E}">
        <p14:creationId xmlns:p14="http://schemas.microsoft.com/office/powerpoint/2010/main" val="3998776457"/>
      </p:ext>
    </p:extLst>
  </p:cSld>
</p:sld>
</file>

<file path=ppt/slides/slide12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91f19808611482b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4B65AE-F47C-4AAD-913A-3CB58C938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BASELINE LIGHTGBM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C487F4-4A88-4139-9328-F5B7B0BAD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Модель уже обучена на 2025-2026 и проверена на временном разбиении</a:t>
            </a:r>
          </a:p>
        </p:txBody>
      </p:sp>
      <p:graphicFrame>
        <p:nvGraphicFramePr>
          <p:cNvPr id="54" name=""/>
          <p:cNvGraphicFramePr/>
          <p:nvPr/>
        </p:nvGraphicFramePr>
        <p:xfrm>
          <a:off xmlns:a="http://schemas.openxmlformats.org/drawingml/2006/main" x="666750" y="1571625"/>
          <a:ext xmlns:a="http://schemas.openxmlformats.org/drawingml/2006/main" cx="5334000" cy="1905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066800"/>
                <a:gridCol w="1066800"/>
                <a:gridCol w="1066800"/>
                <a:gridCol w="1066800"/>
                <a:gridCol w="1066800"/>
              </a:tblGrid>
              <a:tr h="476250"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split</a:t>
                      </a:r>
                    </a:p>
                  </a:txBody>
                  <a:tcPr marL="91440" marR="91440" marT="45720" marB="45720">
                    <a:solidFill>
                      <a:srgbClr val="5B0A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positive rate</a:t>
                      </a:r>
                    </a:p>
                  </a:txBody>
                  <a:tcPr marL="91440" marR="91440" marT="45720" marB="45720">
                    <a:solidFill>
                      <a:srgbClr val="5B0A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ROC-AUC</a:t>
                      </a:r>
                    </a:p>
                  </a:txBody>
                  <a:tcPr marL="91440" marR="91440" marT="45720" marB="45720">
                    <a:solidFill>
                      <a:srgbClr val="5B0A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PR-AUC</a:t>
                      </a:r>
                    </a:p>
                  </a:txBody>
                  <a:tcPr marL="91440" marR="91440" marT="45720" marB="45720">
                    <a:solidFill>
                      <a:srgbClr val="5B0A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75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F1</a:t>
                      </a:r>
                    </a:p>
                  </a:txBody>
                  <a:tcPr marL="91440" marR="91440" marT="45720" marB="45720">
                    <a:solidFill>
                      <a:srgbClr val="5B0A83"/>
                    </a:solidFill>
                  </a:tcPr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train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0,78%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0,936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0,100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0,195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valid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1,44%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0,748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0,070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0,177</a:t>
                      </a:r>
                    </a:p>
                  </a:txBody>
                  <a:tcPr marL="91440" marR="91440" marT="45720" marB="45720"/>
                </a:tc>
              </a:tr>
              <a:tr h="476250">
                <a:tc>
                  <a:txBody>
                    <a:bodyPr/>
                    <a:lstStyle/>
                    <a:p>
                      <a:r>
                        <a:t>test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1,56%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0,702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0,063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0,150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graphicFrame>
        <p:nvGraphicFramePr>
          <p:cNvPr id="55" name="Chart"/>
          <p:cNvGraphicFramePr/>
          <p:nvPr/>
        </p:nvGraphicFramePr>
        <p:xfrm>
          <a:off xmlns:a="http://schemas.openxmlformats.org/drawingml/2006/main" x="6572250" y="1476375"/>
          <a:ext xmlns:a="http://schemas.openxmlformats.org/drawingml/2006/main" cx="4191000" cy="2190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61aaedb4bf4424a"/>
          </a:graphicData>
        </a:graphic>
      </p:graphicFrame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8B37F-6B59-452D-A2E6-7C2B886B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38625"/>
            <a:ext cx="9715500" cy="1095375"/>
          </a:xfrm>
          <a:prstGeom xmlns:a="http://schemas.openxmlformats.org/drawingml/2006/main" prst="roundRect">
            <a:avLst>
              <a:gd name="adj" fmla="val 1565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F25338-6E2E-4296-B4FC-096AC04D9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410075"/>
            <a:ext cx="929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Честное ограничение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07EA2F-8ED8-464E-888B-0C6F6B049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829175"/>
            <a:ext cx="92964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5259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Precision и Recall baseline пока ниже целевых требований. Это нормальная первая точка: сильный дисбаланс, proxy-target и drift требуют улучшения target и признаков.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13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97fac6ca78c42c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72AEA7-39C7-4D54-93E9-1AD89B786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ВАЖНОСТЬ И DRIFT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AB3538-D0EA-4491-91BD-A3B515C0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Baseline показывает, какие факторы сейчас формируют риск и где распределения меняются</a:t>
            </a:r>
          </a:p>
        </p:txBody>
      </p:sp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736f918d2c4d7e"/>
          <a:stretch xmlns:a="http://schemas.openxmlformats.org/drawingml/2006/main"/>
        </p:blipFill>
        <p:spPr>
          <a:xfrm xmlns:a="http://schemas.openxmlformats.org/drawingml/2006/main">
            <a:off x="1259086" y="1381125"/>
            <a:ext cx="3911203" cy="3476625"/>
          </a:xfrm>
          <a:prstGeom xmlns:a="http://schemas.openxmlformats.org/drawingml/2006/main" prst="roundRect">
            <a:avLst>
              <a:gd name="adj" fmla="val 3836"/>
            </a:avLst>
          </a:prstGeom>
        </p:spPr>
      </p:pic>
      <p:pic>
        <p:nvPicPr>
          <p:cNvPr id="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7b748ff5434ae0"/>
          <a:stretch xmlns:a="http://schemas.openxmlformats.org/drawingml/2006/main"/>
        </p:blipFill>
        <p:spPr>
          <a:xfrm xmlns:a="http://schemas.openxmlformats.org/drawingml/2006/main">
            <a:off x="6191250" y="1796521"/>
            <a:ext cx="4762500" cy="2645833"/>
          </a:xfrm>
          <a:prstGeom xmlns:a="http://schemas.openxmlformats.org/drawingml/2006/main" prst="roundRect">
            <a:avLst>
              <a:gd name="adj" fmla="val 3836"/>
            </a:avLst>
          </a:prstGeom>
        </p:spPr>
      </p:pic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AF5004-80B3-4504-94B8-ABA4BDA4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91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Топ факторов: тип датчика, тревоги за 14 дней, объект. Главный drift: месяц, что подтверждает необходимость временной валидации.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14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b28d2fbbe73d4bc8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4BC8CD4-FEA6-4982-A498-569111A4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ПРОДУКТОВЫЙ MVP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674B29-FF59-4B88-A0E3-DB5CF1A06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Диспетчер получает не число ради числа, а очередь действий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9D8C56-DE9B-429C-B32F-FD42C9A53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3190875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EEDE99E-5BBE-468B-8A67-6F7D69A2B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95450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1. Очередь риска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F0C537-3642-4FB4-965A-F0882153A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14550"/>
            <a:ext cx="27717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67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Каналы и объекты сортируются по score. Фильтр отделяет текущие тревоги от прогноза будущего риска.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134E6E5-ED7B-422B-8828-CDC5C0B0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524000"/>
            <a:ext cx="3190875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4237C48-27B3-46CB-A604-1B36F280F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695450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2. Карточка прогноза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12CB86-1622-4DC4-A846-47836A041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114550"/>
            <a:ext cx="27717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Показывает тип датчика, объект, вклад признаков и рекомендуемое действие.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CD0F55-6BEE-4862-81D3-23B9F42C3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524000"/>
            <a:ext cx="3190875" cy="1476375"/>
          </a:xfrm>
          <a:prstGeom xmlns:a="http://schemas.openxmlformats.org/drawingml/2006/main" prst="roundRect">
            <a:avLst>
              <a:gd name="adj" fmla="val 1161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C26631-4F00-46AD-A3B4-8C3B1439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95450"/>
            <a:ext cx="2771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3. Черновик заявки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17D9966-0220-4257-81FF-C87467AE4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114550"/>
            <a:ext cx="277177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Диспетчер добавляет комментарий и сохраняет основание для проверки или ТО.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0D6C1B-B1CB-4365-A66F-80327DC9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3714750"/>
            <a:ext cx="3619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DC41087-4D37-41A7-90DA-DC47D4DD9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388620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REST API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3F330A4-E88C-410B-B41A-DA946A4E6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305300"/>
            <a:ext cx="320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6042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GET /risks</a:t>
            </a:r>
          </a:p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GET /risks/{risk_id}</a:t>
            </a:r>
          </a:p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POST /tickets/draft</a:t>
            </a:r>
          </a:p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POST /feedback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5752462-2B60-4006-BA54-A8C3B7262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14750"/>
            <a:ext cx="3619500" cy="14287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0E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F3A9A3-7848-444A-B742-790C8B041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86200"/>
            <a:ext cx="3200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6825"/>
          </a:bodyPr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1575" b="1">
                <a:solidFill>
                  <a:srgbClr val="5B0A83"/>
                </a:solidFill>
                <a:latin typeface="Montserrat Medium"/>
                <a:ea typeface="Montserrat Medium"/>
                <a:cs typeface="Montserrat Medium"/>
              </a:rPr>
              <a:t>Контур feedback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DCFEA3D-AA77-4C23-9A9E-E196DE9D6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4305300"/>
            <a:ext cx="320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defRPr>
            </a:pPr>
            <a:r>
              <a:rPr sz="1200" b="0">
                <a:solidFill>
                  <a:srgbClr val="1E1A2B"/>
                </a:solidFill>
                <a:latin typeface="Montserrat"/>
                <a:ea typeface="Montserrat"/>
                <a:cs typeface="Montserrat"/>
              </a:rPr>
              <a:t>Результаты проверки возвращаются в систему и помогают уточнять модель, пороги и правила приоритизации.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15.xml><?xml version="1.0" encoding="utf-8"?>
<p:sld xmlns:p="http://schemas.openxmlformats.org/presentationml/2006/main">
  <p:cSld>
    <p:bg>
      <p:bgPr>
        <a:blipFill xmlns:a="http://schemas.openxmlformats.org/drawingml/2006/main" rotWithShape="1">
          <a:blip xmlns:r="http://schemas.openxmlformats.org/officeDocument/2006/relationships" r:embed="R816e990241a3446a">
            <a:lum/>
          </a:blip>
          <a:srcRect l="0" t="0" r="0" b="0"/>
          <a:stretch>
            <a:fillRect l="0" t="0" r="0" b="0"/>
          </a:stretch>
        </a:blip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Скругленный прямоугольник 22">
            <a:extLst xmlns:a="http://schemas.openxmlformats.org/drawingml/2006/main">
              <a:ext uri="{FF2B5EF4-FFF2-40B4-BE49-F238E27FC236}">
                <a16:creationId xmlns:a16="http://schemas.microsoft.com/office/drawing/2014/main" id="{7922FF53-ACE2-23D9-1F2E-C3CB2E860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075" y="324562"/>
            <a:ext cx="3111828" cy="620919"/>
          </a:xfrm>
          <a:prstGeom xmlns:a="http://schemas.openxmlformats.org/drawingml/2006/main" prst="roundRect">
            <a:avLst>
              <a:gd name="adj" fmla="val 1870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1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21" name="Номер слайда 20">
            <a:extLst xmlns:a="http://schemas.openxmlformats.org/drawingml/2006/main">
              <a:ext uri="{FF2B5EF4-FFF2-40B4-BE49-F238E27FC236}">
                <a16:creationId xmlns:a16="http://schemas.microsoft.com/office/drawing/2014/main" id="{669682A0-CA38-40A8-94F2-47358000C1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2DCC5B9-D646-4B76-891F-6FF4E74E9CB4}" type="slidenum">
              <a:rPr>
                <a:solidFill>
                  <a:schemeClr val="accent5"/>
                </a:solidFill>
              </a:rPr>
              <a:t>18</a:t>
            </a:fld>
            <a:endParaRPr>
              <a:solidFill>
                <a:schemeClr val="accent5"/>
              </a:solidFill>
            </a:endParaRPr>
          </a:p>
        </p:txBody>
      </p:sp>
      <p:sp>
        <p:nvSpPr>
          <p:cNvPr id="2" name="Текст 1">
            <a:extLst xmlns:a="http://schemas.openxmlformats.org/drawingml/2006/main">
              <a:ext uri="{FF2B5EF4-FFF2-40B4-BE49-F238E27FC236}">
                <a16:creationId xmlns:a16="http://schemas.microsoft.com/office/drawing/2014/main" id="{27E23EC9-2FC6-4D30-AF38-406CDD6EAFE1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>
          <a:xfrm xmlns:a="http://schemas.openxmlformats.org/drawingml/2006/main">
            <a:off x="1615961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3" name="Текст 2">
            <a:extLst xmlns:a="http://schemas.openxmlformats.org/drawingml/2006/main">
              <a:ext uri="{FF2B5EF4-FFF2-40B4-BE49-F238E27FC236}">
                <a16:creationId xmlns:a16="http://schemas.microsoft.com/office/drawing/2014/main" id="{2711F3D1-6A7C-417C-88B0-D92130FE9557}"/>
              </a:ext>
            </a:extLst>
          </p:cNvPr>
          <p:cNvSpPr>
            <a:spLocks xmlns:a="http://schemas.openxmlformats.org/drawingml/2006/main" noGrp="1"/>
          </p:cNvSpPr>
          <p:nvPr>
            <p:ph type="body" idx="38"/>
          </p:nvPr>
        </p:nvSpPr>
        <p:spPr>
          <a:xfrm xmlns:a="http://schemas.openxmlformats.org/drawingml/2006/main">
            <a:off x="1615964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4" name="Текст 3">
            <a:extLst xmlns:a="http://schemas.openxmlformats.org/drawingml/2006/main">
              <a:ext uri="{FF2B5EF4-FFF2-40B4-BE49-F238E27FC236}">
                <a16:creationId xmlns:a16="http://schemas.microsoft.com/office/drawing/2014/main" id="{56CFDA1A-32AF-41E1-A34D-F85A5B0EDD07}"/>
              </a:ext>
            </a:extLst>
          </p:cNvPr>
          <p:cNvSpPr>
            <a:spLocks xmlns:a="http://schemas.openxmlformats.org/drawingml/2006/main" noGrp="1"/>
          </p:cNvSpPr>
          <p:nvPr>
            <p:ph type="body" idx="39"/>
          </p:nvPr>
        </p:nvSpPr>
        <p:spPr>
          <a:xfrm xmlns:a="http://schemas.openxmlformats.org/drawingml/2006/main">
            <a:off x="1596605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DCCF47ED-F081-41D2-846B-E1D156AA0314}"/>
              </a:ext>
            </a:extLst>
          </p:cNvPr>
          <p:cNvSpPr>
            <a:spLocks xmlns:a="http://schemas.openxmlformats.org/drawingml/2006/main" noGrp="1"/>
          </p:cNvSpPr>
          <p:nvPr>
            <p:ph type="body" idx="40"/>
          </p:nvPr>
        </p:nvSpPr>
        <p:spPr>
          <a:xfrm xmlns:a="http://schemas.openxmlformats.org/drawingml/2006/main">
            <a:off x="1596605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6" name="Текст 5">
            <a:extLst xmlns:a="http://schemas.openxmlformats.org/drawingml/2006/main">
              <a:ext uri="{FF2B5EF4-FFF2-40B4-BE49-F238E27FC236}">
                <a16:creationId xmlns:a16="http://schemas.microsoft.com/office/drawing/2014/main" id="{19BEAF1A-2D42-4D98-AD35-7280D52BED88}"/>
              </a:ext>
            </a:extLst>
          </p:cNvPr>
          <p:cNvSpPr>
            <a:spLocks xmlns:a="http://schemas.openxmlformats.org/drawingml/2006/main" noGrp="1"/>
          </p:cNvSpPr>
          <p:nvPr>
            <p:ph type="body" idx="41"/>
          </p:nvPr>
        </p:nvSpPr>
        <p:spPr>
          <a:xfrm xmlns:a="http://schemas.openxmlformats.org/drawingml/2006/main">
            <a:off x="1596605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7" name="Текст 6">
            <a:extLst xmlns:a="http://schemas.openxmlformats.org/drawingml/2006/main">
              <a:ext uri="{FF2B5EF4-FFF2-40B4-BE49-F238E27FC236}">
                <a16:creationId xmlns:a16="http://schemas.microsoft.com/office/drawing/2014/main" id="{50E54373-F1CE-490F-A9AC-455CC1CA7076}"/>
              </a:ext>
            </a:extLst>
          </p:cNvPr>
          <p:cNvSpPr>
            <a:spLocks xmlns:a="http://schemas.openxmlformats.org/drawingml/2006/main" noGrp="1"/>
          </p:cNvSpPr>
          <p:nvPr>
            <p:ph type="body" idx="42"/>
          </p:nvPr>
        </p:nvSpPr>
        <p:spPr>
          <a:xfrm xmlns:a="http://schemas.openxmlformats.org/drawingml/2006/main">
            <a:off x="1596605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8" name="Текст 7">
            <a:extLst xmlns:a="http://schemas.openxmlformats.org/drawingml/2006/main">
              <a:ext uri="{FF2B5EF4-FFF2-40B4-BE49-F238E27FC236}">
                <a16:creationId xmlns:a16="http://schemas.microsoft.com/office/drawing/2014/main" id="{D072020D-E8F8-4E9E-BBDB-08E0FF7D7841}"/>
              </a:ext>
            </a:extLst>
          </p:cNvPr>
          <p:cNvSpPr>
            <a:spLocks xmlns:a="http://schemas.openxmlformats.org/drawingml/2006/main" noGrp="1"/>
          </p:cNvSpPr>
          <p:nvPr>
            <p:ph type="body" idx="43"/>
          </p:nvPr>
        </p:nvSpPr>
        <p:spPr>
          <a:xfrm xmlns:a="http://schemas.openxmlformats.org/drawingml/2006/main">
            <a:off x="7289068" y="1428777"/>
            <a:ext cx="3866856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9" name="Текст 8">
            <a:extLst xmlns:a="http://schemas.openxmlformats.org/drawingml/2006/main">
              <a:ext uri="{FF2B5EF4-FFF2-40B4-BE49-F238E27FC236}">
                <a16:creationId xmlns:a16="http://schemas.microsoft.com/office/drawing/2014/main" id="{F21454E5-F292-4891-9D68-0D5174698360}"/>
              </a:ext>
            </a:extLst>
          </p:cNvPr>
          <p:cNvSpPr>
            <a:spLocks xmlns:a="http://schemas.openxmlformats.org/drawingml/2006/main" noGrp="1"/>
          </p:cNvSpPr>
          <p:nvPr>
            <p:ph type="body" idx="44"/>
          </p:nvPr>
        </p:nvSpPr>
        <p:spPr>
          <a:xfrm xmlns:a="http://schemas.openxmlformats.org/drawingml/2006/main">
            <a:off x="7289071" y="1996388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0" name="Текст 9">
            <a:extLst xmlns:a="http://schemas.openxmlformats.org/drawingml/2006/main">
              <a:ext uri="{FF2B5EF4-FFF2-40B4-BE49-F238E27FC236}">
                <a16:creationId xmlns:a16="http://schemas.microsoft.com/office/drawing/2014/main" id="{ED966D9B-CCFE-4200-A5EC-3EB869FCB8CC}"/>
              </a:ext>
            </a:extLst>
          </p:cNvPr>
          <p:cNvSpPr>
            <a:spLocks xmlns:a="http://schemas.openxmlformats.org/drawingml/2006/main" noGrp="1"/>
          </p:cNvSpPr>
          <p:nvPr>
            <p:ph type="body" idx="45"/>
          </p:nvPr>
        </p:nvSpPr>
        <p:spPr>
          <a:xfrm xmlns:a="http://schemas.openxmlformats.org/drawingml/2006/main">
            <a:off x="7269712" y="3032761"/>
            <a:ext cx="3866856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1" name="Текст 10">
            <a:extLst xmlns:a="http://schemas.openxmlformats.org/drawingml/2006/main">
              <a:ext uri="{FF2B5EF4-FFF2-40B4-BE49-F238E27FC236}">
                <a16:creationId xmlns:a16="http://schemas.microsoft.com/office/drawing/2014/main" id="{C1D06240-647F-427A-8B8C-091F9721E642}"/>
              </a:ext>
            </a:extLst>
          </p:cNvPr>
          <p:cNvSpPr>
            <a:spLocks xmlns:a="http://schemas.openxmlformats.org/drawingml/2006/main" noGrp="1"/>
          </p:cNvSpPr>
          <p:nvPr>
            <p:ph type="body" idx="46"/>
          </p:nvPr>
        </p:nvSpPr>
        <p:spPr>
          <a:xfrm xmlns:a="http://schemas.openxmlformats.org/drawingml/2006/main">
            <a:off x="7269712" y="3580500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2" name="Текст 11">
            <a:extLst xmlns:a="http://schemas.openxmlformats.org/drawingml/2006/main">
              <a:ext uri="{FF2B5EF4-FFF2-40B4-BE49-F238E27FC236}">
                <a16:creationId xmlns:a16="http://schemas.microsoft.com/office/drawing/2014/main" id="{0A4B9D71-43CE-4C1C-BF7F-B60A8B578216}"/>
              </a:ext>
            </a:extLst>
          </p:cNvPr>
          <p:cNvSpPr>
            <a:spLocks xmlns:a="http://schemas.openxmlformats.org/drawingml/2006/main" noGrp="1"/>
          </p:cNvSpPr>
          <p:nvPr>
            <p:ph type="body" idx="47"/>
          </p:nvPr>
        </p:nvSpPr>
        <p:spPr>
          <a:xfrm xmlns:a="http://schemas.openxmlformats.org/drawingml/2006/main">
            <a:off x="7269712" y="4616873"/>
            <a:ext cx="3866856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rgbClr val="F92571"/>
              </a:solidFill>
            </a:endParaRPr>
          </a:p>
        </p:txBody>
      </p:sp>
      <p:sp>
        <p:nvSpPr>
          <p:cNvPr id="13" name="Текст 12">
            <a:extLst xmlns:a="http://schemas.openxmlformats.org/drawingml/2006/main">
              <a:ext uri="{FF2B5EF4-FFF2-40B4-BE49-F238E27FC236}">
                <a16:creationId xmlns:a16="http://schemas.microsoft.com/office/drawing/2014/main" id="{FB764737-E500-486A-BC57-2CFC01C3D8BB}"/>
              </a:ext>
            </a:extLst>
          </p:cNvPr>
          <p:cNvSpPr>
            <a:spLocks xmlns:a="http://schemas.openxmlformats.org/drawingml/2006/main" noGrp="1"/>
          </p:cNvSpPr>
          <p:nvPr>
            <p:ph type="body" idx="48"/>
          </p:nvPr>
        </p:nvSpPr>
        <p:spPr>
          <a:xfrm xmlns:a="http://schemas.openxmlformats.org/drawingml/2006/main">
            <a:off x="7269712" y="5164612"/>
            <a:ext cx="3866856" cy="67207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>
              <a:solidFill>
                <a:schemeClr val="tx1"/>
              </a:solidFill>
            </a:endParaRPr>
          </a:p>
        </p:txBody>
      </p:sp>
      <p:sp>
        <p:nvSpPr>
          <p:cNvPr id="14" name="Заголовок 13">
            <a:extLst xmlns:a="http://schemas.openxmlformats.org/drawingml/2006/main">
              <a:ext uri="{FF2B5EF4-FFF2-40B4-BE49-F238E27FC236}">
                <a16:creationId xmlns:a16="http://schemas.microsoft.com/office/drawing/2014/main" id="{02C18390-040F-49C6-B99F-AFF6DA22BD6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25817" y="421226"/>
            <a:ext cx="9862734" cy="3761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Текст 14">
            <a:extLst xmlns:a="http://schemas.openxmlformats.org/drawingml/2006/main">
              <a:ext uri="{FF2B5EF4-FFF2-40B4-BE49-F238E27FC236}">
                <a16:creationId xmlns:a16="http://schemas.microsoft.com/office/drawing/2014/main" id="{83D68FBC-5A9C-4BE2-A173-8FBC9296615A}"/>
              </a:ext>
            </a:extLst>
          </p:cNvPr>
          <p:cNvSpPr>
            <a:spLocks xmlns:a="http://schemas.openxmlformats.org/drawingml/2006/main" noGrp="1"/>
          </p:cNvSpPr>
          <p:nvPr>
            <p:ph type="body" idx="49"/>
          </p:nvPr>
        </p:nvSpPr>
        <p:spPr>
          <a:xfrm xmlns:a="http://schemas.openxmlformats.org/drawingml/2006/main">
            <a:off x="520913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6" name="Текст 15">
            <a:extLst xmlns:a="http://schemas.openxmlformats.org/drawingml/2006/main">
              <a:ext uri="{FF2B5EF4-FFF2-40B4-BE49-F238E27FC236}">
                <a16:creationId xmlns:a16="http://schemas.microsoft.com/office/drawing/2014/main" id="{F7796DA3-237A-4B69-B5A0-A321BB471A9B}"/>
              </a:ext>
            </a:extLst>
          </p:cNvPr>
          <p:cNvSpPr>
            <a:spLocks xmlns:a="http://schemas.openxmlformats.org/drawingml/2006/main" noGrp="1"/>
          </p:cNvSpPr>
          <p:nvPr>
            <p:ph type="body" idx="50"/>
          </p:nvPr>
        </p:nvSpPr>
        <p:spPr>
          <a:xfrm xmlns:a="http://schemas.openxmlformats.org/drawingml/2006/main">
            <a:off x="501557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7" name="Текст 16">
            <a:extLst xmlns:a="http://schemas.openxmlformats.org/drawingml/2006/main">
              <a:ext uri="{FF2B5EF4-FFF2-40B4-BE49-F238E27FC236}">
                <a16:creationId xmlns:a16="http://schemas.microsoft.com/office/drawing/2014/main" id="{01D31CD5-C50F-4F9F-AFD3-E6609DC7BFA0}"/>
              </a:ext>
            </a:extLst>
          </p:cNvPr>
          <p:cNvSpPr>
            <a:spLocks xmlns:a="http://schemas.openxmlformats.org/drawingml/2006/main" noGrp="1"/>
          </p:cNvSpPr>
          <p:nvPr>
            <p:ph type="body" idx="51"/>
          </p:nvPr>
        </p:nvSpPr>
        <p:spPr>
          <a:xfrm xmlns:a="http://schemas.openxmlformats.org/drawingml/2006/main">
            <a:off x="501557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8" name="Текст 17">
            <a:extLst xmlns:a="http://schemas.openxmlformats.org/drawingml/2006/main">
              <a:ext uri="{FF2B5EF4-FFF2-40B4-BE49-F238E27FC236}">
                <a16:creationId xmlns:a16="http://schemas.microsoft.com/office/drawing/2014/main" id="{D87BAA27-328A-476A-8933-B54F5113B8B6}"/>
              </a:ext>
            </a:extLst>
          </p:cNvPr>
          <p:cNvSpPr>
            <a:spLocks xmlns:a="http://schemas.openxmlformats.org/drawingml/2006/main" noGrp="1"/>
          </p:cNvSpPr>
          <p:nvPr>
            <p:ph type="body" idx="52"/>
          </p:nvPr>
        </p:nvSpPr>
        <p:spPr>
          <a:xfrm xmlns:a="http://schemas.openxmlformats.org/drawingml/2006/main">
            <a:off x="6194020" y="1394052"/>
            <a:ext cx="771003" cy="42362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19" name="Текст 18">
            <a:extLst xmlns:a="http://schemas.openxmlformats.org/drawingml/2006/main">
              <a:ext uri="{FF2B5EF4-FFF2-40B4-BE49-F238E27FC236}">
                <a16:creationId xmlns:a16="http://schemas.microsoft.com/office/drawing/2014/main" id="{7AFF5BE7-0C00-42D9-8BA8-D1F40F4F4492}"/>
              </a:ext>
            </a:extLst>
          </p:cNvPr>
          <p:cNvSpPr>
            <a:spLocks xmlns:a="http://schemas.openxmlformats.org/drawingml/2006/main" noGrp="1"/>
          </p:cNvSpPr>
          <p:nvPr>
            <p:ph type="body" idx="53"/>
          </p:nvPr>
        </p:nvSpPr>
        <p:spPr>
          <a:xfrm xmlns:a="http://schemas.openxmlformats.org/drawingml/2006/main">
            <a:off x="6174664" y="2998036"/>
            <a:ext cx="771003" cy="40375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0" name="Текст 19">
            <a:extLst xmlns:a="http://schemas.openxmlformats.org/drawingml/2006/main">
              <a:ext uri="{FF2B5EF4-FFF2-40B4-BE49-F238E27FC236}">
                <a16:creationId xmlns:a16="http://schemas.microsoft.com/office/drawing/2014/main" id="{82867CCA-8241-4FD6-A117-F3A419838853}"/>
              </a:ext>
            </a:extLst>
          </p:cNvPr>
          <p:cNvSpPr>
            <a:spLocks xmlns:a="http://schemas.openxmlformats.org/drawingml/2006/main" noGrp="1"/>
          </p:cNvSpPr>
          <p:nvPr>
            <p:ph type="body" idx="54"/>
          </p:nvPr>
        </p:nvSpPr>
        <p:spPr>
          <a:xfrm xmlns:a="http://schemas.openxmlformats.org/drawingml/2006/main">
            <a:off x="6174664" y="4582148"/>
            <a:ext cx="771003" cy="40391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accent5"/>
              </a:solidFill>
            </a:endParaRP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A8E3DBE-8F1F-40E8-8A75-13008D312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23850"/>
            <a:ext cx="4953000" cy="628650"/>
          </a:xfrm>
          <a:prstGeom xmlns:a="http://schemas.openxmlformats.org/drawingml/2006/main" prst="roundRect">
            <a:avLst>
              <a:gd name="adj" fmla="val 19697"/>
            </a:avLst>
          </a:prstGeom>
          <a:solidFill xmlns:a="http://schemas.openxmlformats.org/drawingml/2006/main">
            <a:srgbClr val="FF0051"/>
          </a:solidFill>
          <a:ln xmlns:a="http://schemas.openxmlformats.org/drawingml/2006/main" w="0">
            <a:solidFill>
              <a:srgbClr val="FF0051"/>
            </a:solidFill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2025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ЧТО УЖЕ ГОТОВО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73949B-EDBE-48A6-B1B1-4A5714E89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300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defRPr>
            </a:pPr>
            <a:r>
              <a:rPr sz="1275" b="0">
                <a:solidFill>
                  <a:srgbClr val="5A5365"/>
                </a:solidFill>
                <a:latin typeface="Montserrat"/>
                <a:ea typeface="Montserrat"/>
                <a:cs typeface="Montserrat"/>
              </a:rPr>
              <a:t>Репозиторий содержит данные для защиты аналитической части и воспроизводимый baseline</a:t>
            </a:r>
          </a:p>
        </p:txBody>
      </p:sp>
      <p:graphicFrame>
        <p:nvGraphicFramePr>
          <p:cNvPr id="51" name=""/>
          <p:cNvGraphicFramePr/>
          <p:nvPr/>
        </p:nvGraphicFramePr>
        <p:xfrm>
          <a:off xmlns:a="http://schemas.openxmlformats.org/drawingml/2006/main" x="809625" y="1571625"/>
          <a:ext xmlns:a="http://schemas.openxmlformats.org/drawingml/2006/main" cx="9810750" cy="34290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4905375"/>
                <a:gridCol w="4905375"/>
              </a:tblGrid>
              <a:tr h="571500"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Блок</a:t>
                      </a:r>
                    </a:p>
                  </a:txBody>
                  <a:tcPr marL="91440" marR="91440" marT="45720" marB="45720">
                    <a:solidFill>
                      <a:srgbClr val="5B0A8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 b="1">
                          <a:solidFill>
                            <a:srgbClr val="FFFFFF"/>
                          </a:solidFill>
                          <a:latin typeface="Montserrat"/>
                          <a:ea typeface="Montserrat"/>
                          <a:cs typeface="Montserrat"/>
                        </a:rPr>
                        <a:t>Содержание</a:t>
                      </a:r>
                    </a:p>
                  </a:txBody>
                  <a:tcPr marL="91440" marR="91440" marT="45720" marB="45720">
                    <a:solidFill>
                      <a:srgbClr val="5B0A83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Документация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README, описание кейса, требования, стратегия, setup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EDA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313,5 млн строк, таблицы покрытия, аномалии, графики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ML baseline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скрипт LightGBM, модель, метрики, SHAP, permutation, drift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Артефакты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ROC/PR, PSI/KS, parquet coverage и drift</a:t>
                      </a:r>
                    </a:p>
                  </a:txBody>
                  <a:tcPr marL="91440" marR="91440" marT="45720" marB="45720"/>
                </a:tc>
              </a:tr>
              <a:tr h="571500">
                <a:tc>
                  <a:txBody>
                    <a:bodyPr/>
                    <a:lstStyle/>
                    <a:p>
                      <a:r>
                        <a:t>Ограничения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target proxy, нет подтвержденной аварии от ОДС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027404A-4B0A-4B19-8199-EC37B479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191250"/>
            <a:ext cx="1009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825" b="0">
                <a:solidFill>
                  <a:srgbClr val="756D80"/>
                </a:solidFill>
                <a:latin typeface="Montserrat"/>
                <a:ea typeface="Montserrat"/>
                <a:cs typeface="Montserrat"/>
              </a:defRPr>
            </a:pPr>
            <a:r>
              <a:rPr sz="825" b="0">
                <a:solidFill>
                  <a:srgbClr val="756D80"/>
                </a:solidFill>
                <a:latin typeface="Montserrat"/>
                <a:ea typeface="Montserrat"/>
                <a:cs typeface="Montserrat"/>
              </a:rPr>
              <a:t>Репозиторий: github.com/AnnaRazina10/lct-collector-risk</a:t>
            </a:r>
          </a:p>
        </p:txBody>
      </p:sp>
    </p:spTree>
    <p:extLst>
      <p:ext uri="{BB962C8B-B14F-4D97-AF65-F5344CB8AC3E}">
        <p14:creationId xmlns:p14="http://schemas.microsoft.com/office/powerpoint/2010/main" val="1750984224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Заголовок 2">
            <a:extLst xmlns:a="http://schemas.openxmlformats.org/drawingml/2006/main">
              <a:ext uri="{FF2B5EF4-FFF2-40B4-BE49-F238E27FC236}">
                <a16:creationId xmlns:a16="http://schemas.microsoft.com/office/drawing/2014/main" id="{2FA84A33-0C72-0932-80BA-8E3874357B7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" y="3894513"/>
            <a:ext cx="6271845" cy="170674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268288" indent="0">
              <a:buNone/>
            </a:pPr>
            <a:endParaRPr sz="4800"/>
          </a:p>
        </p:txBody>
      </p:sp>
      <p:sp>
        <p:nvSpPr>
          <p:cNvPr id="4" name="Рисунок 3">
            <a:extLst xmlns:a="http://schemas.openxmlformats.org/drawingml/2006/main">
              <a:ext uri="{FF2B5EF4-FFF2-40B4-BE49-F238E27FC236}">
                <a16:creationId xmlns:a16="http://schemas.microsoft.com/office/drawing/2014/main" id="{F88AFFF3-DF8C-2AA0-1E6F-AEE5FC354BAB}"/>
              </a:ext>
            </a:extLst>
          </p:cNvPr>
          <p:cNvSpPr>
            <a:spLocks xmlns:a="http://schemas.openxmlformats.org/drawingml/2006/main" noGrp="1"/>
          </p:cNvSpPr>
          <p:nvPr>
            <p:ph type="pic" idx="11"/>
          </p:nvPr>
        </p:nvSpPr>
        <p:spPr>
          <a:xfrm xmlns:a="http://schemas.openxmlformats.org/drawingml/2006/main">
            <a:off x="305186" y="329801"/>
            <a:ext cx="5193299" cy="1082589"/>
          </a:xfrm>
        </p:spPr>
      </p:sp>
      <p:sp>
        <p:nvSpPr>
          <p:cNvPr id="5" name="Текст 4">
            <a:extLst xmlns:a="http://schemas.openxmlformats.org/drawingml/2006/main">
              <a:ext uri="{FF2B5EF4-FFF2-40B4-BE49-F238E27FC236}">
                <a16:creationId xmlns:a16="http://schemas.microsoft.com/office/drawing/2014/main" id="{37079B28-9FB8-672E-DD52-FA978EC4A21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0" y="5659501"/>
            <a:ext cx="8930641" cy="757174"/>
          </a:xfrm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indent="268288">
              <a:buNone/>
            </a:pPr>
            <a:endParaRPr/>
          </a:p>
        </p:txBody>
      </p:sp>
      <p:sp>
        <p:nvSpPr>
          <p:cNvPr id="2" name="Скругленный прямоугольник 1">
            <a:extLst xmlns:a="http://schemas.openxmlformats.org/drawingml/2006/main">
              <a:ext uri="{FF2B5EF4-FFF2-40B4-BE49-F238E27FC236}">
                <a16:creationId xmlns:a16="http://schemas.microsoft.com/office/drawing/2014/main" id="{42AA0FBE-CF0A-64AF-80E8-EF1996F5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96709" y="-313993"/>
            <a:ext cx="6125156" cy="2285622"/>
          </a:xfrm>
          <a:prstGeom xmlns:a="http://schemas.openxmlformats.org/drawingml/2006/main" prst="roundRect">
            <a:avLst>
              <a:gd name="adj" fmla="val 9821"/>
            </a:avLst>
          </a:prstGeom>
          <a:noFill xmlns:a="http://schemas.openxmlformats.org/drawingml/2006/main"/>
          <a:ln xmlns:a="http://schemas.openxmlformats.org/drawingml/2006/main" w="9525" cmpd="sng">
            <a:solidFill>
              <a:schemeClr val="accent2"/>
            </a:solidFill>
            <a:prstDash val="solid"/>
            <a:headEnd type="none" w="med" len="med"/>
            <a:tailEnd type="none" w="med" len="me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0"/>
          <a:fontRef xmlns:a="http://schemas.openxmlformats.org/drawingml/2006/main" idx="minor">
            <a:schemeClr val="accent2"/>
          </a:fontRef>
        </p:style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buNone/>
            </a:pPr>
            <a:endParaRPr b="1">
              <a:solidFill>
                <a:schemeClr val="accent2"/>
              </a:solidFill>
            </a:endParaRP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7F504-8003-4065-8BEF-E02F2BD4E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38375"/>
            <a:ext cx="857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defRPr>
            </a:pPr>
            <a:r>
              <a:rPr sz="3450" b="1">
                <a:solidFill>
                  <a:srgbClr val="FFFFFF"/>
                </a:solidFill>
                <a:latin typeface="Montserrat Medium"/>
                <a:ea typeface="Montserrat Medium"/>
                <a:cs typeface="Montserrat Medium"/>
              </a:rPr>
              <a:t>AS · Коллектор Контроль риска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F7B4BF-23AD-4CAB-A095-6BEEEB3FD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43250"/>
            <a:ext cx="8096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F4EAFB"/>
                </a:solidFill>
                <a:latin typeface="Montserrat"/>
                <a:ea typeface="Montserrat"/>
                <a:cs typeface="Montserrat"/>
              </a:defRPr>
            </a:pPr>
            <a:r>
              <a:rPr sz="1725" b="0">
                <a:solidFill>
                  <a:srgbClr val="F4EAFB"/>
                </a:solidFill>
                <a:latin typeface="Montserrat"/>
                <a:ea typeface="Montserrat"/>
                <a:cs typeface="Montserrat"/>
              </a:rPr>
              <a:t>Первый контур показывает структуру данных, ограничения target и воспроизводимый baseline. Дальше фокус на target v2, demo API и повышении Precision/Recall.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C899D2-41DB-4BC6-A3C3-2C384E1D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483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1350" b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github.com/AnnaRazina10/lct-collector-risk</a:t>
            </a:r>
          </a:p>
        </p:txBody>
      </p:sp>
    </p:spTree>
    <p:extLst>
      <p:ext uri="{BB962C8B-B14F-4D97-AF65-F5344CB8AC3E}">
        <p14:creationId xmlns:p14="http://schemas.microsoft.com/office/powerpoint/2010/main" val="1980666044"/>
      </p:ext>
    </p:extLst>
  </p:cSld>
</p:sld>
</file>

<file path=ppt/theme/theme1.xml><?xml version="1.0" encoding="utf-8"?>
<a:theme xmlns:a="http://schemas.openxmlformats.org/drawingml/2006/main" name="Для Академия инноваторов 16_9">
  <a:themeElements>
    <a:clrScheme name="Пользовательские 2">
      <a:dk1>
        <a:srgbClr val="000000"/>
      </a:dk1>
      <a:lt1>
        <a:srgbClr val="FFFFFF"/>
      </a:lt1>
      <a:dk2>
        <a:srgbClr val="1C1D22"/>
      </a:dk2>
      <a:lt2>
        <a:srgbClr val="E5E7E9"/>
      </a:lt2>
      <a:accent1>
        <a:srgbClr val="FF0053"/>
      </a:accent1>
      <a:accent2>
        <a:srgbClr val="FFD6E3"/>
      </a:accent2>
      <a:accent3>
        <a:srgbClr val="FC3777"/>
      </a:accent3>
      <a:accent4>
        <a:srgbClr val="8A83D1"/>
      </a:accent4>
      <a:accent5>
        <a:srgbClr val="520977"/>
      </a:accent5>
      <a:accent6>
        <a:srgbClr val="2D1451"/>
      </a:accent6>
      <a:hlink>
        <a:srgbClr val="FF0053"/>
      </a:hlink>
      <a:folHlink>
        <a:srgbClr val="5D2B84"/>
      </a:folHlink>
    </a:clrScheme>
    <a:fontScheme name="Лидеры цифровой трансформации">
      <a:majorFont>
        <a:latin typeface="Montserrat"/>
        <a:ea typeface=""/>
        <a:cs typeface=""/>
      </a:majorFont>
      <a:minorFont>
        <a:latin typeface="Montserrat"/>
        <a:ea typeface=""/>
        <a:cs typeface=""/>
      </a:minorFont>
    </a:fontScheme>
    <a:fmtScheme name="Пользовательские 2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2026-09-29T17:14:25.5740000Z</dcterms:created>
  <dcterms:modified xsi:type="dcterms:W3CDTF">2026-09-29T17:14:25.5740000Z</dcterms:modified>
</coreProperties>
</file>