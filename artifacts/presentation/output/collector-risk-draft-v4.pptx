
<file path=[Content_Types].xml><?xml version="1.0" encoding="utf-8"?>
<Types xmlns="http://schemas.openxmlformats.org/package/2006/content-types">
  <Default Extension="xml" ContentType="application/xml"/>
  <Default Extension="xlsx" ContentType="application/vnd.openxmlformats-officedocument.spreadsheetml.sheet"/>
  <Default Extension="rels" ContentType="application/vnd.openxmlformats-package.relationships+xml"/>
  <Default Extension="jpeg" ContentType="image/jpeg"/>
  <Default Extension="png" ContentType="image/png"/>
  <Default Extension="bin" ContentType="application/vnd.openxmlformats-officedocument.oleObject"/>
  <Default Extension="wmf" ContentType="image/x-wmf"/>
  <Override PartName="/ppt/slideLayouts/slideLayout2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Layouts/slideLayout23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6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s/slide11.xml" ContentType="application/vnd.openxmlformats-officedocument.presentationml.slide+xml"/>
  <Override PartName="/ppt/authored/ppt/slideMasters/slideMaster1.xml" ContentType="application/vnd.openxmlformats-officedocument.presentationml.slideMaster+xml"/>
  <Override PartName="/ppt/authored/ppt/slideMasters/theme/theme2.xml" ContentType="application/vnd.openxmlformats-officedocument.theme+xml"/>
  <Override PartName="/ppt/authored/ppt/slideLayouts/slideLayout1.xml" ContentType="application/vnd.openxmlformats-officedocument.presentationml.slideLayout+xml"/>
  <Override PartName="/ppt/authored/ppt/notesMasters/notesMaster1.xml" ContentType="application/vnd.openxmlformats-officedocument.presentationml.notesMaster+xml"/>
  <Override PartName="/ppt/authored/ppt/notesMasters/theme/theme3.xml" ContentType="application/vnd.openxmlformats-officedocument.theme+xml"/>
  <Override PartName="/ppt/slides/slide1.xml" ContentType="application/vnd.openxmlformats-officedocument.presentationml.slide+xml"/>
  <Override PartName="/ppt/authored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authored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authored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authored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authored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authored/ppt/notesSlides/notesSlide6.xml" ContentType="application/vnd.openxmlformats-officedocument.presentationml.notesSlide+xml"/>
  <Override PartName="/ppt/slides/slide12.xml" ContentType="application/vnd.openxmlformats-officedocument.presentationml.slide+xml"/>
  <Override PartName="/ppt/authored/ppt/notesSlides/notesSlide7.xml" ContentType="application/vnd.openxmlformats-officedocument.presentationml.notesSlide+xml"/>
  <Override PartName="/ppt/slides/slide13.xml" ContentType="application/vnd.openxmlformats-officedocument.presentationml.slide+xml"/>
  <Override PartName="/ppt/authored/ppt/notesSlides/notesSlide8.xml" ContentType="application/vnd.openxmlformats-officedocument.presentationml.notesSlide+xml"/>
  <Override PartName="/ppt/slides/slide14.xml" ContentType="application/vnd.openxmlformats-officedocument.presentationml.slide+xml"/>
  <Override PartName="/ppt/authored/ppt/notesSlides/notesSlide9.xml" ContentType="application/vnd.openxmlformats-officedocument.presentationml.notesSlide+xml"/>
  <Override PartName="/ppt/slides/slide15.xml" ContentType="application/vnd.openxmlformats-officedocument.presentationml.slide+xml"/>
  <Override PartName="/ppt/authored/ppt/notesSlides/notesSlide10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  <p:sldMasterId r:id="rAuthoredslideMaster22" id="2147483650"/>
  </p:sldMasterIdLst>
  <p:notesMasterIdLst>
    <p:notesMasterId r:id="rId41"/>
    <p:notesMasterId r:id="rAuthorednotesMaster23"/>
  </p:notesMasterIdLst>
  <p:sldIdLst>
    <p:sldId id="1001" r:id="rDeckSlide1"/>
    <p:sldId id="1002" r:id="rDeckSlide2"/>
    <p:sldId id="1003" r:id="rDeckSlide3"/>
    <p:sldId id="1004" r:id="rDeckSlide4"/>
    <p:sldId id="1005" r:id="rDeckSlide5"/>
    <p:sldId id="1006" r:id="rDeckSlide6"/>
    <p:sldId id="1007" r:id="rDeckSlide7"/>
    <p:sldId id="1008" r:id="rDeckSlide8"/>
    <p:sldId id="1009" r:id="rDeckSlide9"/>
    <p:sldId id="1010" r:id="rDeckSlide10"/>
    <p:sldId id="1011" r:id="rDeckSlide11"/>
    <p:sldId id="1012" r:id="rDeckSlide12"/>
    <p:sldId id="1013" r:id="rDeckSlide13"/>
    <p:sldId id="1014" r:id="rDeckSlide14"/>
    <p:sldId id="1015" r:id="rDeckSlide15"/>
  </p:sldIdLst>
  <p:sldSz cx="12192000" cy="6858000"/>
  <p:notesSz cx="6858000" cy="9144000"/>
  <p:defaultTextStyle>
    <a:defPPr>
      <a:defRPr lang="ru-RU"/>
    </a:defPPr>
    <a:lvl1pPr marL="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tableStyles" Target="tableStyles.xml"/><Relationship Id="rId44" Type="http://schemas.openxmlformats.org/officeDocument/2006/relationships/viewProps" Target="viewProps.xml"/><Relationship Id="rDeckSlide1" Type="http://schemas.openxmlformats.org/officeDocument/2006/relationships/slide" Target="slides/slide1.xml"/><Relationship Id="rDeckSlide2" Type="http://schemas.openxmlformats.org/officeDocument/2006/relationships/slide" Target="slides/slide2.xml"/><Relationship Id="rDeckSlide3" Type="http://schemas.openxmlformats.org/officeDocument/2006/relationships/slide" Target="slides/slide3.xml"/><Relationship Id="rDeckSlide4" Type="http://schemas.openxmlformats.org/officeDocument/2006/relationships/slide" Target="slides/slide4.xml"/><Relationship Id="rDeckSlide5" Type="http://schemas.openxmlformats.org/officeDocument/2006/relationships/slide" Target="slides/slide5.xml"/><Relationship Id="rDeckSlide6" Type="http://schemas.openxmlformats.org/officeDocument/2006/relationships/slide" Target="slides/slide6.xml"/><Relationship Id="rDeckSlide7" Type="http://schemas.openxmlformats.org/officeDocument/2006/relationships/slide" Target="slides/slide7.xml"/><Relationship Id="rDeckSlide8" Type="http://schemas.openxmlformats.org/officeDocument/2006/relationships/slide" Target="slides/slide8.xml"/><Relationship Id="rDeckSlide9" Type="http://schemas.openxmlformats.org/officeDocument/2006/relationships/slide" Target="slides/slide9.xml"/><Relationship Id="rDeckSlide10" Type="http://schemas.openxmlformats.org/officeDocument/2006/relationships/slide" Target="slides/slide10.xml"/><Relationship Id="rDeckSlide11" Type="http://schemas.openxmlformats.org/officeDocument/2006/relationships/slide" Target="slides/slide11.xml"/><Relationship Id="rDeckSlide12" Type="http://schemas.openxmlformats.org/officeDocument/2006/relationships/slide" Target="slides/slide12.xml"/><Relationship Id="rDeckSlide13" Type="http://schemas.openxmlformats.org/officeDocument/2006/relationships/slide" Target="slides/slide13.xml"/><Relationship Id="rDeckSlide14" Type="http://schemas.openxmlformats.org/officeDocument/2006/relationships/slide" Target="slides/slide14.xml"/><Relationship Id="rDeckSlide15" Type="http://schemas.openxmlformats.org/officeDocument/2006/relationships/slide" Target="slides/slide15.xml"/><Relationship Id="rAuthoredslideMaster22" Type="http://schemas.openxmlformats.org/officeDocument/2006/relationships/slideMaster" Target="authored/ppt/slideMasters/slideMaster1.xml"/><Relationship Id="rAuthorednotesMaster23" Type="http://schemas.openxmlformats.org/officeDocument/2006/relationships/notesMaster" Target="authored/ppt/notesMasters/notesMaster1.xml"/></Relationships>
</file>

<file path=ppt/authored/ppt/notesMasters/_rels/notesMaster1.xml.rels><?xml version='1.0' encoding='UTF-8' standalone='yes'?>
<Relationships xmlns="http://schemas.openxmlformats.org/package/2006/relationships"><Relationship Type="http://schemas.openxmlformats.org/officeDocument/2006/relationships/theme" Target="theme/theme3.xml" Id="Rc0e36c47736e43e9"/></Relationships>
</file>

<file path=ppt/authored/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authored/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authored/ppt/notesSlides/_rels/notesSlide1.xml.rels><?xml version='1.0' encoding='UTF-8' standalone='yes'?>
<Relationships xmlns="http://schemas.openxmlformats.org/package/2006/relationships"><Relationship Type="http://schemas.openxmlformats.org/officeDocument/2006/relationships/slide" Target="../../../slides/slide1.xml" Id="Recd2cfe7326f4dbf"/><Relationship Type="http://schemas.openxmlformats.org/officeDocument/2006/relationships/notesMaster" Target="../notesMasters/notesMaster1.xml" Id="R9f7d01206a344d97"/></Relationships>
</file>

<file path=ppt/authored/ppt/notesSlides/_rels/notesSlide2.xml.rels><?xml version='1.0' encoding='UTF-8' standalone='yes'?>
<Relationships xmlns="http://schemas.openxmlformats.org/package/2006/relationships"><Relationship Type="http://schemas.openxmlformats.org/officeDocument/2006/relationships/slide" Target="../../../slides/slide2.xml" Id="Rc5efffa20faf4f20"/><Relationship Type="http://schemas.openxmlformats.org/officeDocument/2006/relationships/notesMaster" Target="../notesMasters/notesMaster1.xml" Id="R120faf6b0c9443cc"/></Relationships>
</file>

<file path=ppt/authored/ppt/notesSlides/_rels/notesSlide3.xml.rels><?xml version='1.0' encoding='UTF-8' standalone='yes'?>
<Relationships xmlns="http://schemas.openxmlformats.org/package/2006/relationships"><Relationship Type="http://schemas.openxmlformats.org/officeDocument/2006/relationships/slide" Target="../../../slides/slide3.xml" Id="R1b3e518bc4624a06"/><Relationship Type="http://schemas.openxmlformats.org/officeDocument/2006/relationships/notesMaster" Target="../notesMasters/notesMaster1.xml" Id="Rccf5db2ec9aa49fd"/></Relationships>
</file>

<file path=ppt/authored/ppt/notesSlides/_rels/notesSlide4.xml.rels><?xml version='1.0' encoding='UTF-8' standalone='yes'?>
<Relationships xmlns="http://schemas.openxmlformats.org/package/2006/relationships"><Relationship Type="http://schemas.openxmlformats.org/officeDocument/2006/relationships/slide" Target="../../../slides/slide4.xml" Id="R88a20d382bb44a3b"/><Relationship Type="http://schemas.openxmlformats.org/officeDocument/2006/relationships/notesMaster" Target="../notesMasters/notesMaster1.xml" Id="R5e4c6dd904054c70"/></Relationships>
</file>

<file path=ppt/authored/ppt/notesSlides/_rels/notesSlide5.xml.rels><?xml version='1.0' encoding='UTF-8' standalone='yes'?>
<Relationships xmlns="http://schemas.openxmlformats.org/package/2006/relationships"><Relationship Type="http://schemas.openxmlformats.org/officeDocument/2006/relationships/slide" Target="../../../slides/slide5.xml" Id="Re7c1a067d7494205"/><Relationship Type="http://schemas.openxmlformats.org/officeDocument/2006/relationships/notesMaster" Target="../notesMasters/notesMaster1.xml" Id="Recd6ed9468ad49bb"/></Relationships>
</file>

<file path=ppt/authored/ppt/notesSlides/_rels/notesSlide6.xml.rels><?xml version='1.0' encoding='UTF-8' standalone='yes'?>
<Relationships xmlns="http://schemas.openxmlformats.org/package/2006/relationships"><Relationship Type="http://schemas.openxmlformats.org/officeDocument/2006/relationships/slide" Target="../../../slides/slide6.xml" Id="R1a86756c93014e2d"/><Relationship Type="http://schemas.openxmlformats.org/officeDocument/2006/relationships/notesMaster" Target="../notesMasters/notesMaster1.xml" Id="R560c5c4b79bd4901"/></Relationships>
</file>

<file path=ppt/authored/ppt/notesSlides/_rels/notesSlide7.xml.rels><?xml version='1.0' encoding='UTF-8' standalone='yes'?>
<Relationships xmlns="http://schemas.openxmlformats.org/package/2006/relationships"><Relationship Type="http://schemas.openxmlformats.org/officeDocument/2006/relationships/slide" Target="../../../slides/slide12.xml" Id="Rf11541e2b40a40a5"/><Relationship Type="http://schemas.openxmlformats.org/officeDocument/2006/relationships/notesMaster" Target="../notesMasters/notesMaster1.xml" Id="Rac7a835a2b224426"/></Relationships>
</file>

<file path=ppt/authored/ppt/notesSlides/_rels/notesSlide8.xml.rels><?xml version='1.0' encoding='UTF-8' standalone='yes'?>
<Relationships xmlns="http://schemas.openxmlformats.org/package/2006/relationships"><Relationship Type="http://schemas.openxmlformats.org/officeDocument/2006/relationships/slide" Target="../../../slides/slide13.xml" Id="R0fa25c13b45148ba"/><Relationship Type="http://schemas.openxmlformats.org/officeDocument/2006/relationships/notesMaster" Target="../notesMasters/notesMaster1.xml" Id="Rc84b503bfc2d4ed2"/></Relationships>
</file>

<file path=ppt/authored/ppt/notesSlides/_rels/notesSlide9.xml.rels><?xml version='1.0' encoding='UTF-8' standalone='yes'?>
<Relationships xmlns="http://schemas.openxmlformats.org/package/2006/relationships"><Relationship Type="http://schemas.openxmlformats.org/officeDocument/2006/relationships/slide" Target="../../../slides/slide14.xml" Id="R83f815d8b0ed4ce0"/><Relationship Type="http://schemas.openxmlformats.org/officeDocument/2006/relationships/notesMaster" Target="../notesMasters/notesMaster1.xml" Id="R01c9c938110343c0"/></Relationships>
</file>

<file path=ppt/authored/ppt/notesSlides/_rels/notesSlide10.xml.rels><?xml version='1.0' encoding='UTF-8' standalone='yes'?>
<Relationships xmlns="http://schemas.openxmlformats.org/package/2006/relationships"><Relationship Type="http://schemas.openxmlformats.org/officeDocument/2006/relationships/slide" Target="../../../slides/slide15.xml" Id="R0ae4b5b63e3443ba"/><Relationship Type="http://schemas.openxmlformats.org/officeDocument/2006/relationships/notesMaster" Target="../notesMasters/notesMaster1.xml" Id="R641585aecd6f4aa6"/></Relationships>
</file>

<file path=ppt/authored/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docs/materials/8. ДЖКХ.pdf; reports/object_forward_check/report.md; reports/object_onset_experiment/report.md. Название продукта взято из репозитория, название команды не предоставлено. Версия v4.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reports/object_onset_experiment/protocol.md; docs/onset_demo.md; reports/object_forward_check/report.md. D+1 при выпуске неизвестен. Нулевые записи не означают физическую исправность. Дневной горизонт в московском времени.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reports/eda/eda_report.md; reports/eda/tables/year_summary.csv; reports/object_forward_check/report.md. Полный анализ всех 8 архивов. Объектные модели не обучались на всех 8 годах.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reports/object_forward_check/metrics.csv и report.md. Прежняя модель демонстрации, 14 040 объект-дней, 78 объектов, 4 203 положительных исхода. Порог0.334523 выбран на октябре–ноябре2025. 4400 предупреждений, TP2504/FP1896. Контроль НЕ является refit-контролем с бюджетом10 на слайдах5/13. Журналы2026 ранее исследовали.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reports/object_onset_experiment/report.md, evaluation_metrics.csv, uncertainty.json, protocol.md. Сравнение selected hurdle_15 и any_alarm_refit, цель onset gap1. 14040 объект-дней,2000начал,180дней,по1800предупреждений. TP435/316,P435/1800 и316/1800,R435/2000 и316/2000. Относительный прирост119/316=37.66%. Парный недельныйbootstrap1000/27недель, CI deltaP[0.05222043010752688,0.08136072437449555]. Период2026 не слепой.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reports/object_statistical_candidate/tuning.csv; reports/object_sequence_candidate/report.md; reports/object_combined/report.md,test_metrics.csv,daily_budget.csv. Таблица:any-alarm target,AP на4602строкахOct-Nov2025. Смесь:2026,оба компонента сопоставимо дообучены. Отдельный onset-эксперимент проверил8кандидатов+3смеси,выбранhurdle15.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data/app/recommendations_deck_viewport.jpg, полный снимок реального браузера http://127.0.0.1:8783/, снят 29.09.2026. Кадрирование внутри PPTX: x644,y248,width520,height331 из1265×712, весь блок рекомендаций. Объект4767,run_id=onset_2026-06-28_0f97f74f589ee7b9. 3из13каналов,4днятревогзанеделю. Правила1.0.0 применены сейчас к архиву. reports/recommendations/independent_review.md:1981проверка,6выпусков/468карточек. reports/recommendations/http_restart.json: сохранённые рекомендации пережили HTTP-перезапуск. Рекомендации информационные, ремонт не назначают.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Источники:reports/object_onset_experiment/report.md,observability.csv,evaluation_metrics.csv,independent_review.json. При1800warnings any_alarm_refit TPany1292/1800=.717778 и selected768/1800=.426667. Нет тревоги508/1032. После отсутствия записей наD+1 охвачено110vs35,чистый прирост75из119. НаблюдаемостьD+1 только диагностическая,недоступнапривыдаче.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reports/object_onset_backtest/report.md,evaluation_metrics.csv,observability.csv,independent_review.md,raw2023_count_check.json,raw2024_count_check.json. 74объекта,13394объект-дня,1725начал,181день,1810предупрежденийкаждого. Контроль293/1810=.161878,частота358/1810=.197790,hurdle414/1810=.228729. Recall=.169855,.207536,.24. Любая тревога:1263,783,743 соответственно. Безлюбойтревоги547,1027,1067. +56кчастоте(15.64%),+121кконтролю(41.3%). Противконтроля93из121чистогоприроста послеD+1беззаписей(135vs42). Противчастотывэтойстрате-25(135vs160),приналичиизаписей+81(279vs198),такчтовесьвыигрышневозобновлениерегистрации. Будущаянаблюдаемостьтолькопоследующийанализ. Популяцияпоисториидо28.09.2023. Trainдо28.09.2023,выборчисладеревьевOct-Nov2023,refitдо28.11.2023,gateDec2023:68vs49при290предупреждениях. Метод/гиперпараметрызамороженыдооценки2024,носемействовыбраноизпозднихисследований. 2024неblind,справочниктекущий,arrivalunknown. Независимо80,961,008rawстрок2023/24,ключии11используемыхсчётчиковсовпали,непроверканеиспользуемыхагрегатов.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Источники: reports/submission_readiness/final_bundle_v3.md/.json; reports/runtime_comparison/report.md; reports/runtime_comparison/full_tests.log; docs/automatic_backup.md; docs/readiness_audit.md. Вv3ZIPиз764d31a3копии,restoreновыйфайл,отдельныйHTTPчитаетточныйжурналсTESTfeedback/ticket+2recommendationsnapshots,6payloads/468cards,170отдельныхacceptanceassertions. Отдельные170Pythonunit-tests. Нагрузка:19200запросов0ошибок,одинUvicorn/SQLiteDELETE,read/mixed,1/20clients,2повтораAB/BA,4–12сек/серию. Числаp95среднее2метрик,неpooledp95.20клиентовчтение311.051до116.602мс,смешанный756.556до376.116мс,p50вырос31.972до73.802и56.811до104.349. 20конкурентныхопераций,несценариевпользователей. No-degradationнеподтверждено,inferenceнеизмерялсявэтомтесте. ЛокальнаяmacOS,неLinux/HA,автозапуска/удалённогохранилищанет. Пилотбудущий,денежныйэффектнеизмерен. Дополнительно погода проверена:reports/weather_probe/report.md,общийфонМосквыERA5лаг7дней,AP.6266до.6271наOct-Nov2025,F1безизменений,историческиедатыдоступностиревизийнеподтверждены.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authored/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slideMaster1.xml" Id="Rd33c82123dc049bd"/></Relationships>
</file>

<file path=ppt/authored/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authored/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theme/theme2.xml" Id="Rc92e2cf6f0e945c5"/><Relationship Type="http://schemas.openxmlformats.org/officeDocument/2006/relationships/slideLayout" Target="../slideLayouts/slideLayout1.xml" Id="Rac44a54ff5604c47"/></Relationships>
</file>

<file path=ppt/authored/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44a54ff5604c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authored/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812951" name="Верхний колонтитул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776178070" name="Дата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DA401BA-3150-4FF7-8D13-C8A64268AC63}" type="datetimeFigureOut">
              <a:rPr lang="ru-RU"/>
              <a:t>14.09.2026</a:t>
            </a:fld>
            <a:endParaRPr lang="ru-RU"/>
          </a:p>
        </p:txBody>
      </p:sp>
      <p:sp>
        <p:nvSpPr>
          <p:cNvPr id="1008376219" name="Образ слайда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657332147" name="Заметки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161909993" name="Нижний колонтитул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32077215" name="Номер слайда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D5F3B14-7AC8-406F-A299-37D374056E4F}" type="slidenum">
              <a:rPr lang="ru-RU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4A0333-DA6B-BAA6-F9EA-5D8AC4D62B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9B8682-549C-E1BB-F508-D1525C1FC77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444576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2661015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 lang="ru-RU"/>
          </a:p>
        </p:txBody>
      </p:sp>
      <p:sp>
        <p:nvSpPr>
          <p:cNvPr id="120362608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8542127" name="Образ слайда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156749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 lang="ru-RU"/>
          </a:p>
        </p:txBody>
      </p:sp>
      <p:sp>
        <p:nvSpPr>
          <p:cNvPr id="959428012" name="Номер слайда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3D5F3B14-7AC8-406F-A299-37D374056E4F}" type="slidenum">
              <a:rPr lang="ru-RU"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Источники: reports/object_forward_check/report.md, reports/object_sequence_candidate/report.md, docs/materials/8. ДЖКХ.pdf. Сведения о составе и истории команды не предоставлены. Геометрия обязательного слайда сохранена из оригинала.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299260-C65D-4A5C-3C37-B22449FEC14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Титульный слайд">
    <p:bg>
      <p:bgPr shadeToTitle="0">
        <a:blipFill rotWithShape="1"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3682889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Иконка задачи</a:t>
            </a:r>
            <a:endParaRPr/>
          </a:p>
        </p:txBody>
      </p:sp>
      <p:sp>
        <p:nvSpPr>
          <p:cNvPr id="880295750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0" y="4323440"/>
            <a:ext cx="8930641" cy="827011"/>
          </a:xfrm>
          <a:prstGeom prst="rect">
            <a:avLst/>
          </a:prstGeo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КОМАНДЫ</a:t>
            </a:r>
            <a:endParaRPr/>
          </a:p>
        </p:txBody>
      </p:sp>
      <p:sp>
        <p:nvSpPr>
          <p:cNvPr id="401620835" name="Рисунок 41"/>
          <p:cNvSpPr>
            <a:spLocks noGrp="1"/>
          </p:cNvSpPr>
          <p:nvPr>
            <p:ph type="pic" sz="quarter" idx="11" hasCustomPrompt="1"/>
          </p:nvPr>
        </p:nvSpPr>
        <p:spPr bwMode="auto"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Логотип/логотипы постановщика задачи</a:t>
            </a:r>
            <a:endParaRPr/>
          </a:p>
        </p:txBody>
      </p:sp>
      <p:sp>
        <p:nvSpPr>
          <p:cNvPr id="602869623" name="Текст 4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0" y="5149851"/>
            <a:ext cx="8930641" cy="757174"/>
          </a:xfrm>
          <a:prstGeom prst="rect">
            <a:avLst/>
          </a:prstGeo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pPr>
              <a:defRPr/>
            </a:pPr>
            <a:r>
              <a:rPr lang="ru-RU" sz="1600" b="0"/>
              <a:t>Номер и название задачи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Описание команд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076004" name="Рисунок 10"/>
          <p:cNvSpPr>
            <a:spLocks noGrp="1"/>
          </p:cNvSpPr>
          <p:nvPr>
            <p:ph type="pic" sz="quarter" idx="10" hasCustomPrompt="1"/>
          </p:nvPr>
        </p:nvSpPr>
        <p:spPr bwMode="auto"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Фото команды</a:t>
            </a:r>
            <a:endParaRPr/>
          </a:p>
        </p:txBody>
      </p:sp>
      <p:sp>
        <p:nvSpPr>
          <p:cNvPr id="1666356196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Команд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22378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67EB9651-F031-4963-AFE9-33BCC0E88757}" type="datetime1">
              <a:rPr lang="ru-RU"/>
              <a:t>16.09.2026</a:t>
            </a:fld>
            <a:endParaRPr lang="ru-RU"/>
          </a:p>
        </p:txBody>
      </p:sp>
      <p:sp>
        <p:nvSpPr>
          <p:cNvPr id="104878655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93809064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4</a:t>
            </a:fld>
            <a:endParaRPr lang="ru-RU"/>
          </a:p>
        </p:txBody>
      </p:sp>
      <p:sp>
        <p:nvSpPr>
          <p:cNvPr id="192736678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КОМАНДА «НАЗВАНИЕ»</a:t>
            </a:r>
            <a:endParaRPr/>
          </a:p>
        </p:txBody>
      </p:sp>
      <p:sp>
        <p:nvSpPr>
          <p:cNvPr id="1795973529" name="Текст 35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913937985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11548332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2000063644" name="Текст 35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  <p:sp>
        <p:nvSpPr>
          <p:cNvPr id="660029963" name="Текст 35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>
            <a:pPr lvl="0">
              <a:defRPr/>
            </a:pPr>
            <a:r>
              <a:rPr lang="ru-RU"/>
              <a:t>Роль в команде</a:t>
            </a:r>
            <a:endParaRPr/>
          </a:p>
          <a:p>
            <a:pPr lvl="0">
              <a:defRPr/>
            </a:pPr>
            <a:r>
              <a:rPr lang="en-US"/>
              <a:t>Telegram</a:t>
            </a:r>
            <a:endParaRPr/>
          </a:p>
          <a:p>
            <a:pPr lvl="0">
              <a:defRPr/>
            </a:pPr>
            <a:r>
              <a:rPr lang="ru-RU"/>
              <a:t>Номер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стой с заголовком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85602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1021F813-DBA1-42EC-A748-A9CC16659E6B}" type="datetime1">
              <a:rPr lang="ru-RU"/>
              <a:t>16.09.2026</a:t>
            </a:fld>
            <a:endParaRPr lang="ru-RU"/>
          </a:p>
        </p:txBody>
      </p:sp>
      <p:sp>
        <p:nvSpPr>
          <p:cNvPr id="11232564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745183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5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669326" name="Текст 2"/>
          <p:cNvSpPr>
            <a:spLocks noGrp="1"/>
          </p:cNvSpPr>
          <p:nvPr>
            <p:ph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712371166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7DE2642A-6018-4CC1-81AB-5FD8D2782D4F}" type="datetime1">
              <a:rPr lang="ru-RU"/>
              <a:t>16.09.2026</a:t>
            </a:fld>
            <a:endParaRPr lang="ru-RU"/>
          </a:p>
        </p:txBody>
      </p:sp>
      <p:sp>
        <p:nvSpPr>
          <p:cNvPr id="185866539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10582817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454463469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536032" name="Объект 2"/>
          <p:cNvSpPr>
            <a:spLocks noGrp="1"/>
          </p:cNvSpPr>
          <p:nvPr>
            <p:ph sz="half" idx="1"/>
          </p:nvPr>
        </p:nvSpPr>
        <p:spPr bwMode="auto">
          <a:xfrm>
            <a:off x="315387" y="1016001"/>
            <a:ext cx="5704418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042926064" name="Объект 3"/>
          <p:cNvSpPr>
            <a:spLocks noGrp="1"/>
          </p:cNvSpPr>
          <p:nvPr>
            <p:ph sz="half" idx="2"/>
          </p:nvPr>
        </p:nvSpPr>
        <p:spPr bwMode="auto">
          <a:xfrm>
            <a:off x="6172206" y="1016001"/>
            <a:ext cx="5670472" cy="5184774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889770961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3014BBE-C503-4380-A869-5EE8294FE947}" type="datetime1">
              <a:rPr lang="ru-RU"/>
              <a:t>16.09.2026</a:t>
            </a:fld>
            <a:endParaRPr lang="ru-RU"/>
          </a:p>
        </p:txBody>
      </p:sp>
      <p:sp>
        <p:nvSpPr>
          <p:cNvPr id="121339198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3777490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91928755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8555898" name="Текст 2"/>
          <p:cNvSpPr>
            <a:spLocks noGrp="1"/>
          </p:cNvSpPr>
          <p:nvPr>
            <p:ph type="body" idx="1"/>
          </p:nvPr>
        </p:nvSpPr>
        <p:spPr bwMode="auto"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7223496" name="Объект 3"/>
          <p:cNvSpPr>
            <a:spLocks noGrp="1"/>
          </p:cNvSpPr>
          <p:nvPr>
            <p:ph sz="half" idx="2"/>
          </p:nvPr>
        </p:nvSpPr>
        <p:spPr bwMode="auto">
          <a:xfrm>
            <a:off x="349334" y="1598615"/>
            <a:ext cx="5648250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ru-RU"/>
          </a:p>
        </p:txBody>
      </p:sp>
      <p:sp>
        <p:nvSpPr>
          <p:cNvPr id="731636676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50" b="1"/>
            </a:lvl2pPr>
            <a:lvl3pPr marL="578755" indent="0">
              <a:buNone/>
              <a:defRPr sz="1150" b="1"/>
            </a:lvl3pPr>
            <a:lvl4pPr marL="868132" indent="0">
              <a:buNone/>
              <a:defRPr sz="1000" b="1"/>
            </a:lvl4pPr>
            <a:lvl5pPr marL="1157510" indent="0">
              <a:buNone/>
              <a:defRPr sz="1000" b="1"/>
            </a:lvl5pPr>
            <a:lvl6pPr marL="1446887" indent="0">
              <a:buNone/>
              <a:defRPr sz="1000" b="1"/>
            </a:lvl6pPr>
            <a:lvl7pPr marL="1736266" indent="0">
              <a:buNone/>
              <a:defRPr sz="1000" b="1"/>
            </a:lvl7pPr>
            <a:lvl8pPr marL="2025644" indent="0">
              <a:buNone/>
              <a:defRPr sz="1000" b="1"/>
            </a:lvl8pPr>
            <a:lvl9pPr marL="2315021" indent="0">
              <a:buNone/>
              <a:defRPr sz="10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91712141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72202" y="1598615"/>
            <a:ext cx="5670472" cy="46021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72805432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D568497-304A-497F-ADAE-97D3CF462C1C}" type="datetime1">
              <a:rPr lang="ru-RU"/>
              <a:t>16.09.2026</a:t>
            </a:fld>
            <a:endParaRPr lang="ru-RU"/>
          </a:p>
        </p:txBody>
      </p:sp>
      <p:sp>
        <p:nvSpPr>
          <p:cNvPr id="657734324" name="Нижний колонтитул 4"/>
          <p:cNvSpPr>
            <a:spLocks noGrp="1"/>
          </p:cNvSpPr>
          <p:nvPr>
            <p:ph type="ftr" sz="quarter" idx="11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41445009" name="Номер слайда 5"/>
          <p:cNvSpPr>
            <a:spLocks noGrp="1"/>
          </p:cNvSpPr>
          <p:nvPr>
            <p:ph type="sldNum" sz="quarter" idx="12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91046477" name="Заголовок 1"/>
          <p:cNvSpPr>
            <a:spLocks noGrp="1"/>
          </p:cNvSpPr>
          <p:nvPr>
            <p:ph type="title"/>
          </p:nvPr>
        </p:nvSpPr>
        <p:spPr bwMode="auto"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2139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2CB240C-04A3-49D4-83F9-87A9C6C414DC}" type="datetime1">
              <a:rPr lang="ru-RU"/>
              <a:t>16.09.2026</a:t>
            </a:fld>
            <a:endParaRPr lang="ru-RU"/>
          </a:p>
        </p:txBody>
      </p:sp>
      <p:sp>
        <p:nvSpPr>
          <p:cNvPr id="14842797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48618675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1850110" name="Заголовок 1"/>
          <p:cNvSpPr>
            <a:spLocks noGrp="1"/>
          </p:cNvSpPr>
          <p:nvPr>
            <p:ph type="title" hasCustomPrompt="1"/>
          </p:nvPr>
        </p:nvSpPr>
        <p:spPr bwMode="auto"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75281028" name="Объект 2"/>
          <p:cNvSpPr>
            <a:spLocks noGrp="1"/>
          </p:cNvSpPr>
          <p:nvPr>
            <p:ph idx="1"/>
          </p:nvPr>
        </p:nvSpPr>
        <p:spPr bwMode="auto"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50"/>
            </a:lvl1pPr>
            <a:lvl2pPr>
              <a:defRPr sz="1500"/>
            </a:lvl2pPr>
            <a:lvl3pPr>
              <a:defRPr sz="1250"/>
            </a:lvl3pPr>
            <a:lvl4pPr>
              <a:defRPr sz="1150"/>
            </a:lvl4pPr>
            <a:lvl5pPr>
              <a:defRPr sz="1150"/>
            </a:lvl5pPr>
            <a:lvl6pPr>
              <a:defRPr sz="1250"/>
            </a:lvl6pPr>
            <a:lvl7pPr>
              <a:defRPr sz="1250"/>
            </a:lvl7pPr>
            <a:lvl8pPr>
              <a:defRPr sz="1250"/>
            </a:lvl8pPr>
            <a:lvl9pPr>
              <a:defRPr sz="12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896366570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900"/>
            </a:lvl2pPr>
            <a:lvl3pPr marL="578755" indent="0">
              <a:buNone/>
              <a:defRPr sz="750"/>
            </a:lvl3pPr>
            <a:lvl4pPr marL="868132" indent="0">
              <a:buNone/>
              <a:defRPr sz="650"/>
            </a:lvl4pPr>
            <a:lvl5pPr marL="1157510" indent="0">
              <a:buNone/>
              <a:defRPr sz="650"/>
            </a:lvl5pPr>
            <a:lvl6pPr marL="1446887" indent="0">
              <a:buNone/>
              <a:defRPr sz="650"/>
            </a:lvl6pPr>
            <a:lvl7pPr marL="1736266" indent="0">
              <a:buNone/>
              <a:defRPr sz="650"/>
            </a:lvl7pPr>
            <a:lvl8pPr marL="2025644" indent="0">
              <a:buNone/>
              <a:defRPr sz="650"/>
            </a:lvl8pPr>
            <a:lvl9pPr marL="2315021" indent="0">
              <a:buNone/>
              <a:defRPr sz="65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611987" name="Дата 3"/>
          <p:cNvSpPr>
            <a:spLocks noGrp="1"/>
          </p:cNvSpPr>
          <p:nvPr>
            <p:ph type="dt" sz="half" idx="10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E74468B-3512-454B-AB51-7AE95604D39E}" type="datetime1">
              <a:rPr lang="ru-RU"/>
              <a:t>16.09.2026</a:t>
            </a:fld>
            <a:endParaRPr lang="ru-RU"/>
          </a:p>
        </p:txBody>
      </p:sp>
      <p:sp>
        <p:nvSpPr>
          <p:cNvPr id="155615248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1458955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801652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BAB2196-A440-4E25-B9FF-D0ADB01B1A15}" type="datetime1">
              <a:rPr lang="ru-RU"/>
              <a:t>16.09.2026</a:t>
            </a:fld>
            <a:endParaRPr lang="ru-RU"/>
          </a:p>
        </p:txBody>
      </p:sp>
      <p:sp>
        <p:nvSpPr>
          <p:cNvPr id="2075348248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519872225" name="Заголовок 1"/>
          <p:cNvSpPr>
            <a:spLocks noGrp="1"/>
          </p:cNvSpPr>
          <p:nvPr>
            <p:ph type="ctrTitle" hasCustomPrompt="1"/>
          </p:nvPr>
        </p:nvSpPr>
        <p:spPr bwMode="auto"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6834576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1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одержание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1270877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7BAE699-64F9-49EF-B784-2DEF2B221955}" type="datetime1">
              <a:rPr lang="ru-RU"/>
              <a:t>16.09.2026</a:t>
            </a:fld>
            <a:endParaRPr lang="ru-RU"/>
          </a:p>
        </p:txBody>
      </p:sp>
      <p:sp>
        <p:nvSpPr>
          <p:cNvPr id="1950419902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000584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792380901" name="Текст 6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874422937" name="Текст 9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94822356" name="Текст 6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269095115" name="Текст 9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530970" name="Текст 6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926454970" name="Текст 9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069797757" name="Текст 6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1635738940" name="Текст 9"/>
          <p:cNvSpPr>
            <a:spLocks noGrp="1"/>
          </p:cNvSpPr>
          <p:nvPr>
            <p:ph type="body" sz="quarter" idx="44" hasCustomPrompt="1"/>
          </p:nvPr>
        </p:nvSpPr>
        <p:spPr bwMode="auto"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476364177" name="Текст 6"/>
          <p:cNvSpPr>
            <a:spLocks noGrp="1"/>
          </p:cNvSpPr>
          <p:nvPr>
            <p:ph type="body" sz="quarter" idx="45" hasCustomPrompt="1"/>
          </p:nvPr>
        </p:nvSpPr>
        <p:spPr bwMode="auto"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458554842" name="Текст 9"/>
          <p:cNvSpPr>
            <a:spLocks noGrp="1"/>
          </p:cNvSpPr>
          <p:nvPr>
            <p:ph type="body" sz="quarter" idx="46" hasCustomPrompt="1"/>
          </p:nvPr>
        </p:nvSpPr>
        <p:spPr bwMode="auto"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682611309" name="Текст 6"/>
          <p:cNvSpPr>
            <a:spLocks noGrp="1"/>
          </p:cNvSpPr>
          <p:nvPr>
            <p:ph type="body" sz="quarter" idx="47" hasCustomPrompt="1"/>
          </p:nvPr>
        </p:nvSpPr>
        <p:spPr bwMode="auto"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</a:t>
            </a:r>
            <a:endParaRPr/>
          </a:p>
        </p:txBody>
      </p:sp>
      <p:sp>
        <p:nvSpPr>
          <p:cNvPr id="680188690" name="Текст 9"/>
          <p:cNvSpPr>
            <a:spLocks noGrp="1"/>
          </p:cNvSpPr>
          <p:nvPr>
            <p:ph type="body" sz="quarter" idx="48" hasCustomPrompt="1"/>
          </p:nvPr>
        </p:nvSpPr>
        <p:spPr bwMode="auto"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>
              <a:defRPr/>
            </a:pPr>
            <a:r>
              <a:rPr lang="ru-RU"/>
              <a:t>Описание</a:t>
            </a:r>
            <a:endParaRPr/>
          </a:p>
        </p:txBody>
      </p:sp>
      <p:sp>
        <p:nvSpPr>
          <p:cNvPr id="1957727187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689925399" name="Текст 6"/>
          <p:cNvSpPr>
            <a:spLocks noGrp="1"/>
          </p:cNvSpPr>
          <p:nvPr>
            <p:ph type="body" sz="quarter" idx="49" hasCustomPrompt="1"/>
          </p:nvPr>
        </p:nvSpPr>
        <p:spPr bwMode="auto">
          <a:xfrm>
            <a:off x="778492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01</a:t>
            </a:r>
            <a:endParaRPr/>
          </a:p>
        </p:txBody>
      </p:sp>
      <p:sp>
        <p:nvSpPr>
          <p:cNvPr id="256972101" name="Текст 6"/>
          <p:cNvSpPr>
            <a:spLocks noGrp="1"/>
          </p:cNvSpPr>
          <p:nvPr>
            <p:ph type="body" sz="quarter" idx="50" hasCustomPrompt="1"/>
          </p:nvPr>
        </p:nvSpPr>
        <p:spPr bwMode="auto"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02</a:t>
            </a:r>
            <a:endParaRPr/>
          </a:p>
        </p:txBody>
      </p:sp>
      <p:sp>
        <p:nvSpPr>
          <p:cNvPr id="1208148889" name="Текст 6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03</a:t>
            </a:r>
            <a:endParaRPr/>
          </a:p>
        </p:txBody>
      </p:sp>
      <p:sp>
        <p:nvSpPr>
          <p:cNvPr id="684210003" name="Текст 6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04</a:t>
            </a:r>
            <a:endParaRPr/>
          </a:p>
        </p:txBody>
      </p:sp>
      <p:sp>
        <p:nvSpPr>
          <p:cNvPr id="12519466" name="Текст 6"/>
          <p:cNvSpPr>
            <a:spLocks noGrp="1"/>
          </p:cNvSpPr>
          <p:nvPr>
            <p:ph type="body" sz="quarter" idx="53" hasCustomPrompt="1"/>
          </p:nvPr>
        </p:nvSpPr>
        <p:spPr bwMode="auto"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05</a:t>
            </a:r>
            <a:endParaRPr/>
          </a:p>
        </p:txBody>
      </p:sp>
      <p:sp>
        <p:nvSpPr>
          <p:cNvPr id="1969617493" name="Текст 6"/>
          <p:cNvSpPr>
            <a:spLocks noGrp="1"/>
          </p:cNvSpPr>
          <p:nvPr>
            <p:ph type="body" sz="quarter" idx="54" hasCustomPrompt="1"/>
          </p:nvPr>
        </p:nvSpPr>
        <p:spPr bwMode="auto"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06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Фотограф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08475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CAFA80CC-940E-479C-90C0-76DA923785E9}" type="datetime1">
              <a:rPr lang="ru-RU"/>
              <a:t>16.09.2026</a:t>
            </a:fld>
            <a:endParaRPr lang="ru-RU"/>
          </a:p>
        </p:txBody>
      </p:sp>
      <p:sp>
        <p:nvSpPr>
          <p:cNvPr id="208819332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757589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77865552" name="Заголовок 1"/>
          <p:cNvSpPr>
            <a:spLocks noGrp="1"/>
          </p:cNvSpPr>
          <p:nvPr>
            <p:ph type="title"/>
          </p:nvPr>
        </p:nvSpPr>
        <p:spPr bwMode="auto"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839753479" name="Рисунок 7"/>
          <p:cNvSpPr>
            <a:spLocks noGrp="1"/>
          </p:cNvSpPr>
          <p:nvPr>
            <p:ph type="pic" sz="quarter" idx="10"/>
          </p:nvPr>
        </p:nvSpPr>
        <p:spPr bwMode="auto">
          <a:xfrm>
            <a:off x="7440147" y="1016001"/>
            <a:ext cx="4405777" cy="3078479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67254588" name="Рисунок 9"/>
          <p:cNvSpPr>
            <a:spLocks noGrp="1"/>
          </p:cNvSpPr>
          <p:nvPr>
            <p:ph type="pic" sz="quarter" idx="11"/>
          </p:nvPr>
        </p:nvSpPr>
        <p:spPr bwMode="auto">
          <a:xfrm>
            <a:off x="7440149" y="4389108"/>
            <a:ext cx="4405775" cy="1811668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01935067" name="Рисунок 11"/>
          <p:cNvSpPr>
            <a:spLocks noGrp="1"/>
          </p:cNvSpPr>
          <p:nvPr>
            <p:ph type="pic" sz="quarter" idx="12"/>
          </p:nvPr>
        </p:nvSpPr>
        <p:spPr bwMode="auto">
          <a:xfrm>
            <a:off x="346075" y="3223948"/>
            <a:ext cx="6806142" cy="2976827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20516688" name="Текст 15"/>
          <p:cNvSpPr>
            <a:spLocks noGrp="1"/>
          </p:cNvSpPr>
          <p:nvPr>
            <p:ph type="body" sz="quarter" idx="14"/>
          </p:nvPr>
        </p:nvSpPr>
        <p:spPr bwMode="auto"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ункты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625329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82A4DA7B-A7D8-4443-AD1C-4C7CDC678488}" type="datetime1">
              <a:rPr lang="ru-RU"/>
              <a:t>16.09.2026</a:t>
            </a:fld>
            <a:endParaRPr lang="ru-RU"/>
          </a:p>
        </p:txBody>
      </p:sp>
      <p:sp>
        <p:nvSpPr>
          <p:cNvPr id="1495724826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84074013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103893195" name="Текст 101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/>
            </a:lvl1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808292524" name="Текст 74"/>
          <p:cNvSpPr>
            <a:spLocks noGrp="1"/>
          </p:cNvSpPr>
          <p:nvPr>
            <p:ph type="body" sz="quarter" idx="15"/>
          </p:nvPr>
        </p:nvSpPr>
        <p:spPr bwMode="auto">
          <a:xfrm>
            <a:off x="6662923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31151279" name="Текст 74"/>
          <p:cNvSpPr>
            <a:spLocks noGrp="1"/>
          </p:cNvSpPr>
          <p:nvPr>
            <p:ph type="body" sz="quarter" idx="16"/>
          </p:nvPr>
        </p:nvSpPr>
        <p:spPr bwMode="auto">
          <a:xfrm>
            <a:off x="6662923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8998086" name="Текст 74"/>
          <p:cNvSpPr>
            <a:spLocks noGrp="1"/>
          </p:cNvSpPr>
          <p:nvPr>
            <p:ph type="body" sz="quarter" idx="17"/>
          </p:nvPr>
        </p:nvSpPr>
        <p:spPr bwMode="auto">
          <a:xfrm>
            <a:off x="6662923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709136" name="Текст 74"/>
          <p:cNvSpPr>
            <a:spLocks noGrp="1"/>
          </p:cNvSpPr>
          <p:nvPr>
            <p:ph type="body" sz="quarter" idx="18"/>
          </p:nvPr>
        </p:nvSpPr>
        <p:spPr bwMode="auto">
          <a:xfrm>
            <a:off x="6662923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39403092" name="Текст 74"/>
          <p:cNvSpPr>
            <a:spLocks noGrp="1"/>
          </p:cNvSpPr>
          <p:nvPr>
            <p:ph type="body" sz="quarter" idx="19"/>
          </p:nvPr>
        </p:nvSpPr>
        <p:spPr bwMode="auto">
          <a:xfrm>
            <a:off x="6662923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5408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4E505DF-C567-47F2-9374-60838F800101}" type="datetime1">
              <a:rPr lang="ru-RU"/>
              <a:t>16.09.2026</a:t>
            </a:fld>
            <a:endParaRPr lang="ru-RU"/>
          </a:p>
        </p:txBody>
      </p:sp>
      <p:sp>
        <p:nvSpPr>
          <p:cNvPr id="151079338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552299328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37256866" name="Заголовок 1"/>
          <p:cNvSpPr>
            <a:spLocks noGrp="1"/>
          </p:cNvSpPr>
          <p:nvPr>
            <p:ph type="title"/>
          </p:nvPr>
        </p:nvSpPr>
        <p:spPr bwMode="auto"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868929240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26867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3888215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18155805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807582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3972428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6472058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4584029"/>
            <a:ext cx="4790314" cy="1615356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2275498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8581099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2938A0C3-5C2F-47B8-B008-79A49A1195BA}" type="datetime1">
              <a:rPr lang="ru-RU"/>
              <a:t>16.09.2026</a:t>
            </a:fld>
            <a:endParaRPr lang="ru-RU"/>
          </a:p>
        </p:txBody>
      </p:sp>
      <p:sp>
        <p:nvSpPr>
          <p:cNvPr id="45079419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0081529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97326524" name="Заголовок 1"/>
          <p:cNvSpPr>
            <a:spLocks noGrp="1"/>
          </p:cNvSpPr>
          <p:nvPr>
            <p:ph type="title"/>
          </p:nvPr>
        </p:nvSpPr>
        <p:spPr bwMode="auto"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9114585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476688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3066030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399164481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60248213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652764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969505246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6930435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Статистик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9273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BF4F29EB-DFD0-428E-8E89-ED117A3553E3}" type="datetime1">
              <a:rPr lang="ru-RU"/>
              <a:t>16.09.2026</a:t>
            </a:fld>
            <a:endParaRPr lang="ru-RU"/>
          </a:p>
        </p:txBody>
      </p:sp>
      <p:sp>
        <p:nvSpPr>
          <p:cNvPr id="34375558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71522661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45142924" name="Заголовок 1"/>
          <p:cNvSpPr>
            <a:spLocks noGrp="1"/>
          </p:cNvSpPr>
          <p:nvPr>
            <p:ph type="title"/>
          </p:nvPr>
        </p:nvSpPr>
        <p:spPr bwMode="auto"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632442884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6683077" y="1016000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91519423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2018792073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6683077" y="2284561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82414852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54076117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6683077" y="3553122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562832623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6683077" y="393265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6192035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6683077" y="4821684"/>
            <a:ext cx="4790314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154626048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Стадии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849858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52F0272-0FEA-44CE-966E-3D169B2F53D4}" type="datetime1">
              <a:rPr lang="ru-RU"/>
              <a:t>16.09.2026</a:t>
            </a:fld>
            <a:endParaRPr lang="ru-RU"/>
          </a:p>
        </p:txBody>
      </p:sp>
      <p:sp>
        <p:nvSpPr>
          <p:cNvPr id="1448452554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33109929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124927468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13225624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376240833" name="Текст 35"/>
          <p:cNvSpPr>
            <a:spLocks noGrp="1"/>
          </p:cNvSpPr>
          <p:nvPr>
            <p:ph type="body" sz="quarter" idx="28"/>
          </p:nvPr>
        </p:nvSpPr>
        <p:spPr bwMode="auto"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876004260" name="Текст 35"/>
          <p:cNvSpPr>
            <a:spLocks noGrp="1"/>
          </p:cNvSpPr>
          <p:nvPr>
            <p:ph type="body" sz="quarter" idx="29"/>
          </p:nvPr>
        </p:nvSpPr>
        <p:spPr bwMode="auto"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77609924" name="Текст 35"/>
          <p:cNvSpPr>
            <a:spLocks noGrp="1"/>
          </p:cNvSpPr>
          <p:nvPr>
            <p:ph type="body" sz="quarter" idx="30"/>
          </p:nvPr>
        </p:nvSpPr>
        <p:spPr bwMode="auto"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9710853" name="Текст 35"/>
          <p:cNvSpPr>
            <a:spLocks noGrp="1"/>
          </p:cNvSpPr>
          <p:nvPr>
            <p:ph type="body" sz="quarter" idx="31"/>
          </p:nvPr>
        </p:nvSpPr>
        <p:spPr bwMode="auto"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949188184" name="Текст 35"/>
          <p:cNvSpPr>
            <a:spLocks noGrp="1"/>
          </p:cNvSpPr>
          <p:nvPr>
            <p:ph type="body" sz="quarter" idx="32"/>
          </p:nvPr>
        </p:nvSpPr>
        <p:spPr bwMode="auto"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68968598" name="Текст 35"/>
          <p:cNvSpPr>
            <a:spLocks noGrp="1"/>
          </p:cNvSpPr>
          <p:nvPr>
            <p:ph type="body" sz="quarter" idx="33"/>
          </p:nvPr>
        </p:nvSpPr>
        <p:spPr bwMode="auto"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95903953" name="Текст 35"/>
          <p:cNvSpPr>
            <a:spLocks noGrp="1"/>
          </p:cNvSpPr>
          <p:nvPr>
            <p:ph type="body" sz="quarter" idx="34"/>
          </p:nvPr>
        </p:nvSpPr>
        <p:spPr bwMode="auto"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10288170" name="Текст 35"/>
          <p:cNvSpPr>
            <a:spLocks noGrp="1"/>
          </p:cNvSpPr>
          <p:nvPr>
            <p:ph type="body" sz="quarter" idx="35"/>
          </p:nvPr>
        </p:nvSpPr>
        <p:spPr bwMode="auto"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74155163" name="Заголовок 1"/>
          <p:cNvSpPr>
            <a:spLocks noGrp="1"/>
          </p:cNvSpPr>
          <p:nvPr>
            <p:ph type="title"/>
          </p:nvPr>
        </p:nvSpPr>
        <p:spPr bwMode="auto"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Проблема и реш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957983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062B0DBE-B5A9-470E-85A9-7CC062D5339A}" type="datetime1">
              <a:rPr lang="ru-RU"/>
              <a:t>16.09.2026</a:t>
            </a:fld>
            <a:endParaRPr lang="ru-RU"/>
          </a:p>
        </p:txBody>
      </p:sp>
      <p:sp>
        <p:nvSpPr>
          <p:cNvPr id="1675805337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14337200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560885061" name="Заголовок 1"/>
          <p:cNvSpPr>
            <a:spLocks noGrp="1"/>
          </p:cNvSpPr>
          <p:nvPr>
            <p:ph type="title"/>
          </p:nvPr>
        </p:nvSpPr>
        <p:spPr bwMode="auto"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122197277" name="Текст 35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Описание проблемы </a:t>
            </a:r>
            <a:endParaRPr/>
          </a:p>
        </p:txBody>
      </p:sp>
      <p:sp>
        <p:nvSpPr>
          <p:cNvPr id="116118850" name="Текст 35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Примеры уже имеющихся способов решения данной проблемы</a:t>
            </a:r>
            <a:endParaRPr/>
          </a:p>
        </p:txBody>
      </p:sp>
      <p:sp>
        <p:nvSpPr>
          <p:cNvPr id="1428729295" name="Текст 3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ru-RU"/>
              <a:t>Ваше предложение решения данной проблемы</a:t>
            </a:r>
            <a:endParaRPr/>
          </a:p>
        </p:txBody>
      </p:sp>
      <p:sp>
        <p:nvSpPr>
          <p:cNvPr id="856443119" name="Текст 35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Проблема</a:t>
            </a:r>
            <a:endParaRPr/>
          </a:p>
        </p:txBody>
      </p:sp>
      <p:sp>
        <p:nvSpPr>
          <p:cNvPr id="1922520453" name="Текст 35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Альтернативные решения</a:t>
            </a:r>
            <a:endParaRPr/>
          </a:p>
        </p:txBody>
      </p:sp>
      <p:sp>
        <p:nvSpPr>
          <p:cNvPr id="1034779806" name="Текст 35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Решение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5086165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4162940" y="1264478"/>
            <a:ext cx="3866121" cy="2436377"/>
          </a:xfrm>
        </p:spPr>
      </p:sp>
      <p:sp>
        <p:nvSpPr>
          <p:cNvPr id="896489918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4D396B86-640F-4AD1-BBB2-E085B6CD8771}" type="datetime1">
              <a:rPr lang="ru-RU"/>
              <a:t>16.09.2026</a:t>
            </a:fld>
            <a:endParaRPr lang="ru-RU"/>
          </a:p>
        </p:txBody>
      </p:sp>
      <p:sp>
        <p:nvSpPr>
          <p:cNvPr id="378127741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93889069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347150518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2021024583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346075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320280167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4240502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604478788" name="Текст 7"/>
          <p:cNvSpPr>
            <a:spLocks noGrp="1"/>
          </p:cNvSpPr>
          <p:nvPr>
            <p:ph type="body" sz="quarter" idx="17"/>
          </p:nvPr>
        </p:nvSpPr>
        <p:spPr bwMode="auto">
          <a:xfrm>
            <a:off x="8230203" y="4656083"/>
            <a:ext cx="3626835" cy="154469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1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12357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3AF0E63-1EB1-47F5-B09E-CA3E5DE528F3}" type="datetime1">
              <a:rPr lang="ru-RU"/>
              <a:t>16.09.2026</a:t>
            </a:fld>
            <a:endParaRPr lang="ru-RU"/>
          </a:p>
        </p:txBody>
      </p:sp>
      <p:sp>
        <p:nvSpPr>
          <p:cNvPr id="1147169938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30368713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259102376" name="Заголовок 1"/>
          <p:cNvSpPr>
            <a:spLocks noGrp="1"/>
          </p:cNvSpPr>
          <p:nvPr>
            <p:ph type="title"/>
          </p:nvPr>
        </p:nvSpPr>
        <p:spPr bwMode="auto"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93639810" name="Текст 7"/>
          <p:cNvSpPr>
            <a:spLocks noGrp="1"/>
          </p:cNvSpPr>
          <p:nvPr>
            <p:ph type="body" sz="quarter" idx="15"/>
          </p:nvPr>
        </p:nvSpPr>
        <p:spPr bwMode="auto">
          <a:xfrm>
            <a:off x="1210643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722443" name="Текст 7"/>
          <p:cNvSpPr>
            <a:spLocks noGrp="1"/>
          </p:cNvSpPr>
          <p:nvPr>
            <p:ph type="body" sz="quarter" idx="16"/>
          </p:nvPr>
        </p:nvSpPr>
        <p:spPr bwMode="auto">
          <a:xfrm>
            <a:off x="6857950" y="4324451"/>
            <a:ext cx="4121687" cy="1612262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25584501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210642" y="1577998"/>
            <a:ext cx="4121688" cy="2283975"/>
          </a:xfrm>
        </p:spPr>
      </p:sp>
      <p:sp>
        <p:nvSpPr>
          <p:cNvPr id="823724485" name="Picture Placeholder 1"/>
          <p:cNvSpPr>
            <a:spLocks noGrp="1"/>
          </p:cNvSpPr>
          <p:nvPr>
            <p:ph type="pic" sz="quarter" idx="18"/>
          </p:nvPr>
        </p:nvSpPr>
        <p:spPr bwMode="auto">
          <a:xfrm>
            <a:off x="6855540" y="1577998"/>
            <a:ext cx="4121688" cy="2283975"/>
          </a:xfrm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2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5624748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906666371" name="Текст 35"/>
          <p:cNvSpPr>
            <a:spLocks noGrp="1"/>
          </p:cNvSpPr>
          <p:nvPr>
            <p:ph type="body" sz="quarter" idx="21"/>
          </p:nvPr>
        </p:nvSpPr>
        <p:spPr bwMode="auto">
          <a:xfrm>
            <a:off x="356349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661976731" name="Текст 35"/>
          <p:cNvSpPr>
            <a:spLocks noGrp="1"/>
          </p:cNvSpPr>
          <p:nvPr>
            <p:ph type="body" sz="quarter" idx="18"/>
          </p:nvPr>
        </p:nvSpPr>
        <p:spPr bwMode="auto"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90673764" name="Текст 35"/>
          <p:cNvSpPr>
            <a:spLocks noGrp="1"/>
          </p:cNvSpPr>
          <p:nvPr>
            <p:ph type="body" sz="quarter" idx="22"/>
          </p:nvPr>
        </p:nvSpPr>
        <p:spPr bwMode="auto">
          <a:xfrm>
            <a:off x="8040020" y="1641283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78948986" name="Текст 35"/>
          <p:cNvSpPr>
            <a:spLocks noGrp="1"/>
          </p:cNvSpPr>
          <p:nvPr>
            <p:ph type="body" sz="quarter" idx="23"/>
          </p:nvPr>
        </p:nvSpPr>
        <p:spPr bwMode="auto">
          <a:xfrm>
            <a:off x="8040020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58611594" name="Текст 35"/>
          <p:cNvSpPr>
            <a:spLocks noGrp="1"/>
          </p:cNvSpPr>
          <p:nvPr>
            <p:ph type="body" sz="quarter" idx="24"/>
          </p:nvPr>
        </p:nvSpPr>
        <p:spPr bwMode="auto">
          <a:xfrm>
            <a:off x="356349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445328777" name="Текст 35"/>
          <p:cNvSpPr>
            <a:spLocks noGrp="1"/>
          </p:cNvSpPr>
          <p:nvPr>
            <p:ph type="body" sz="quarter" idx="25"/>
          </p:nvPr>
        </p:nvSpPr>
        <p:spPr bwMode="auto"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00255233" name="Текст 35"/>
          <p:cNvSpPr>
            <a:spLocks noGrp="1"/>
          </p:cNvSpPr>
          <p:nvPr>
            <p:ph type="body" sz="quarter" idx="26"/>
          </p:nvPr>
        </p:nvSpPr>
        <p:spPr bwMode="auto">
          <a:xfrm>
            <a:off x="8040020" y="3864598"/>
            <a:ext cx="3812931" cy="1021701"/>
          </a:xfrm>
          <a:prstGeom prst="roundRect">
            <a:avLst>
              <a:gd name="adj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1200879656" name="Текст 35"/>
          <p:cNvSpPr>
            <a:spLocks noGrp="1"/>
          </p:cNvSpPr>
          <p:nvPr>
            <p:ph type="body" sz="quarter" idx="27"/>
          </p:nvPr>
        </p:nvSpPr>
        <p:spPr bwMode="auto">
          <a:xfrm>
            <a:off x="8040020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cxnSp>
        <p:nvCxnSpPr>
          <p:cNvPr id="589614520" name="Google Shape;2799;p94"/>
          <p:cNvCxnSpPr/>
          <p:nvPr userDrawn="1"/>
        </p:nvCxnSpPr>
        <p:spPr bwMode="auto"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81545724" name="Google Shape;2799;p94"/>
          <p:cNvCxnSpPr/>
          <p:nvPr userDrawn="1"/>
        </p:nvCxnSpPr>
        <p:spPr bwMode="auto"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25227" name="Google Shape;2799;p94"/>
          <p:cNvCxnSpPr/>
          <p:nvPr userDrawn="1"/>
        </p:nvCxnSpPr>
        <p:spPr bwMode="auto"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7509977" name="Google Shape;2799;p94"/>
          <p:cNvCxnSpPr/>
          <p:nvPr userDrawn="1"/>
        </p:nvCxnSpPr>
        <p:spPr bwMode="auto"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1619468" name="Заголовок 3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318129555" name="Дата 8"/>
          <p:cNvSpPr>
            <a:spLocks noGrp="1"/>
          </p:cNvSpPr>
          <p:nvPr>
            <p:ph type="dt" sz="half" idx="28"/>
          </p:nvPr>
        </p:nvSpPr>
        <p:spPr bwMode="auto"/>
        <p:txBody>
          <a:bodyPr/>
          <a:lstStyle/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2139654067" name="Нижний колонтитул 9"/>
          <p:cNvSpPr>
            <a:spLocks noGrp="1"/>
          </p:cNvSpPr>
          <p:nvPr>
            <p:ph type="ftr" sz="quarter" idx="29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287854632" name="Номер слайда 10"/>
          <p:cNvSpPr>
            <a:spLocks noGrp="1"/>
          </p:cNvSpPr>
          <p:nvPr>
            <p:ph type="sldNum" sz="quarter" idx="30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3_Демо_1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939360" name="Picture Placeholder 1"/>
          <p:cNvSpPr>
            <a:spLocks noGrp="1"/>
          </p:cNvSpPr>
          <p:nvPr>
            <p:ph type="pic" sz="quarter" idx="14"/>
          </p:nvPr>
        </p:nvSpPr>
        <p:spPr bwMode="auto">
          <a:xfrm>
            <a:off x="1001459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580386608" name="Picture Placeholder 1"/>
          <p:cNvSpPr>
            <a:spLocks noGrp="1"/>
          </p:cNvSpPr>
          <p:nvPr>
            <p:ph type="pic" sz="quarter" idx="15"/>
          </p:nvPr>
        </p:nvSpPr>
        <p:spPr bwMode="auto"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99003789" name="Picture Placeholder 1"/>
          <p:cNvSpPr>
            <a:spLocks noGrp="1"/>
          </p:cNvSpPr>
          <p:nvPr>
            <p:ph type="pic" sz="quarter" idx="16"/>
          </p:nvPr>
        </p:nvSpPr>
        <p:spPr bwMode="auto"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668171859" name="Picture Placeholder 1"/>
          <p:cNvSpPr>
            <a:spLocks noGrp="1"/>
          </p:cNvSpPr>
          <p:nvPr>
            <p:ph type="pic" sz="quarter" idx="17"/>
          </p:nvPr>
        </p:nvSpPr>
        <p:spPr bwMode="auto"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932505230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DC8C16AD-D907-4463-BE30-FCBB33ACAE3F}" type="datetime1">
              <a:rPr lang="ru-RU"/>
              <a:t>16.09.2026</a:t>
            </a:fld>
            <a:endParaRPr lang="ru-RU"/>
          </a:p>
        </p:txBody>
      </p:sp>
      <p:sp>
        <p:nvSpPr>
          <p:cNvPr id="792600989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50504692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  <p:sp>
        <p:nvSpPr>
          <p:cNvPr id="164420842" name="Текст 7"/>
          <p:cNvSpPr>
            <a:spLocks noGrp="1"/>
          </p:cNvSpPr>
          <p:nvPr>
            <p:ph type="body" sz="quarter" idx="18"/>
          </p:nvPr>
        </p:nvSpPr>
        <p:spPr bwMode="auto">
          <a:xfrm>
            <a:off x="346076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656314850" name="Текст 7"/>
          <p:cNvSpPr>
            <a:spLocks noGrp="1"/>
          </p:cNvSpPr>
          <p:nvPr>
            <p:ph type="body" sz="quarter" idx="19"/>
          </p:nvPr>
        </p:nvSpPr>
        <p:spPr bwMode="auto">
          <a:xfrm>
            <a:off x="3269562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554257058" name="Текст 7"/>
          <p:cNvSpPr>
            <a:spLocks noGrp="1"/>
          </p:cNvSpPr>
          <p:nvPr>
            <p:ph type="body" sz="quarter" idx="20"/>
          </p:nvPr>
        </p:nvSpPr>
        <p:spPr bwMode="auto">
          <a:xfrm>
            <a:off x="6193048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990252769" name="Текст 7"/>
          <p:cNvSpPr>
            <a:spLocks noGrp="1"/>
          </p:cNvSpPr>
          <p:nvPr>
            <p:ph type="body" sz="quarter" idx="21"/>
          </p:nvPr>
        </p:nvSpPr>
        <p:spPr bwMode="auto">
          <a:xfrm>
            <a:off x="9116535" y="4929435"/>
            <a:ext cx="2739248" cy="127134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2026721607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showMasterSp="1" userDrawn="1">
  <p:cSld name="Пустой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blipFill rotWithShape="1">
          <a:blip r:embed="rId25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7097445" name="Заголовок 1"/>
          <p:cNvSpPr>
            <a:spLocks noGrp="1"/>
          </p:cNvSpPr>
          <p:nvPr>
            <p:ph type="title"/>
          </p:nvPr>
        </p:nvSpPr>
        <p:spPr bwMode="auto"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1903902632" name="Текст 2"/>
          <p:cNvSpPr>
            <a:spLocks noGrp="1"/>
          </p:cNvSpPr>
          <p:nvPr>
            <p:ph type="body" idx="1"/>
          </p:nvPr>
        </p:nvSpPr>
        <p:spPr bwMode="auto"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/>
          </a:p>
        </p:txBody>
      </p:sp>
      <p:sp>
        <p:nvSpPr>
          <p:cNvPr id="1317792352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9D490EE5-ED7D-46E8-8345-A78A0CB0F4A4}" type="datetime1">
              <a:rPr lang="ru-RU"/>
              <a:t>16.09.2026</a:t>
            </a:fld>
            <a:endParaRPr lang="ru-RU"/>
          </a:p>
        </p:txBody>
      </p:sp>
      <p:sp>
        <p:nvSpPr>
          <p:cNvPr id="1926070673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282487685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>
              <a:defRPr/>
            </a:pPr>
            <a:fld id="{52DCC5B9-D646-4B76-891F-6FF4E74E9CB4}" type="slidenum">
              <a:rPr lang="ru-RU"/>
              <a:t>&lt;#&gt;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1"/>
  <p:txStyles>
    <p:titleStyle>
      <a:lvl1pPr algn="l" defTabSz="578755" rtl="0">
        <a:lnSpc>
          <a:spcPct val="90000"/>
        </a:lnSpc>
        <a:spcBef>
          <a:spcPts val="0"/>
        </a:spcBef>
        <a:buNone/>
        <a:defRPr sz="2000" b="1">
          <a:solidFill>
            <a:schemeClr val="bg1">
              <a:lumMod val="95000"/>
            </a:schemeClr>
          </a:solidFill>
          <a:latin typeface="+mj-lt"/>
          <a:ea typeface="+mj-ea"/>
          <a:cs typeface="Amatic SC"/>
        </a:defRPr>
      </a:lvl1pPr>
    </p:titleStyle>
    <p:bodyStyle>
      <a:lvl1pPr marL="144688" indent="-144688" algn="l" defTabSz="578755" rtl="0">
        <a:lnSpc>
          <a:spcPct val="90000"/>
        </a:lnSpc>
        <a:spcBef>
          <a:spcPts val="631"/>
        </a:spcBef>
        <a:buFont typeface="Arial"/>
        <a:buChar char="•"/>
        <a:defRPr sz="14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25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0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9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>
        <a:lnSpc>
          <a:spcPct val="90000"/>
        </a:lnSpc>
        <a:spcBef>
          <a:spcPts val="317"/>
        </a:spcBef>
        <a:buFont typeface="Arial"/>
        <a:buChar char="•"/>
        <a:defRPr sz="115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>
        <a:defRPr sz="11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19dea209f0c04e1e"/><Relationship Type="http://schemas.openxmlformats.org/officeDocument/2006/relationships/notesSlide" Target="../authored/ppt/notesSlides/notesSlide1.xml" Id="R6281cd5674e547c7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3b650f2ae70240aa"/><Relationship Type="http://schemas.openxmlformats.org/officeDocument/2006/relationships/notesSlide" Target="../authored/ppt/notesSlides/notesSlide2.xml" Id="R056369cebf224c6c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0039e31e10984b8f"/><Relationship Type="http://schemas.openxmlformats.org/officeDocument/2006/relationships/notesSlide" Target="../authored/ppt/notesSlides/notesSlide3.xml" Id="R4124d3c84b834511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fa251019e4d24958"/><Relationship Type="http://schemas.openxmlformats.org/officeDocument/2006/relationships/notesSlide" Target="../authored/ppt/notesSlides/notesSlide4.xml" Id="R86b0c55ecd424285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1e8dbfbbe80b4d69"/><Relationship Type="http://schemas.openxmlformats.org/officeDocument/2006/relationships/notesSlide" Target="../authored/ppt/notesSlides/notesSlide5.xml" Id="R09e0e56ac19e4fe9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a55e2fc759cf45f2"/><Relationship Type="http://schemas.openxmlformats.org/officeDocument/2006/relationships/notesSlide" Target="../authored/ppt/notesSlides/notesSlide6.xml" Id="R87f1a1af6c0b41af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95d3d6fddccf4b50"/><Relationship Type="http://schemas.openxmlformats.org/officeDocument/2006/relationships/image" Target="../media/recommendations_viewport.jpeg" Id="R06cdcabc0f0244bd"/><Relationship Type="http://schemas.openxmlformats.org/officeDocument/2006/relationships/notesSlide" Target="../authored/ppt/notesSlides/notesSlide7.xml" Id="R56e9587607e8483c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65d4453d317240ec"/><Relationship Type="http://schemas.openxmlformats.org/officeDocument/2006/relationships/notesSlide" Target="../authored/ppt/notesSlides/notesSlide8.xml" Id="R5dc0f89f36c14b7f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a6c294b479e14bcc"/><Relationship Type="http://schemas.openxmlformats.org/officeDocument/2006/relationships/notesSlide" Target="../authored/ppt/notesSlides/notesSlide9.xml" Id="R00cab2b1141a4ab7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../authored/ppt/slideLayouts/slideLayout1.xml" Id="R4bd7aada86054475"/><Relationship Type="http://schemas.openxmlformats.org/officeDocument/2006/relationships/notesSlide" Target="../authored/ppt/notesSlides/notesSlide10.xml" Id="R7d6cc300fa914eb0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23AE2-21D2-428F-A706-C8488BC4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79CDD-040B-46E3-B68D-8D2693AD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Collector Risk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D262B3-F178-4D7A-B598-7E3395E7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1A5F78-40DA-4BB7-8003-85D8EB70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Очереди проверки объектов</a:t>
            </a:r>
          </a:p>
          <a:p xmlns:a="http://schemas.openxmlformats.org/drawingml/2006/main">
            <a:pPr>
              <a:defRPr sz="405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405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за 24–48 часов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3196B-C232-4BE4-95AA-B1FA69E4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Любая тревога и начало зарегистрированной серии</a:t>
            </a:r>
          </a:p>
          <a:p xmlns:a="http://schemas.openxmlformats.org/drawingml/2006/main">
            <a:pPr>
              <a:defRPr sz="20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Архивная демонстрация для диспетчера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C87D6-97C8-40A2-8DF9-4C13FD3F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Черновик для согласования команды. 29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436006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61DAE0-987E-486F-9A0D-F46C05A5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03D1EF-4049-4020-923F-0642571E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Две цели для разных проверок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E6A82-84AF-4A8C-A5C3-F168C072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BA505E-208C-460C-BD31-E7586924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9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История по день D. Выпуск D+1 в 00:00. Целевые сутки D+2.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552700"/>
          <a:ext xmlns:a="http://schemas.openxmlformats.org/drawingml/2006/main" cx="10972800" cy="2133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5048250"/>
                <a:gridCol w="3162300"/>
              </a:tblGrid>
              <a:tr h="7112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Цель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Положительный исход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Режим очереди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Любая тревога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Есть тревожная запись в D+2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Сохранённый порог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Начало серии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 D+1 нет тревоги,</a:t>
                      </a:r>
                    </a:p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в D+2 она есть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10 объектов в сутки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3C805-F4DA-4B6C-8478-0374AA3D0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292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День D+1 ещё неизвестен в момент выпуска.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E4410-084A-4328-96E7-1055FB89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Обе цели описывают журнал. Физический отказ требует подтверждения.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Отсутствие записей не подтверждает исправность объекта.</a:t>
            </a:r>
          </a:p>
        </p:txBody>
      </p:sp>
    </p:spTree>
    <p:extLst>
      <p:ext uri="{BB962C8B-B14F-4D97-AF65-F5344CB8AC3E}">
        <p14:creationId xmlns:p14="http://schemas.microsoft.com/office/powerpoint/2010/main" val="1381216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ADCD23-D9BF-4915-A7C0-A3C53448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568DF-78D9-4AFA-B338-2780176D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Данные и границы покрытия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913DCD-B932-44AF-BE6F-E9AC0891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287A6-6B53-40D2-853F-3D7561C3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33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313,5 млн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316B63-E51C-45C9-A439-8C44E121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542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строк в 8 годовых журналах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82C9C6-A3EB-4A9E-BD71-52698A75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009775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54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78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3AB86C-D7D1-4723-AEDF-03DB5441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06705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0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объектов в событийных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71F2DA-ADE9-4EA2-AE17-92C5963C1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552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2019 – июнь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56BC2D-E986-4344-A78E-774E9583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542925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В справочнике 95 объектов.</a:t>
            </a:r>
          </a:p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17 объектов не имеют событий в выгрузке.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FA9A7-5286-4170-A351-24D2F965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229100"/>
            <a:ext cx="4667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1 143 канала без справочника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683A1-1F07-45DD-9A77-6F2A28FC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5210175"/>
            <a:ext cx="4667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Не для каждого события доступна</a:t>
            </a:r>
          </a:p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связка с объектом и типом датчика.</a:t>
            </a:r>
          </a:p>
        </p:txBody>
      </p:sp>
    </p:spTree>
    <p:extLst>
      <p:ext uri="{BB962C8B-B14F-4D97-AF65-F5344CB8AC3E}">
        <p14:creationId xmlns:p14="http://schemas.microsoft.com/office/powerpoint/2010/main" val="19963947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4F2A6F-DB90-4D81-BFF1-75EDCE39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770B3F-FD8B-4AC1-8C0B-5D23C0A5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Любая тревога: сохранённый контроль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EA82A-7652-4868-825D-486AC4ED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577AD-378A-41E8-B24D-53CA77A61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57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Выдачи 01.01–29.06.2026. Цель: любая тревога в D+2.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34315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29250"/>
                <a:gridCol w="1666875"/>
                <a:gridCol w="1933575"/>
                <a:gridCol w="1943100"/>
              </a:tblGrid>
              <a:tr h="64293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Recall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Повтор текущей тревоги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0,3888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48,51%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48,16%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Историческая частота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0,5666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50,75%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60,86%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LightGBM по порогу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0,6213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56,91%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59,58%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72ACB-B371-4C12-9D86-71A640AF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4 400 предупреждений за 180 дней, 24,44 в сутки.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673A7-C5D7-4240-BB92-73218479A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Из них 1 896 без тревоги по разметке. Порог зафиксирован на 2025.</a:t>
            </a:r>
          </a:p>
          <a:p xmlns:a="http://schemas.openxmlformats.org/drawingml/2006/main">
            <a:pPr>
              <a:defRPr sz="15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Следующий слайд использует другой контроль и ровно 10 предупреждений в день.</a:t>
            </a:r>
          </a:p>
        </p:txBody>
      </p:sp>
    </p:spTree>
    <p:extLst>
      <p:ext uri="{BB962C8B-B14F-4D97-AF65-F5344CB8AC3E}">
        <p14:creationId xmlns:p14="http://schemas.microsoft.com/office/powerpoint/2010/main" val="1720695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CB8BC-8338-4AEB-8C3C-3D74829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2B768-2CDF-44DE-8A39-073A9262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На 119 больше охваченных начал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523C89-6AE1-4952-B159-364B5FF8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B9ED10-A2D4-4C12-99D4-F373109C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Одинаковая нагрузка: 1 800 предупреждений, 10 в сутки.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09600" y="2409825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33950"/>
                <a:gridCol w="1428750"/>
                <a:gridCol w="2324100"/>
                <a:gridCol w="2286000"/>
              </a:tblGrid>
              <a:tr h="714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Цель: начало серии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Начал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Precision@10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Полнота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Контроль «Любая тревога»</a:t>
                      </a:r>
                    </a:p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после дообучения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316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17,56%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15,80%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Двухэтапная onset-модель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24,17%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21,75%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77FDB-5859-4137-9760-B1ABD1FC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+37,7% охваченных начал относительно контроля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5734FE-E5CA-4A61-97CA-A6B24C27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Прирост Precision@10: +6,61 п.п. 95% интервал: +5,22…+8,14 п.п.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38B21-37EB-4DB5-BA5B-BA9F5AE73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Здесь обе модели оцениваем по началу серии. Период 2026 уже исследовали.</a:t>
            </a:r>
          </a:p>
          <a:p xmlns:a="http://schemas.openxmlformats.org/drawingml/2006/main">
            <a:pPr>
              <a:def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Результат не подтверждает предупреждение физических отказов.</a:t>
            </a:r>
          </a:p>
        </p:txBody>
      </p:sp>
    </p:spTree>
    <p:extLst>
      <p:ext uri="{BB962C8B-B14F-4D97-AF65-F5344CB8AC3E}">
        <p14:creationId xmlns:p14="http://schemas.microsoft.com/office/powerpoint/2010/main" val="16466093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E044F8-DFE3-422A-B557-26AF9B5C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E0BED3-B759-4175-8F59-F35DDD21F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Проверенные альтернативы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240F9F-11A0-4A0B-9FD7-C4CB0B5C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81200"/>
          <a:ext xmlns:a="http://schemas.openxmlformats.org/drawingml/2006/main" cx="109728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572500"/>
                <a:gridCol w="2400300"/>
              </a:tblGrid>
              <a:tr h="58102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Любая тревога, выбор на октябре–ноябре 2025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LightGBM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0,6266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Сплайн по прошлым событиям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0,6105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Сезонная статистика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0,6060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GRU, окно 28 дней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0,5753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98B43D-579F-4C63-9390-694C0605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GRU и статистику проверили на реальных данных.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85221-CDCA-4ECD-9786-F63CC078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Смесь LightGBM и сезонности на цели «Любая тревога»:</a:t>
            </a:r>
          </a:p>
          <a:p xmlns:a="http://schemas.openxmlformats.org/drawingml/2006/main">
            <a:pPr>
              <a:def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AP 0,6307 против 0,6241. При 10 объектах в день Precision 71,72% против 71,78%.</a:t>
            </a:r>
          </a:p>
        </p:txBody>
      </p:sp>
    </p:spTree>
    <p:extLst>
      <p:ext uri="{BB962C8B-B14F-4D97-AF65-F5344CB8AC3E}">
        <p14:creationId xmlns:p14="http://schemas.microsoft.com/office/powerpoint/2010/main" val="1140232590"/>
      </p:ext>
    </p:extLst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0199916" name="Заголовок 2"/>
          <p:cNvSpPr>
            <a:spLocks noGrp="1"/>
          </p:cNvSpPr>
          <p:nvPr>
            <p:ph type="ctrTitle"/>
          </p:nvPr>
        </p:nvSpPr>
        <p:spPr bwMode="auto">
          <a:xfrm>
            <a:off x="1" y="3894513"/>
            <a:ext cx="6271845" cy="1706743"/>
          </a:xfrm>
        </p:spPr>
        <p:txBody>
          <a:bodyPr/>
          <a:lstStyle/>
          <a:p>
            <a:pPr marL="268288" indent="0">
              <a:defRPr/>
            </a:pPr>
            <a:r>
              <a:rPr lang="ru-RU" sz="4800"/>
              <a:t>[НАЗВАНИЕ</a:t>
            </a:r>
            <a:endParaRPr lang="ru-RU" sz="4800"/>
          </a:p>
          <a:p>
            <a:pPr marL="268288" indent="0">
              <a:defRPr/>
            </a:pPr>
            <a:r>
              <a:rPr lang="ru-RU" sz="4800"/>
              <a:t>КОМАНДЫ]</a:t>
            </a:r>
            <a:endParaRPr lang="ru-RU" sz="4800"/>
          </a:p>
        </p:txBody>
      </p:sp>
      <p:sp>
        <p:nvSpPr>
          <p:cNvPr id="1636791008" name="Рисунок 3"/>
          <p:cNvSpPr>
            <a:spLocks noGrp="1"/>
          </p:cNvSpPr>
          <p:nvPr>
            <p:ph type="pic" sz="quarter" idx="11"/>
          </p:nvPr>
        </p:nvSpPr>
        <p:spPr bwMode="auto">
          <a:xfrm>
            <a:off x="305186" y="329801"/>
            <a:ext cx="5193299" cy="1082589"/>
          </a:xfrm>
        </p:spPr>
      </p:sp>
      <p:sp>
        <p:nvSpPr>
          <p:cNvPr id="757351073" name="Текст 4"/>
          <p:cNvSpPr>
            <a:spLocks noGrp="1"/>
          </p:cNvSpPr>
          <p:nvPr>
            <p:ph type="body" sz="quarter" idx="12"/>
          </p:nvPr>
        </p:nvSpPr>
        <p:spPr bwMode="auto"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defRPr/>
            </a:pPr>
            <a:r>
              <a:rPr lang="ru-RU"/>
              <a:t>Кейс 08. Сервис прогнозирования инцидентов</a:t>
            </a:r>
            <a:endParaRPr lang="ru-RU"/>
          </a:p>
          <a:p>
            <a:pPr indent="268288">
              <a:defRPr/>
            </a:pPr>
            <a:r>
              <a:rPr lang="ru-RU"/>
              <a:t>и управления ремонтными работами инженерных коллекторов Москвы</a:t>
            </a:r>
            <a:endParaRPr lang="ru-RU"/>
          </a:p>
        </p:txBody>
      </p:sp>
      <p:sp>
        <p:nvSpPr>
          <p:cNvPr id="1091804844" name="Скругленный прямоугольник 1"/>
          <p:cNvSpPr/>
          <p:nvPr/>
        </p:nvSpPr>
        <p:spPr bwMode="auto"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6098921" name="Прямоугольник 2"/>
          <p:cNvSpPr/>
          <p:nvPr/>
        </p:nvSpPr>
        <p:spPr bwMode="auto"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/>
          </a:p>
        </p:txBody>
      </p:sp>
      <p:sp>
        <p:nvSpPr>
          <p:cNvPr id="1609484257" name="Рисунок 1"/>
          <p:cNvSpPr>
            <a:spLocks noGrp="1"/>
          </p:cNvSpPr>
          <p:nvPr>
            <p:ph type="pic" sz="quarter" idx="10"/>
          </p:nvPr>
        </p:nvSpPr>
        <p:spPr bwMode="auto">
          <a:xfrm>
            <a:off x="0" y="335267"/>
            <a:ext cx="6456363" cy="2971784"/>
          </a:xfrm>
        </p:spPr>
      </p:sp>
      <p:sp>
        <p:nvSpPr>
          <p:cNvPr id="1143600250" name="Текст 8"/>
          <p:cNvSpPr txBox="1"/>
          <p:nvPr/>
        </p:nvSpPr>
        <p:spPr bwMode="auto"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Краткое описание решения:</a:t>
            </a:r>
            <a:endParaRPr/>
          </a:p>
        </p:txBody>
      </p:sp>
      <p:sp>
        <p:nvSpPr>
          <p:cNvPr id="441518184" name="Текст 8"/>
          <p:cNvSpPr txBox="1"/>
          <p:nvPr/>
        </p:nvSpPr>
        <p:spPr bwMode="auto"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Причинные признаки, сравнение с простыми правилами и воспроизводимые эксперименты.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61119785" name="Текст 8"/>
          <p:cNvSpPr txBox="1"/>
          <p:nvPr/>
        </p:nvSpPr>
        <p:spPr bwMode="auto"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Капитан: </a:t>
            </a:r>
            <a:r>
              <a:rPr lang="ru-RU">
                <a:solidFill>
                  <a:schemeClr val="tx1"/>
                </a:solidFill>
              </a:rPr>
              <a:t>[ФИО, специальность]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Кол-во участников: </a:t>
            </a:r>
            <a:r>
              <a:rPr lang="ru-RU">
                <a:solidFill>
                  <a:schemeClr val="tx1"/>
                </a:solidFill>
              </a:rPr>
              <a:t>[число] человек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Краткое описание: 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[История команды]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ru-RU" i="1">
                <a:solidFill>
                  <a:schemeClr val="tx1"/>
                </a:solidFill>
              </a:rPr>
              <a:t>[Место работы/учёбы]</a:t>
            </a:r>
            <a:endParaRPr/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>
                <a:solidFill>
                  <a:schemeClr val="tx1"/>
                </a:solidFill>
              </a:rPr>
              <a:t>Город и регион: [заполнить]</a:t>
            </a:r>
            <a:endParaRPr/>
          </a:p>
        </p:txBody>
      </p:sp>
      <p:sp>
        <p:nvSpPr>
          <p:cNvPr id="648121520" name="Текст 8"/>
          <p:cNvSpPr txBox="1"/>
          <p:nvPr/>
        </p:nvSpPr>
        <p:spPr bwMode="auto"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О команде</a:t>
            </a:r>
            <a:endParaRPr/>
          </a:p>
        </p:txBody>
      </p:sp>
      <p:sp>
        <p:nvSpPr>
          <p:cNvPr id="328740113" name="Заголовок 6"/>
          <p:cNvSpPr>
            <a:spLocks noGrp="1"/>
          </p:cNvSpPr>
          <p:nvPr>
            <p:ph type="title"/>
          </p:nvPr>
        </p:nvSpPr>
        <p:spPr bwMode="auto">
          <a:xfrm>
            <a:off x="6819903" y="1039236"/>
            <a:ext cx="3636703" cy="1015128"/>
          </a:xfrm>
        </p:spPr>
        <p:txBody>
          <a:bodyPr/>
          <a:lstStyle/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[НАЗВАНИЕ</a:t>
            </a:r>
            <a:endParaRPr lang="ru-RU" sz="2400">
              <a:solidFill>
                <a:schemeClr val="accent5"/>
              </a:solidFill>
              <a:latin typeface="Montserrat"/>
            </a:endParaRPr>
          </a:p>
          <a:p>
            <a:pPr>
              <a:defRPr/>
            </a:pPr>
            <a:r>
              <a:rPr lang="ru-RU" sz="2400">
                <a:solidFill>
                  <a:schemeClr val="accent5"/>
                </a:solidFill>
                <a:latin typeface="Montserrat"/>
              </a:rPr>
              <a:t>КОМАНДЫ]</a:t>
            </a:r>
            <a:endParaRPr lang="ru-RU" sz="2400">
              <a:solidFill>
                <a:schemeClr val="accent5"/>
              </a:solidFill>
              <a:latin typeface="Montserrat"/>
            </a:endParaRPr>
          </a:p>
        </p:txBody>
      </p:sp>
      <p:cxnSp>
        <p:nvCxnSpPr>
          <p:cNvPr id="1478954076" name="Прямая соединительная линия 6"/>
          <p:cNvCxnSpPr/>
          <p:nvPr/>
        </p:nvCxnSpPr>
        <p:spPr bwMode="auto"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16552124" name="Прямая соединительная линия 15"/>
          <p:cNvCxnSpPr/>
          <p:nvPr/>
        </p:nvCxnSpPr>
        <p:spPr bwMode="auto"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31184900" name="Прямая соединительная линия 16"/>
          <p:cNvCxnSpPr/>
          <p:nvPr/>
        </p:nvCxnSpPr>
        <p:spPr bwMode="auto"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03619342" name="Текст 8"/>
          <p:cNvSpPr txBox="1"/>
          <p:nvPr/>
        </p:nvSpPr>
        <p:spPr bwMode="auto"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Уникальность решения:</a:t>
            </a:r>
            <a:endParaRPr/>
          </a:p>
        </p:txBody>
      </p:sp>
      <p:sp>
        <p:nvSpPr>
          <p:cNvPr id="1075761414" name="Текст 8"/>
          <p:cNvSpPr txBox="1"/>
          <p:nvPr/>
        </p:nvSpPr>
        <p:spPr bwMode="auto"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/>
              <a:buNone/>
              <a:defRPr/>
            </a:pPr>
            <a:r>
              <a:rPr lang="ru-RU">
                <a:solidFill>
                  <a:schemeClr val="tx1"/>
                </a:solidFill>
              </a:rPr>
              <a:t>Риск тревожной записи по объекту за 24–48 часов. Приоритет проверки для диспетчера.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08767591" name="Номер слайда 35"/>
          <p:cNvSpPr txBox="1"/>
          <p:nvPr/>
        </p:nvSpPr>
        <p:spPr bwMode="auto">
          <a:xfrm>
            <a:off x="11413507" y="6356357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52DCC5B9-D646-4B76-891F-6FF4E74E9CB4}" type="slidenum">
              <a:rPr lang="ru-RU" sz="1200">
                <a:solidFill>
                  <a:schemeClr val="accent5"/>
                </a:solidFill>
              </a:rPr>
              <a:t>8</a:t>
            </a:fld>
            <a:endParaRPr lang="ru-RU" sz="1200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445992" name="Скругленный прямоугольник 55"/>
          <p:cNvSpPr/>
          <p:nvPr/>
        </p:nvSpPr>
        <p:spPr bwMode="auto">
          <a:xfrm>
            <a:off x="2651394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990223453" name="Текст 8"/>
          <p:cNvSpPr txBox="1"/>
          <p:nvPr/>
        </p:nvSpPr>
        <p:spPr bwMode="auto">
          <a:xfrm>
            <a:off x="282367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259743807" name="Текст 8"/>
          <p:cNvSpPr txBox="1"/>
          <p:nvPr/>
        </p:nvSpPr>
        <p:spPr bwMode="auto"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1717745144" name="Скругленный прямоугольник 58"/>
          <p:cNvSpPr/>
          <p:nvPr/>
        </p:nvSpPr>
        <p:spPr bwMode="auto">
          <a:xfrm>
            <a:off x="4956712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767261468" name="Текст 8"/>
          <p:cNvSpPr txBox="1"/>
          <p:nvPr/>
        </p:nvSpPr>
        <p:spPr bwMode="auto">
          <a:xfrm>
            <a:off x="512899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789313918" name="Текст 8"/>
          <p:cNvSpPr txBox="1"/>
          <p:nvPr/>
        </p:nvSpPr>
        <p:spPr bwMode="auto"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651037677" name="Скругленный прямоугольник 61"/>
          <p:cNvSpPr/>
          <p:nvPr/>
        </p:nvSpPr>
        <p:spPr bwMode="auto">
          <a:xfrm>
            <a:off x="7262031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499875170" name="Текст 8"/>
          <p:cNvSpPr txBox="1"/>
          <p:nvPr/>
        </p:nvSpPr>
        <p:spPr bwMode="auto">
          <a:xfrm>
            <a:off x="7434315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054387886" name="Текст 8"/>
          <p:cNvSpPr txBox="1"/>
          <p:nvPr/>
        </p:nvSpPr>
        <p:spPr bwMode="auto"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2086725175" name="Скругленный прямоугольник 64"/>
          <p:cNvSpPr/>
          <p:nvPr/>
        </p:nvSpPr>
        <p:spPr bwMode="auto">
          <a:xfrm>
            <a:off x="9567349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2106280066" name="Текст 8"/>
          <p:cNvSpPr txBox="1"/>
          <p:nvPr/>
        </p:nvSpPr>
        <p:spPr bwMode="auto">
          <a:xfrm>
            <a:off x="9739633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>
              <a:spcBef>
                <a:spcPts val="0"/>
              </a:spcBef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 lang="ru-RU" sz="1200">
              <a:solidFill>
                <a:schemeClr val="tx1"/>
              </a:solidFill>
            </a:endParaRPr>
          </a:p>
        </p:txBody>
      </p:sp>
      <p:sp>
        <p:nvSpPr>
          <p:cNvPr id="1456275104" name="Текст 8"/>
          <p:cNvSpPr txBox="1"/>
          <p:nvPr/>
        </p:nvSpPr>
        <p:spPr bwMode="auto"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  <p:sp>
        <p:nvSpPr>
          <p:cNvPr id="481545546" name="Скругленный прямоугольник 16"/>
          <p:cNvSpPr/>
          <p:nvPr/>
        </p:nvSpPr>
        <p:spPr bwMode="auto">
          <a:xfrm>
            <a:off x="346076" y="1522006"/>
            <a:ext cx="2192713" cy="4834351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662366709" name="Скругленный прямоугольник 12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93695819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9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172799835" name="Рисунок 1"/>
          <p:cNvSpPr>
            <a:spLocks noGrp="1"/>
          </p:cNvSpPr>
          <p:nvPr>
            <p:ph type="pic" sz="quarter" idx="4294967295"/>
          </p:nvPr>
        </p:nvSpPr>
        <p:spPr bwMode="auto">
          <a:xfrm>
            <a:off x="581397" y="1816054"/>
            <a:ext cx="1722566" cy="1552901"/>
          </a:xfrm>
        </p:spPr>
      </p:sp>
      <p:sp>
        <p:nvSpPr>
          <p:cNvPr id="288949743" name="Рисунок 2"/>
          <p:cNvSpPr>
            <a:spLocks noGrp="1"/>
          </p:cNvSpPr>
          <p:nvPr>
            <p:ph type="pic" sz="quarter" idx="4294967295"/>
          </p:nvPr>
        </p:nvSpPr>
        <p:spPr bwMode="auto">
          <a:xfrm>
            <a:off x="2886467" y="1826554"/>
            <a:ext cx="1722566" cy="1542401"/>
          </a:xfrm>
        </p:spPr>
      </p:sp>
      <p:sp>
        <p:nvSpPr>
          <p:cNvPr id="368022300" name="Рисунок 3"/>
          <p:cNvSpPr>
            <a:spLocks noGrp="1"/>
          </p:cNvSpPr>
          <p:nvPr>
            <p:ph type="pic" sz="quarter" idx="4294967295"/>
          </p:nvPr>
        </p:nvSpPr>
        <p:spPr bwMode="auto">
          <a:xfrm>
            <a:off x="5191784" y="1809238"/>
            <a:ext cx="1722567" cy="1559717"/>
          </a:xfrm>
        </p:spPr>
      </p:sp>
      <p:sp>
        <p:nvSpPr>
          <p:cNvPr id="213007835" name="Рисунок 4"/>
          <p:cNvSpPr>
            <a:spLocks noGrp="1"/>
          </p:cNvSpPr>
          <p:nvPr>
            <p:ph type="pic" sz="quarter" idx="4294967295"/>
          </p:nvPr>
        </p:nvSpPr>
        <p:spPr bwMode="auto">
          <a:xfrm>
            <a:off x="7520208" y="1809238"/>
            <a:ext cx="1722567" cy="1559717"/>
          </a:xfrm>
        </p:spPr>
      </p:sp>
      <p:sp>
        <p:nvSpPr>
          <p:cNvPr id="1344225912" name="Рисунок 5"/>
          <p:cNvSpPr>
            <a:spLocks noGrp="1"/>
          </p:cNvSpPr>
          <p:nvPr>
            <p:ph type="pic" sz="quarter" idx="4294967295"/>
          </p:nvPr>
        </p:nvSpPr>
        <p:spPr bwMode="auto">
          <a:xfrm>
            <a:off x="9802422" y="1809238"/>
            <a:ext cx="1722566" cy="1559717"/>
          </a:xfrm>
        </p:spPr>
      </p:sp>
      <p:sp>
        <p:nvSpPr>
          <p:cNvPr id="415042907" name="Заголовок 6"/>
          <p:cNvSpPr>
            <a:spLocks noGrp="1"/>
          </p:cNvSpPr>
          <p:nvPr>
            <p:ph type="title"/>
          </p:nvPr>
        </p:nvSpPr>
        <p:spPr bwMode="auto">
          <a:xfrm>
            <a:off x="51835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КОМАНДА</a:t>
            </a:r>
            <a:endParaRPr lang="ru-RU">
              <a:latin typeface="Montserrat"/>
            </a:endParaRPr>
          </a:p>
        </p:txBody>
      </p:sp>
      <p:sp>
        <p:nvSpPr>
          <p:cNvPr id="105846267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18360" y="4250028"/>
            <a:ext cx="1894354" cy="1624612"/>
          </a:xfrm>
        </p:spPr>
        <p:txBody>
          <a:bodyPr>
            <a:normAutofit/>
          </a:bodyPr>
          <a:lstStyle/>
          <a:p>
            <a:pPr rtl="0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Роль в команде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Ник в мессенджере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Номер телефона</a:t>
            </a:r>
            <a:endParaRPr/>
          </a:p>
          <a:p>
            <a:pPr rtl="0">
              <a:spcBef>
                <a:spcPts val="0"/>
              </a:spcBef>
              <a:spcAft>
                <a:spcPts val="0"/>
              </a:spcAft>
              <a:buFont typeface="Arial"/>
              <a:buChar char="•"/>
              <a:defRPr/>
            </a:pPr>
            <a:r>
              <a:rPr lang="ru-RU" sz="1200">
                <a:solidFill>
                  <a:schemeClr val="tx1"/>
                </a:solidFill>
              </a:rPr>
              <a:t>Место работы/учебы</a:t>
            </a:r>
            <a:endParaRPr/>
          </a:p>
        </p:txBody>
      </p:sp>
      <p:sp>
        <p:nvSpPr>
          <p:cNvPr id="1278750663" name="Текст 8"/>
          <p:cNvSpPr txBox="1"/>
          <p:nvPr/>
        </p:nvSpPr>
        <p:spPr bwMode="auto"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ru-RU" sz="1600" b="1">
                <a:solidFill>
                  <a:schemeClr val="accent5"/>
                </a:solidFill>
              </a:rPr>
              <a:t>[Имя Фамилия]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1463204" name="Скругленный прямоугольник 1"/>
          <p:cNvSpPr/>
          <p:nvPr/>
        </p:nvSpPr>
        <p:spPr bwMode="auto"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40408" name="Номер слайда 17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accent5"/>
                </a:solidFill>
              </a:rPr>
              <a:t>10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865297653" name="Заголовок 6"/>
          <p:cNvSpPr>
            <a:spLocks noGrp="1"/>
          </p:cNvSpPr>
          <p:nvPr>
            <p:ph type="title"/>
          </p:nvPr>
        </p:nvSpPr>
        <p:spPr bwMode="auto">
          <a:xfrm>
            <a:off x="507849" y="449787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>
                <a:latin typeface="Montserrat"/>
              </a:rPr>
              <a:t>О КОМАНДЕ</a:t>
            </a:r>
            <a:endParaRPr lang="ru-RU">
              <a:latin typeface="Montserrat"/>
            </a:endParaRPr>
          </a:p>
        </p:txBody>
      </p:sp>
      <p:sp>
        <p:nvSpPr>
          <p:cNvPr id="1588890124" name="Текст 8"/>
          <p:cNvSpPr>
            <a:spLocks noGrp="1"/>
          </p:cNvSpPr>
          <p:nvPr>
            <p:ph type="body" sz="quarter" idx="27"/>
          </p:nvPr>
        </p:nvSpPr>
        <p:spPr bwMode="auto"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[Добавить историю команды и опыт совместной работы]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493921390" name="Текст 8"/>
          <p:cNvSpPr txBox="1"/>
          <p:nvPr/>
        </p:nvSpPr>
        <p:spPr bwMode="auto"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Краткая история команды:</a:t>
            </a:r>
            <a:endParaRPr/>
          </a:p>
        </p:txBody>
      </p:sp>
      <p:sp>
        <p:nvSpPr>
          <p:cNvPr id="243118211" name="Текст 8"/>
          <p:cNvSpPr txBox="1"/>
          <p:nvPr/>
        </p:nvSpPr>
        <p:spPr bwMode="auto"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Проверили горизонт и отделили тревогу от аварии.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Исключили будущие признаки. Сравнили правила,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бустинг и GRU на одинаковых временных периодах.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65507967" name="Текст 8"/>
          <p:cNvSpPr txBox="1"/>
          <p:nvPr/>
        </p:nvSpPr>
        <p:spPr bwMode="auto"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вы столкнулись и как их преодолели?</a:t>
            </a:r>
            <a:endParaRPr/>
          </a:p>
        </p:txBody>
      </p:sp>
      <p:sp>
        <p:nvSpPr>
          <p:cNvPr id="1574440249" name="Текст 8"/>
          <p:cNvSpPr txBox="1"/>
          <p:nvPr/>
        </p:nvSpPr>
        <p:spPr bwMode="auto"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>
                <a:solidFill>
                  <a:schemeClr val="tx1"/>
                </a:solidFill>
              </a:rPr>
              <a:t>[Добавить причину выбора задачи командой]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790469585" name="Текст 8"/>
          <p:cNvSpPr txBox="1"/>
          <p:nvPr/>
        </p:nvSpPr>
        <p:spPr bwMode="auto"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>
                <a:solidFill>
                  <a:schemeClr val="accent5"/>
                </a:solidFill>
              </a:rPr>
            </a:br>
            <a:r>
              <a:rPr lang="ru-RU" b="1">
                <a:solidFill>
                  <a:schemeClr val="accent5"/>
                </a:solidFill>
              </a:rPr>
              <a:t>из предложенных на хакатоне?</a:t>
            </a:r>
            <a:endParaRPr/>
          </a:p>
        </p:txBody>
      </p:sp>
      <p:cxnSp>
        <p:nvCxnSpPr>
          <p:cNvPr id="1125078722" name="Прямая соединительная линия 4"/>
          <p:cNvCxnSpPr/>
          <p:nvPr/>
        </p:nvCxnSpPr>
        <p:spPr bwMode="auto">
          <a:xfrm>
            <a:off x="623888" y="2745690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01438399" name="Прямая соединительная линия 5"/>
          <p:cNvCxnSpPr/>
          <p:nvPr/>
        </p:nvCxnSpPr>
        <p:spPr bwMode="auto"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54362844" name="Прямая соединительная линия 7"/>
          <p:cNvCxnSpPr/>
          <p:nvPr/>
        </p:nvCxnSpPr>
        <p:spPr bwMode="auto"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72459714" name="Текст 8"/>
          <p:cNvSpPr txBox="1"/>
          <p:nvPr/>
        </p:nvSpPr>
        <p:spPr bwMode="auto"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01</a:t>
            </a:r>
            <a:endParaRPr/>
          </a:p>
        </p:txBody>
      </p:sp>
      <p:sp>
        <p:nvSpPr>
          <p:cNvPr id="1977750831" name="Текст 8"/>
          <p:cNvSpPr txBox="1"/>
          <p:nvPr/>
        </p:nvSpPr>
        <p:spPr bwMode="auto"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02</a:t>
            </a:r>
            <a:endParaRPr/>
          </a:p>
        </p:txBody>
      </p:sp>
      <p:sp>
        <p:nvSpPr>
          <p:cNvPr id="1433482465" name="Текст 8"/>
          <p:cNvSpPr txBox="1"/>
          <p:nvPr/>
        </p:nvSpPr>
        <p:spPr bwMode="auto"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5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0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5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  <a:defRPr/>
            </a:pPr>
            <a:r>
              <a:rPr lang="ru-RU" b="1">
                <a:solidFill>
                  <a:schemeClr val="accent5"/>
                </a:solidFill>
              </a:rPr>
              <a:t>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 rotWithShape="1">
          <a:blip r:embed="rId3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634285" name="Скругленный прямоугольник 9"/>
          <p:cNvSpPr/>
          <p:nvPr/>
        </p:nvSpPr>
        <p:spPr bwMode="auto">
          <a:xfrm>
            <a:off x="346075" y="324562"/>
            <a:ext cx="3750911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42449051" name="Скругленный прямоугольник 23"/>
          <p:cNvSpPr/>
          <p:nvPr/>
        </p:nvSpPr>
        <p:spPr bwMode="auto"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393046190" name="Скругленный прямоугольник 26"/>
          <p:cNvSpPr/>
          <p:nvPr/>
        </p:nvSpPr>
        <p:spPr bwMode="auto"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rgbClr val="000000"/>
          </a:lnRef>
          <a:fillRef idx="0">
            <a:srgbClr val="000000"/>
          </a:fillRef>
          <a:effectRef idx="0">
            <a:srgbClr val="000000"/>
          </a:effectRef>
          <a:fontRef idx="minor">
            <a:schemeClr val="accent2"/>
          </a:fontRef>
        </p:style>
        <p:txBody>
          <a:bodyPr rtlCol="0" anchor="t"/>
          <a:lstStyle/>
          <a:p>
            <a:pPr algn="ctr">
              <a:defRPr/>
            </a:pPr>
            <a:endParaRPr lang="ru-RU" b="1">
              <a:solidFill>
                <a:schemeClr val="accent2"/>
              </a:solidFill>
            </a:endParaRPr>
          </a:p>
        </p:txBody>
      </p:sp>
      <p:sp>
        <p:nvSpPr>
          <p:cNvPr id="1727018758" name="Номер слайда 20"/>
          <p:cNvSpPr>
            <a:spLocks noGrp="1"/>
          </p:cNvSpPr>
          <p:nvPr>
            <p:ph type="sldNum" sz="quarter" idx="4"/>
          </p:nvPr>
        </p:nvSpPr>
        <p:spPr bwMode="auto"/>
        <p:txBody>
          <a:bodyPr/>
          <a:lstStyle/>
          <a:p>
            <a:pPr>
              <a:defRPr/>
            </a:pPr>
            <a:fld id="{52DCC5B9-D646-4B76-891F-6FF4E74E9CB4}" type="slidenum">
              <a:rPr lang="ru-RU">
                <a:solidFill>
                  <a:schemeClr val="bg1"/>
                </a:solidFill>
              </a:rPr>
              <a:t>11</a:t>
            </a:fld>
            <a:endParaRPr lang="ru-RU">
              <a:solidFill>
                <a:schemeClr val="bg1"/>
              </a:solidFill>
            </a:endParaRPr>
          </a:p>
        </p:txBody>
      </p:sp>
      <p:sp>
        <p:nvSpPr>
          <p:cNvPr id="1782181813" name="Текст 2"/>
          <p:cNvSpPr>
            <a:spLocks noGrp="1"/>
          </p:cNvSpPr>
          <p:nvPr>
            <p:ph type="body" sz="quarter" idx="38"/>
          </p:nvPr>
        </p:nvSpPr>
        <p:spPr bwMode="auto">
          <a:xfrm>
            <a:off x="589492" y="1920927"/>
            <a:ext cx="4929861" cy="386858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Дневные признаки только из прошлого журнала.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LightGBM оценивает риск тревожной записи на объекте за 24–48 часов.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API и локальный интерфейс показывают объектный риск.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Проверки причинности и точного воспроизведения прогнозов.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321655550" name="Текст 6"/>
          <p:cNvSpPr>
            <a:spLocks noGrp="1"/>
          </p:cNvSpPr>
          <p:nvPr>
            <p:ph type="body" sz="quarter" idx="42"/>
          </p:nvPr>
        </p:nvSpPr>
        <p:spPr bwMode="auto"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Первый сценарий: приоритет проверок для диспетчера.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Пилот свяжет тревоги с итогами осмотров и стоимостью решений.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Интеграция с рабочими системами заказчика потребует отдельного этапа.</a:t>
            </a:r>
            <a:endParaRPr lang="ru-RU" sz="1400">
              <a:solidFill>
                <a:schemeClr val="tx1"/>
              </a:solidFill>
            </a:endParaRPr>
          </a:p>
          <a:p>
            <a:pPr>
              <a:defRPr/>
            </a:pPr>
            <a:r>
              <a:rPr lang="ru-RU" sz="1400">
                <a:solidFill>
                  <a:schemeClr val="tx1"/>
                </a:solidFill>
              </a:rPr>
              <a:t>Экономический эффект пока не измерен.</a:t>
            </a:r>
            <a:endParaRPr lang="ru-RU" sz="1400">
              <a:solidFill>
                <a:schemeClr val="tx1"/>
              </a:solidFill>
            </a:endParaRPr>
          </a:p>
        </p:txBody>
      </p:sp>
      <p:sp>
        <p:nvSpPr>
          <p:cNvPr id="607500153" name="Заголовок 13"/>
          <p:cNvSpPr>
            <a:spLocks noGrp="1"/>
          </p:cNvSpPr>
          <p:nvPr>
            <p:ph type="title"/>
          </p:nvPr>
        </p:nvSpPr>
        <p:spPr bwMode="auto">
          <a:xfrm>
            <a:off x="525817" y="456851"/>
            <a:ext cx="9862734" cy="376138"/>
          </a:xfrm>
        </p:spPr>
        <p:txBody>
          <a:bodyPr/>
          <a:lstStyle/>
          <a:p>
            <a:pPr>
              <a:defRPr/>
            </a:pPr>
            <a:r>
              <a:rPr lang="ru-RU"/>
              <a:t>КОРОТКО О РЕШЕНИИ</a:t>
            </a:r>
            <a:endParaRPr/>
          </a:p>
        </p:txBody>
      </p:sp>
      <p:sp>
        <p:nvSpPr>
          <p:cNvPr id="2139836321" name="Текст 14"/>
          <p:cNvSpPr>
            <a:spLocks noGrp="1"/>
          </p:cNvSpPr>
          <p:nvPr>
            <p:ph type="body" sz="quarter" idx="49"/>
          </p:nvPr>
        </p:nvSpPr>
        <p:spPr bwMode="auto"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Техническая суть решения</a:t>
            </a:r>
            <a:endParaRPr/>
          </a:p>
        </p:txBody>
      </p:sp>
      <p:sp>
        <p:nvSpPr>
          <p:cNvPr id="878253783" name="Текст 16"/>
          <p:cNvSpPr>
            <a:spLocks noGrp="1"/>
          </p:cNvSpPr>
          <p:nvPr>
            <p:ph type="body" sz="quarter" idx="51"/>
          </p:nvPr>
        </p:nvSpPr>
        <p:spPr bwMode="auto"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  <a:defRPr/>
            </a:pPr>
            <a:r>
              <a:rPr lang="ru-RU" sz="2000" b="1">
                <a:solidFill>
                  <a:schemeClr val="accent5"/>
                </a:solidFill>
              </a:rPr>
              <a:t>Маркетинговая суть решения</a:t>
            </a:r>
            <a:endParaRPr/>
          </a:p>
          <a:p>
            <a:pPr>
              <a:lnSpc>
                <a:spcPct val="100000"/>
              </a:lnSpc>
              <a:defRPr/>
            </a:pPr>
            <a:endParaRPr lang="ru-RU" b="1">
              <a:solidFill>
                <a:schemeClr val="accent5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CC4FF-5D25-43BE-A5E3-B6552BEE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7114F8-FC09-4E79-B92B-D5DB6DCB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Рекомендации к выбранному объекту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6FA703-E3DA-43A9-BBD8-35C9DAFA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cdcabc0f0244bd"/>
          <a:srcRect xmlns:a="http://schemas.openxmlformats.org/drawingml/2006/main" l="50909" t="34831" r="7984" b="186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24425" y="2038350"/>
            <a:ext cx="6581775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1C4C81-C4D9-4F01-9EDC-8747599B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14550"/>
            <a:ext cx="3486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Объект № 4767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3CA3CE-C50B-4E9B-8BBF-4F9E83325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33909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Записи по 3 из 13 каналов.</a:t>
            </a:r>
          </a:p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Тревоги в 4 днях за неделю.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8AA183-C030-4E2E-8936-BA1349B6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335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Диспетчер видит,</a:t>
            </a:r>
          </a:p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что проверить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C7B938-E52E-4CAB-A6BF-BF583137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34099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Журнал сохраняет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рекомендации, версию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правил и выпуск прогноза.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Решение принимает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диспетчер.</a:t>
            </a:r>
          </a:p>
        </p:txBody>
      </p:sp>
    </p:spTree>
    <p:extLst>
      <p:ext uri="{BB962C8B-B14F-4D97-AF65-F5344CB8AC3E}">
        <p14:creationId xmlns:p14="http://schemas.microsoft.com/office/powerpoint/2010/main" val="3746118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0D918B-B6BA-4D83-B4B9-6322926A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F6E02-A3A9-4C39-9305-F000F8F05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Цена новой цели и границы вывода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21FBE-E349-4392-B067-CF002BC9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990725"/>
          <a:ext xmlns:a="http://schemas.openxmlformats.org/drawingml/2006/main" cx="109728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591300"/>
                <a:gridCol w="2047875"/>
                <a:gridCol w="2333625"/>
              </a:tblGrid>
              <a:tr h="7143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При 10 объектах в день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Контроль</a:t>
                      </a:r>
                    </a:p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«Любая тревога»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Начало серии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 по любой тревоге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71,78%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42,67%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Объект-дней без тревоги среди предупреждений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508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1 032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F49D9F-25C9-4C17-810A-0F576C61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1071562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75 из 119 дополнительных охваченных начал —</a:t>
            </a:r>
          </a:p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чистый прирост после дней без любых записей.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D2F46D-A2A9-4100-AF2D-21676B6F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10763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Может отражаться возобновление регистрации. Тишина не доказывает исправность.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Будущая наблюдаемость используется только для анализа результатов.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Период 2026 уже исследовали. Новый проспективный период ещё требуется.</a:t>
            </a:r>
          </a:p>
        </p:txBody>
      </p:sp>
    </p:spTree>
    <p:extLst>
      <p:ext uri="{BB962C8B-B14F-4D97-AF65-F5344CB8AC3E}">
        <p14:creationId xmlns:p14="http://schemas.microsoft.com/office/powerpoint/2010/main" val="16502856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1925E8-BBDE-4AA1-AB7E-BEE11065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76DF08-B31E-4189-8F12-1FD32562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Перенос метода на 2024 год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51033-23E7-4C23-B80A-3904F946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606C9-A34C-4F19-8906-094AC48D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74 объекта, 181 день, по 1 810 предупреждений.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400300"/>
          <a:ext xmlns:a="http://schemas.openxmlformats.org/drawingml/2006/main" cx="10972800" cy="2533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72050"/>
                <a:gridCol w="1285875"/>
                <a:gridCol w="2362200"/>
                <a:gridCol w="2352675"/>
              </a:tblGrid>
              <a:tr h="63341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Метод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Начал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Precision@10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Без тревоги</a:t>
                      </a:r>
                    </a:p>
                  </a:txBody>
                  <a:tcPr marL="91440" marR="91440" marT="45720" marB="45720">
                    <a:solidFill>
                      <a:srgbClr val="310F53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Контроль «Любая тревога»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293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16,19%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547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Историческая частота начал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358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19,78%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1 027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34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Двухэтапная модель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414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22,87%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310F53"/>
                          </a:solidFill>
                          <a:latin typeface="Montserrat"/>
                          <a:ea typeface="Montserrat"/>
                          <a:cs typeface="Montserrat"/>
                        </a:rPr>
                        <a:t>1 067</a:t>
                      </a:r>
                    </a:p>
                  </a:txBody>
                  <a:tcPr marL="91440" marR="91440" marT="45720" marB="45720">
                    <a:solidFill>
                      <a:srgbClr val="F5F2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02FACA-1AF9-42D4-8BD6-D06D056D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0065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На 56 начал больше исторической частоты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1A17AF-64D7-4DE8-898E-2A1D3413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15025"/>
            <a:ext cx="1076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Ретроспективная проверка. Семейство выбрали по более поздним данным,</a:t>
            </a:r>
          </a:p>
          <a:p xmlns:a="http://schemas.openxmlformats.org/drawingml/2006/main">
            <a:pPr>
              <a:def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справочник текущий. Настройки по 2024 не подбирались.</a:t>
            </a:r>
          </a:p>
        </p:txBody>
      </p:sp>
    </p:spTree>
    <p:extLst>
      <p:ext uri="{BB962C8B-B14F-4D97-AF65-F5344CB8AC3E}">
        <p14:creationId xmlns:p14="http://schemas.microsoft.com/office/powerpoint/2010/main" val="19576545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2C86F-24BE-4E8A-AC3C-1851D2DC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1200" b="1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ЛЦТ 2026. Кейс 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14B56-402E-42D0-96C9-230105F1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3000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Работа приложения и следующий пилот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C33C55-8B03-421D-9FC6-1BB259B3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381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217F5-28B6-42CA-A23B-34731E01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33575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Журнал пережил восстановление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3D076-9797-48E5-8E9B-E10E7016F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Три автоматические копии. После восстановления приложение прочитало</a:t>
            </a:r>
          </a:p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тот же журнал с рекомендациями и все 468 карточек шести выпусков.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923D6-5F6B-45C5-AEDC-DC493060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62350"/>
            <a:ext cx="1066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19 200 запросов без ошибок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2E2254-0EA5-4D39-A559-40E1978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527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20 клиентов, среднее p95 двух повторов до и после исправления:</a:t>
            </a:r>
          </a:p>
          <a:p xmlns:a="http://schemas.openxmlformats.org/drawingml/2006/main">
            <a:pPr>
              <a:def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800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чтение 311 и 117 мс, чтение с записью 757 и 376 мс. Медиана выросла.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BF7F65-EEAF-42A0-8926-08F1E7D2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310F53"/>
                </a:solidFill>
                <a:latin typeface="Montserrat"/>
                <a:ea typeface="Montserrat"/>
                <a:cs typeface="Montserrat"/>
              </a:rPr>
              <a:t>Для пилота нужны новые подтверждённые исходы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FA81D-A496-4F36-9D6E-F2E3149F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Нужны осмотры, ремонты и сроки поступления данных для нового периода.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Замер не подтвердил «без деградации» при 20 клиентах.</a:t>
            </a:r>
          </a:p>
          <a:p xmlns:a="http://schemas.openxmlformats.org/drawingml/2006/main">
            <a:pPr>
              <a:def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575766"/>
                </a:solidFill>
                <a:latin typeface="Montserrat"/>
                <a:ea typeface="Montserrat"/>
                <a:cs typeface="Montserrat"/>
              </a:rPr>
              <a:t>Экономический эффект пока не измерен.</a:t>
            </a:r>
          </a:p>
        </p:txBody>
      </p:sp>
    </p:spTree>
    <p:extLst>
      <p:ext uri="{BB962C8B-B14F-4D97-AF65-F5344CB8AC3E}">
        <p14:creationId xmlns:p14="http://schemas.microsoft.com/office/powerpoint/2010/main" val="1633180398"/>
      </p:ext>
    </p:extLst>
  </p:cSld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Arial"/>
        <a:cs typeface="Arial"/>
      </a:majorFont>
      <a:minorFont>
        <a:latin typeface="Montserra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/>
      <a:lstStyle/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onlyoffice/9.2.1.1</Application>
  <PresentationFormat>On-screen Show (4:3)</PresentationFormat>
  <Paragraphs>0</Paragraphs>
  <Slides>37</Slides>
  <Notes>37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38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Аноним</cp:lastModifiedBy>
  <cp:revision>96</cp:revision>
  <dcterms:created xsi:type="dcterms:W3CDTF">2023-05-15T07:36:23Z</dcterms:created>
  <dcterms:modified xsi:type="dcterms:W3CDTF">2026-09-16T13:19:25Z</dcterms:modified>
</cp:coreProperties>
</file>