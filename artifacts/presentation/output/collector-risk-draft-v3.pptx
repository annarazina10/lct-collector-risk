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rels" ContentType="application/vnd.openxmlformats-package.relationships+xml"/>
  <Default Extension="jpeg" ContentType="image/jpeg"/>
  <Default Extension="png" ContentType="image/png"/>
  <Default Extension="bin" ContentType="application/vnd.openxmlformats-officedocument.oleObject"/>
  <Default Extension="wmf" ContentType="image/x-wmf"/>
  <Override PartName="/ppt/slideLayouts/slideLayout2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4.xml" ContentType="application/vnd.openxmlformats-officedocument.presentationml.slideLayout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Layouts/slideLayout23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6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s/slide11.xml" ContentType="application/vnd.openxmlformats-officedocument.presentationml.slide+xml"/>
  <Override PartName="/ppt/authored/ppt/slideMasters/slideMaster1.xml" ContentType="application/vnd.openxmlformats-officedocument.presentationml.slideMaster+xml"/>
  <Override PartName="/ppt/authored/ppt/slideMasters/theme/theme2.xml" ContentType="application/vnd.openxmlformats-officedocument.theme+xml"/>
  <Override PartName="/ppt/authored/ppt/slideLayouts/slideLayout1.xml" ContentType="application/vnd.openxmlformats-officedocument.presentationml.slideLayout+xml"/>
  <Override PartName="/ppt/authored/ppt/notesMasters/notesMaster1.xml" ContentType="application/vnd.openxmlformats-officedocument.presentationml.notesMaster+xml"/>
  <Override PartName="/ppt/authored/ppt/notesMasters/theme/theme3.xml" ContentType="application/vnd.openxmlformats-officedocument.theme+xml"/>
  <Override PartName="/ppt/slides/slide1.xml" ContentType="application/vnd.openxmlformats-officedocument.presentationml.slide+xml"/>
  <Override PartName="/ppt/authored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authored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authored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authored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authored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authored/ppt/notesSlides/notesSlide6.xml" ContentType="application/vnd.openxmlformats-officedocument.presentationml.notesSlide+xml"/>
  <Override PartName="/ppt/slides/slide12.xml" ContentType="application/vnd.openxmlformats-officedocument.presentationml.slide+xml"/>
  <Override PartName="/ppt/authored/ppt/notesSlides/notesSlide7.xml" ContentType="application/vnd.openxmlformats-officedocument.presentationml.notesSlide+xml"/>
  <Override PartName="/ppt/slides/slide13.xml" ContentType="application/vnd.openxmlformats-officedocument.presentationml.slide+xml"/>
  <Override PartName="/ppt/authored/ppt/notesSlides/notesSlide8.xml" ContentType="application/vnd.openxmlformats-officedocument.presentationml.notesSlide+xml"/>
  <Override PartName="/ppt/slides/slide14.xml" ContentType="application/vnd.openxmlformats-officedocument.presentationml.slide+xml"/>
  <Override PartName="/ppt/authored/ppt/notesSlides/notesSlide9.xml" ContentType="application/vnd.openxmlformats-officedocument.presentationml.notesSlide+xml"/>
  <Override PartName="/ppt/slides/slide15.xml" ContentType="application/vnd.openxmlformats-officedocument.presentationml.slide+xml"/>
  <Override PartName="/ppt/authored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  <p:sldMasterId r:id="rAuthoredslideMaster22" id="2147483650"/>
  </p:sldMasterIdLst>
  <p:notesMasterIdLst>
    <p:notesMasterId r:id="rId41"/>
    <p:notesMasterId r:id="rAuthorednotesMaster23"/>
  </p:notesMasterIdLst>
  <p:sldIdLst>
    <p:sldId id="1001" r:id="rDeckSlide1"/>
    <p:sldId id="1002" r:id="rDeckSlide2"/>
    <p:sldId id="1003" r:id="rDeckSlide3"/>
    <p:sldId id="1004" r:id="rDeckSlide4"/>
    <p:sldId id="1005" r:id="rDeckSlide5"/>
    <p:sldId id="1006" r:id="rDeckSlide6"/>
    <p:sldId id="1007" r:id="rDeckSlide7"/>
    <p:sldId id="1008" r:id="rDeckSlide8"/>
    <p:sldId id="1009" r:id="rDeckSlide9"/>
    <p:sldId id="1010" r:id="rDeckSlide10"/>
    <p:sldId id="1011" r:id="rDeckSlide11"/>
    <p:sldId id="1012" r:id="rDeckSlide12"/>
    <p:sldId id="1013" r:id="rDeckSlide13"/>
    <p:sldId id="1014" r:id="rDeckSlide14"/>
    <p:sldId id="1015" r:id="rDeckSlide15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Relationship Id="rDeckSlide1" Type="http://schemas.openxmlformats.org/officeDocument/2006/relationships/slide" Target="slides/slide1.xml"/><Relationship Id="rDeckSlide2" Type="http://schemas.openxmlformats.org/officeDocument/2006/relationships/slide" Target="slides/slide2.xml"/><Relationship Id="rDeckSlide3" Type="http://schemas.openxmlformats.org/officeDocument/2006/relationships/slide" Target="slides/slide3.xml"/><Relationship Id="rDeckSlide4" Type="http://schemas.openxmlformats.org/officeDocument/2006/relationships/slide" Target="slides/slide4.xml"/><Relationship Id="rDeckSlide5" Type="http://schemas.openxmlformats.org/officeDocument/2006/relationships/slide" Target="slides/slide5.xml"/><Relationship Id="rDeckSlide6" Type="http://schemas.openxmlformats.org/officeDocument/2006/relationships/slide" Target="slides/slide6.xml"/><Relationship Id="rDeckSlide7" Type="http://schemas.openxmlformats.org/officeDocument/2006/relationships/slide" Target="slides/slide7.xml"/><Relationship Id="rDeckSlide8" Type="http://schemas.openxmlformats.org/officeDocument/2006/relationships/slide" Target="slides/slide8.xml"/><Relationship Id="rDeckSlide9" Type="http://schemas.openxmlformats.org/officeDocument/2006/relationships/slide" Target="slides/slide9.xml"/><Relationship Id="rDeckSlide10" Type="http://schemas.openxmlformats.org/officeDocument/2006/relationships/slide" Target="slides/slide10.xml"/><Relationship Id="rDeckSlide11" Type="http://schemas.openxmlformats.org/officeDocument/2006/relationships/slide" Target="slides/slide11.xml"/><Relationship Id="rDeckSlide12" Type="http://schemas.openxmlformats.org/officeDocument/2006/relationships/slide" Target="slides/slide12.xml"/><Relationship Id="rDeckSlide13" Type="http://schemas.openxmlformats.org/officeDocument/2006/relationships/slide" Target="slides/slide13.xml"/><Relationship Id="rDeckSlide14" Type="http://schemas.openxmlformats.org/officeDocument/2006/relationships/slide" Target="slides/slide14.xml"/><Relationship Id="rDeckSlide15" Type="http://schemas.openxmlformats.org/officeDocument/2006/relationships/slide" Target="slides/slide15.xml"/><Relationship Id="rAuthoredslideMaster22" Type="http://schemas.openxmlformats.org/officeDocument/2006/relationships/slideMaster" Target="authored/ppt/slideMasters/slideMaster1.xml"/><Relationship Id="rAuthorednotesMaster23" Type="http://schemas.openxmlformats.org/officeDocument/2006/relationships/notesMaster" Target="authored/ppt/notesMasters/notesMaster1.xml"/></Relationships>
</file>

<file path=ppt/authored/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theme/theme3.xml" Id="Rbc9313526c944fdb"/></Relationships>
</file>

<file path=ppt/authored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authored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authored/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../../slides/slide1.xml" Id="R813facfee91745e5"/><Relationship Type="http://schemas.openxmlformats.org/officeDocument/2006/relationships/notesMaster" Target="../notesMasters/notesMaster1.xml" Id="R0d37fd4c2cab44da"/></Relationships>
</file>

<file path=ppt/authored/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../../../slides/slide2.xml" Id="Rb40a520af4e94dae"/><Relationship Type="http://schemas.openxmlformats.org/officeDocument/2006/relationships/notesMaster" Target="../notesMasters/notesMaster1.xml" Id="Rb5d4d173d5b54c8e"/></Relationships>
</file>

<file path=ppt/authored/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../../../slides/slide3.xml" Id="Ra4ed1a8dc5a54f3c"/><Relationship Type="http://schemas.openxmlformats.org/officeDocument/2006/relationships/notesMaster" Target="../notesMasters/notesMaster1.xml" Id="Ra3d76654010f4de6"/></Relationships>
</file>

<file path=ppt/authored/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../../../slides/slide4.xml" Id="Rc013629421b34ff1"/><Relationship Type="http://schemas.openxmlformats.org/officeDocument/2006/relationships/notesMaster" Target="../notesMasters/notesMaster1.xml" Id="Rf470fb2b9a7a4222"/></Relationships>
</file>

<file path=ppt/authored/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../../../slides/slide5.xml" Id="Rd9eb435934084d0a"/><Relationship Type="http://schemas.openxmlformats.org/officeDocument/2006/relationships/notesMaster" Target="../notesMasters/notesMaster1.xml" Id="R6fbcb7915b4040a9"/></Relationships>
</file>

<file path=ppt/authored/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../../../slides/slide6.xml" Id="R034e12a8d8164cfe"/><Relationship Type="http://schemas.openxmlformats.org/officeDocument/2006/relationships/notesMaster" Target="../notesMasters/notesMaster1.xml" Id="Rd608200ad75a48c2"/></Relationships>
</file>

<file path=ppt/authored/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../../../slides/slide12.xml" Id="R5b968cd1a70b45c1"/><Relationship Type="http://schemas.openxmlformats.org/officeDocument/2006/relationships/notesMaster" Target="../notesMasters/notesMaster1.xml" Id="R9c84cf2ca1864243"/></Relationships>
</file>

<file path=ppt/authored/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../../../slides/slide13.xml" Id="R4dbb7efb14c74d3c"/><Relationship Type="http://schemas.openxmlformats.org/officeDocument/2006/relationships/notesMaster" Target="../notesMasters/notesMaster1.xml" Id="R264befe8e6b84705"/></Relationships>
</file>

<file path=ppt/authored/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../../../slides/slide14.xml" Id="R0fef5e57e60c4631"/><Relationship Type="http://schemas.openxmlformats.org/officeDocument/2006/relationships/notesMaster" Target="../notesMasters/notesMaster1.xml" Id="R4bc551720f8b42aa"/></Relationships>
</file>

<file path=ppt/authored/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../../../slides/slide15.xml" Id="R40bf4ad413e043fc"/><Relationship Type="http://schemas.openxmlformats.org/officeDocument/2006/relationships/notesMaster" Target="../notesMasters/notesMaster1.xml" Id="R6914b8201a604702"/></Relationships>
</file>

<file path=ppt/authored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docs/materials/8. ДЖКХ.pdf; reports/object_forward_check/report.md; reports/object_onset_experiment/report.md. Название продукта взято из репозитория, название команды не предоставлено. Версия v3.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reports/object_onset_experiment/protocol.md; docs/onset_demo.md; reports/object_forward_check/report.md. D+1 при выпуске неизвестен. Нулевые записи не означают физическую исправность. Дневной горизонт в московском времени.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reports/eda/eda_report.md; reports/eda/tables/year_summary.csv; reports/object_forward_check/report.md. Полный анализ всех 8 архивов. Объектные модели не обучались на всех 8 годах.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reports/object_forward_check/metrics.csv и report.md. Прежняя модель демонстрации, 14 040 объект-дней, 78 объектов, 4 203 положительных исхода. Порог0.334523 выбран на октябре–ноябре2025. 4400 предупреждений, TP2504/FP1896. Контроль НЕ является refit-контролем с бюджетом10 на слайдах5/13. Журналы2026 ранее исследовали.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reports/object_onset_experiment/report.md, evaluation_metrics.csv, uncertainty.json, protocol.md. Сравнение selected hurdle_15 и any_alarm_refit, цель onset gap1. 14040 объект-дней,2000начал,180дней,по1800предупреждений. TP435/316,P435/1800 и316/1800,R435/2000 и316/2000. Относительный прирост119/316=37.66%. Парный недельныйbootstrap1000/27недель, CI deltaP[0.05222043010752688,0.08136072437449555]. Период2026 не слепой.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reports/object_statistical_candidate/tuning.csv; reports/object_sequence_candidate/report.md; reports/object_combined/report.md,test_metrics.csv,daily_budget.csv. Таблица:any-alarm target,AP на4602строкахOct-Nov2025. Смесь:2026,оба компонента сопоставимо дообучены. Отдельный onset-эксперимент проверил8кандидатов+3смеси,выбранhurdle15.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Источник:data/app/onset_demo_screen.png,фактический снимок сервера http://127.0.0.1:8781/,run_id=onset_2026-06-28_0f97f74f589ee7b9. Снимок1265×713. Архивный исследовательский выпуск:78объектов,10вочереди,24часа доцелевогоокна. Исходы целевого окна отсутствуют. См.reports/onset_demo/ui_check.json и docs/onset_demo.md.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Источники:reports/object_onset_experiment/report.md,observability.csv,evaluation_metrics.csv,independent_review.json. При1800warnings any_alarm_refit TPany1292/1800=.717778 и selected768/1800=.426667. Нет тревоги508/1032. После отсутствия записей наD+1 охвачено110vs35,чистый прирост75из119. НаблюдаемостьD+1 только диагностическая,недоступнапривыдаче.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Источники:reports/object_onset_experiment/protocol.md,selection.json,refit.json,december_metrics.csv,inference_check.json. В таблице даты признаков. Последниеtrain/tune/refitlabelsSep30/Nov30. Декабрь67vs49начал/290warnings;послеgateпараметрынеизменялись. Последние78forecastsdifference0. Пилот описывает будущую работу,экономический эффектнеизмерен.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Источники:docs/materials/8. ДЖКХ.pdf §9,§13;reports/weather_probe/report.md,metrics.csv,checks.json;reports/object_onset_experiment/report.md;docs/onset_demo.md. Weatherprobe реально выполнен:7показателейERA5 для общейточкиМосквы,лаг7суток,толькоOct-Nov2025. AP.6266→.6271,F1неизменён. ВремядоступностиисторическихревизийERA5неподтверждено,строгийreplayне заявлен.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d36526447b284692"/></Relationships>
</file>

<file path=ppt/authored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authored/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72712435ae5d4d38"/><Relationship Type="http://schemas.openxmlformats.org/officeDocument/2006/relationships/slideLayout" Target="../slideLayouts/slideLayout1.xml" Id="Rd30e3d6e0b454411"/></Relationships>
</file>

<file path=ppt/authored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0e3d6e0b4544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authored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1008376219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Источники: reports/object_forward_check/report.md, reports/object_sequence_candidate/report.md, docs/materials/8. ДЖКХ.pdf. Сведения о составе и истории команды не предоставлены. Геометрия обязательного слайда сохранена из оригинала.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Источники: reports/object_forward_check/report.md, reports/object_sequence_candidate/report.md, docs/materials/8. ДЖКХ.pdf. Сведения о составе и истории команды не предоставлены. Геометрия обязательного слайда сохранена из оригинала.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Источники: reports/object_forward_check/report.md, reports/object_sequence_candidate/report.md, docs/materials/8. ДЖКХ.pdf. Сведения о составе и истории команды не предоставлены. Геометрия обязательного слайда сохранена из оригинала.</a:t>
            </a: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Источники: reports/object_forward_check/report.md, reports/object_sequence_candidate/report.md, docs/materials/8. ДЖКХ.pdf. Сведения о составе и истории команды не предоставлены. Геометрия обязательного слайда сохранена из оригинала.</a:t>
            </a: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Источники: reports/object_forward_check/report.md, reports/object_sequence_candidate/report.md, docs/materials/8. ДЖКХ.pdf. Сведения о составе и истории команды не предоставлены. Геометрия обязательного слайда сохранена из оригинала.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16.09.2026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16.09.2026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16.09.2026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16.09.2026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16.09.2026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16.09.2026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16.09.2026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16.09.2026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16.09.2026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16.09.2026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16.09.2026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16.09.2026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16.09.2026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16.09.2026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16.09.2026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16.09.2026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16.09.2026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16.09.2026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16.09.2026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085021eb9de440c7"/><Relationship Type="http://schemas.openxmlformats.org/officeDocument/2006/relationships/notesSlide" Target="../authored/ppt/notesSlides/notesSlide1.xml" Id="Rde8b46e9d7f04787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843f4bb957404847"/><Relationship Type="http://schemas.openxmlformats.org/officeDocument/2006/relationships/notesSlide" Target="../authored/ppt/notesSlides/notesSlide2.xml" Id="R22b3b49deb9f43f9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1db9e8817dc14590"/><Relationship Type="http://schemas.openxmlformats.org/officeDocument/2006/relationships/notesSlide" Target="../authored/ppt/notesSlides/notesSlide3.xml" Id="R79bc9413f2cc4668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a85f4576663a473d"/><Relationship Type="http://schemas.openxmlformats.org/officeDocument/2006/relationships/notesSlide" Target="../authored/ppt/notesSlides/notesSlide4.xml" Id="R7d88d674cb8840a7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28b467193e2844ab"/><Relationship Type="http://schemas.openxmlformats.org/officeDocument/2006/relationships/notesSlide" Target="../authored/ppt/notesSlides/notesSlide5.xml" Id="R44695d9cbfe64c8d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0cf4262b3157430e"/><Relationship Type="http://schemas.openxmlformats.org/officeDocument/2006/relationships/notesSlide" Target="../authored/ppt/notesSlides/notesSlide6.xml" Id="Ra0d419cce308419b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b6ab295110704021"/><Relationship Type="http://schemas.openxmlformats.org/officeDocument/2006/relationships/image" Target="../authored/ppt/media/image.jpeg" Id="R65b9270187024663"/><Relationship Type="http://schemas.openxmlformats.org/officeDocument/2006/relationships/notesSlide" Target="../authored/ppt/notesSlides/notesSlide7.xml" Id="R663b653160c74371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8f34ab48be6c4baa"/><Relationship Type="http://schemas.openxmlformats.org/officeDocument/2006/relationships/notesSlide" Target="../authored/ppt/notesSlides/notesSlide8.xml" Id="R3f4fe29931c7475c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69c8a2e025434d78"/><Relationship Type="http://schemas.openxmlformats.org/officeDocument/2006/relationships/notesSlide" Target="../authored/ppt/notesSlides/notesSlide9.xml" Id="R87dffa6c44f1451b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b34d5e0b97f942eb"/><Relationship Type="http://schemas.openxmlformats.org/officeDocument/2006/relationships/notesSlide" Target="../authored/ppt/notesSlides/notesSlide10.xml" Id="R33263c6c5d7e455f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60640-A56E-4584-8FB6-29F42B41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2026.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16F8D-66C0-453A-BBB8-EBD14F2A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Collector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D06B5-37B7-47CD-98BC-9576EEF1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1AE84-3015-4318-B3EC-446B4D17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40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Очереди проверки объектов</a:t>
            </a:r>
          </a:p>
          <a:p xmlns:a="http://schemas.openxmlformats.org/drawingml/2006/main">
            <a:pPr>
              <a:defRPr sz="40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40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за 24–48 часов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B2011-646E-4271-A922-C992321C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Любая тревога и начало зарегистрированной серии</a:t>
            </a:r>
          </a:p>
          <a:p xmlns:a="http://schemas.openxmlformats.org/drawingml/2006/main">
            <a:pPr>
              <a:defRPr sz="202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Архивная демонстрация для диспетчера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EC3AD-7261-4EB5-9B92-211B3EA0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Черновик для согласования команды. 29 сентября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12067293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6FAF4-1721-467F-827D-A2A56917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2026.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E950B-12A2-49D5-ACCB-3AECC4FB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Две цели для разных проверок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AF841-BF1B-45B8-8BE0-9D88AFC8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773DC-DA5A-49F3-A8FC-7F066769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История по день D. Выпуск D+1 в 00:00. Целевые сутки D+2.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552700"/>
          <a:ext xmlns:a="http://schemas.openxmlformats.org/drawingml/2006/main" cx="10972800" cy="2133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048250"/>
                <a:gridCol w="3162300"/>
              </a:tblGrid>
              <a:tr h="711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Цель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Положительный исход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Режим очереди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Любая тревога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Есть тревожная запись в D+2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Сохранённый порог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Начало серии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 D+1 нет тревоги,</a:t>
                      </a:r>
                    </a:p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 D+2 она есть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10 объектов в сутки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09456-84E5-4E4A-B707-18D0C717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День D+1 ещё неизвестен в момент выпуска.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0BCA3-4A5F-4E39-AE7A-343C8D58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Обе цели описывают журнал. Физический отказ требует подтверждения.</a:t>
            </a:r>
          </a:p>
          <a:p xmlns:a="http://schemas.openxmlformats.org/drawingml/2006/main">
            <a:pPr>
              <a:def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Отсутствие записей не подтверждает исправность объекта.</a:t>
            </a:r>
          </a:p>
        </p:txBody>
      </p:sp>
    </p:spTree>
    <p:extLst>
      <p:ext uri="{BB962C8B-B14F-4D97-AF65-F5344CB8AC3E}">
        <p14:creationId xmlns:p14="http://schemas.microsoft.com/office/powerpoint/2010/main" val="17098134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C501A-D4C4-4AAE-8F0A-64A7C165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2026.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ECD46-8074-4FB0-8961-24AED8EE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Данные и границы покрытия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8F7F8-3761-4F8D-A1EB-FFFBCCD3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432D0-B17C-449E-ACFA-1CFE2DAA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54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313,5 млн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CECAA-30DC-4190-A3B8-B2D4428C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строк в 8 годовых журналах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1B556-2E35-461E-82A7-3EBA9B59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00977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54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078F8-8583-4651-B315-8CBB5236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0670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объектов в событийных данных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57CC2-BF1B-4E70-A8CA-0C9061A3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552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2019 – июнь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F5B7F-3FAB-421C-81F7-2210BA6B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5429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В справочнике 95 объектов.</a:t>
            </a:r>
          </a:p>
          <a:p xmlns:a="http://schemas.openxmlformats.org/drawingml/2006/main">
            <a:pPr>
              <a:def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17 объектов не имеют событий в выгрузке.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94322-96BA-4A29-B407-4ED2F33F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229100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1 143 канала без справочника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052DD-C933-4A4D-9D94-3CD30781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210175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Не для каждого события доступна</a:t>
            </a:r>
          </a:p>
          <a:p xmlns:a="http://schemas.openxmlformats.org/drawingml/2006/main">
            <a:pPr>
              <a:def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связка с объектом и типом датчика.</a:t>
            </a:r>
          </a:p>
        </p:txBody>
      </p:sp>
    </p:spTree>
    <p:extLst>
      <p:ext uri="{BB962C8B-B14F-4D97-AF65-F5344CB8AC3E}">
        <p14:creationId xmlns:p14="http://schemas.microsoft.com/office/powerpoint/2010/main" val="959052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518F9-62EE-4E9F-8A87-44F93BED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2026.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7B1B8-6F7D-4E83-8A59-C087F19A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Любая тревога: сохранённый контроль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9832D-3D63-4BB0-8DCD-A6FE2F17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E07BC-8F9B-4874-AB91-31C1222D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Выдачи 01.01–29.06.2026. Цель: любая тревога в D+2.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34315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1666875"/>
                <a:gridCol w="1933575"/>
                <a:gridCol w="1943100"/>
              </a:tblGrid>
              <a:tr h="6429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Модель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AP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Повтор текущей тревоги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0,3888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48,51%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48,16%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Историческая частота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0,5666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50,75%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60,86%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LightGBM по порогу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0,6213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56,91%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59,58%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A3E5F-888A-43AB-B98D-12B774A5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4 400 предупреждений за 180 дней, 24,44 в сутки.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FC307-424D-4621-B760-B5FB9874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Из них 1 896 без тревоги по разметке. Порог зафиксирован на 2025.</a:t>
            </a:r>
          </a:p>
          <a:p xmlns:a="http://schemas.openxmlformats.org/drawingml/2006/main">
            <a:pPr>
              <a:defRPr sz="15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Следующий слайд использует другой контроль и ровно 10 предупреждений в день.</a:t>
            </a:r>
          </a:p>
        </p:txBody>
      </p:sp>
    </p:spTree>
    <p:extLst>
      <p:ext uri="{BB962C8B-B14F-4D97-AF65-F5344CB8AC3E}">
        <p14:creationId xmlns:p14="http://schemas.microsoft.com/office/powerpoint/2010/main" val="15714869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E024E-546A-4F25-91D6-0CFBAB28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2026.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8284B-DDAC-431E-80E2-68F715A4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На 119 больше охваченных начал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05C82-5944-473E-A47B-090EDCFD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1906D-1AE5-462B-9D00-B7604EE6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Одинаковая нагрузка: 1 800 предупреждений, 10 в сутки.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409825"/>
          <a:ext xmlns:a="http://schemas.openxmlformats.org/drawingml/2006/main" cx="109728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33950"/>
                <a:gridCol w="1428750"/>
                <a:gridCol w="2324100"/>
                <a:gridCol w="2286000"/>
              </a:tblGrid>
              <a:tr h="7143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Цель: начало серии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Начал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Precision@10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Полнота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Контроль «Любая тревога»</a:t>
                      </a:r>
                    </a:p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после дообучения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316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17,56%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15,80%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Двухэтапная onset-модель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435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24,17%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21,75%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25F57-B734-45DF-BD01-067D6126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+37,7% охваченных начал относительно контроля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B634E-05EA-464F-AF2D-13F0555A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Прирост Precision@10: +6,61 п.п. 95% интервал: +5,22…+8,14 п.п.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89283-AB42-4F95-815C-E31DE435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Здесь обе модели оцениваем по началу серии. Период 2026 уже исследовали.</a:t>
            </a:r>
          </a:p>
          <a:p xmlns:a="http://schemas.openxmlformats.org/drawingml/2006/main">
            <a:pPr>
              <a:defRPr sz="135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Результат не подтверждает предупреждение физических отказов.</a:t>
            </a:r>
          </a:p>
        </p:txBody>
      </p:sp>
    </p:spTree>
    <p:extLst>
      <p:ext uri="{BB962C8B-B14F-4D97-AF65-F5344CB8AC3E}">
        <p14:creationId xmlns:p14="http://schemas.microsoft.com/office/powerpoint/2010/main" val="12265992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F4843-505E-4870-88B3-B1FF75C6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2026.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B06EC-5FEB-48CB-B3E1-750B60E8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Проверенные альтернативы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A29E4-24EE-4E0A-848B-166A8F64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0"/>
                <a:gridCol w="2400300"/>
              </a:tblGrid>
              <a:tr h="5810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Любая тревога, выбор на октябре–ноябре 2025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AP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LightGBM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0,6266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Сплайн по прошлым событиям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0,6105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Сезонная статистика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0,6060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GRU, окно 28 дней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0,5753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A2B1F-D3E8-4C06-9DC6-380DDF22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GRU и статистику проверили на реальных данных.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36436-5BCC-4232-8BB2-473AE497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Смесь LightGBM и сезонности на цели «Любая тревога»:</a:t>
            </a:r>
          </a:p>
          <a:p xmlns:a="http://schemas.openxmlformats.org/drawingml/2006/main">
            <a:pPr>
              <a:defRPr sz="165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AP 0,6307 против 0,6241. При 10 объектах в день Precision 71,72% против 71,78%.</a:t>
            </a:r>
          </a:p>
        </p:txBody>
      </p:sp>
    </p:spTree>
    <p:extLst>
      <p:ext uri="{BB962C8B-B14F-4D97-AF65-F5344CB8AC3E}">
        <p14:creationId xmlns:p14="http://schemas.microsoft.com/office/powerpoint/2010/main" val="1818176752"/>
      </p:ext>
    </p:extLst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800"/>
              <a:t>[НАЗВАНИЕ</a:t>
            </a:r>
            <a:endParaRPr lang="ru-RU" sz="4800"/>
          </a:p>
          <a:p>
            <a:pPr marL="268288" indent="0">
              <a:defRPr/>
            </a:pPr>
            <a:r>
              <a:rPr lang="ru-RU" sz="4800"/>
              <a:t>КОМАНДЫ]</a:t>
            </a:r>
            <a:endParaRPr lang="ru-RU" sz="4800"/>
          </a:p>
        </p:txBody>
      </p:sp>
      <p:sp>
        <p:nvSpPr>
          <p:cNvPr id="1636791008" name="Рисунок 3"/>
          <p:cNvSpPr>
            <a:spLocks noGrp="1"/>
          </p:cNvSpPr>
          <p:nvPr>
            <p:ph type="pic" sz="quarter" idx="11"/>
          </p:nvPr>
        </p:nvSpPr>
        <p:spPr bwMode="auto">
          <a:xfrm>
            <a:off x="305186" y="329801"/>
            <a:ext cx="5193299" cy="1082589"/>
          </a:xfrm>
        </p:spPr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rPr lang="ru-RU"/>
              <a:t>Кейс 08. Сервис прогнозирования инцидентов</a:t>
            </a:r>
            <a:endParaRPr lang="ru-RU"/>
          </a:p>
          <a:p>
            <a:pPr indent="268288">
              <a:defRPr/>
            </a:pPr>
            <a:r>
              <a:rPr lang="ru-RU"/>
              <a:t>и управления ремонтными работами инженерных коллекторов Москвы</a:t>
            </a:r>
            <a:endParaRPr lang="ru-RU"/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609484257" name="Рисунок 1"/>
          <p:cNvSpPr>
            <a:spLocks noGrp="1"/>
          </p:cNvSpPr>
          <p:nvPr>
            <p:ph type="pic" sz="quarter" idx="10"/>
          </p:nvPr>
        </p:nvSpPr>
        <p:spPr bwMode="auto">
          <a:xfrm>
            <a:off x="0" y="335267"/>
            <a:ext cx="6456363" cy="2971784"/>
          </a:xfrm>
        </p:spPr>
      </p:sp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Причинные признаки, сравнение с простыми правилами и воспроизводимые эксперименты.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</a:t>
            </a:r>
            <a:r>
              <a:rPr lang="ru-RU">
                <a:solidFill>
                  <a:schemeClr val="tx1"/>
                </a:solidFill>
              </a:rPr>
              <a:t>[ФИО, специальность]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Кол-во участников: </a:t>
            </a:r>
            <a:r>
              <a:rPr lang="ru-RU">
                <a:solidFill>
                  <a:schemeClr val="tx1"/>
                </a:solidFill>
              </a:rPr>
              <a:t>[число] человек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Краткое описание: 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>
                <a:solidFill>
                  <a:schemeClr val="tx1"/>
                </a:solidFill>
              </a:rPr>
              <a:t>[История команды]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>
                <a:solidFill>
                  <a:schemeClr val="tx1"/>
                </a:solidFill>
              </a:rPr>
              <a:t>[Место работы/учёбы]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Город и регион: [заполнить]</a:t>
            </a:r>
            <a:endParaRPr/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>
                <a:solidFill>
                  <a:schemeClr val="accent5"/>
                </a:solidFill>
                <a:latin typeface="Montserrat"/>
              </a:rPr>
              <a:t>[НАЗВАНИЕ</a:t>
            </a:r>
            <a:endParaRPr lang="ru-RU" sz="2400">
              <a:solidFill>
                <a:schemeClr val="accent5"/>
              </a:solidFill>
              <a:latin typeface="Montserrat"/>
            </a:endParaRPr>
          </a:p>
          <a:p>
            <a:pPr>
              <a:defRPr/>
            </a:pPr>
            <a:r>
              <a:rPr lang="ru-RU" sz="2400">
                <a:solidFill>
                  <a:schemeClr val="accent5"/>
                </a:solidFill>
                <a:latin typeface="Montserrat"/>
              </a:rPr>
              <a:t>КОМАНДЫ]</a:t>
            </a:r>
            <a:endParaRPr lang="ru-RU" sz="240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Риск тревожной записи по объекту за 24–48 часов. Приоритет проверки для диспетчера.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8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[Имя Фамилия]</a:t>
            </a:r>
            <a:endParaRPr/>
          </a:p>
        </p:txBody>
      </p:sp>
      <p:sp>
        <p:nvSpPr>
          <p:cNvPr id="1717745144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67261468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9313918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[Имя Фамилия]</a:t>
            </a:r>
            <a:endParaRPr/>
          </a:p>
        </p:txBody>
      </p:sp>
      <p:sp>
        <p:nvSpPr>
          <p:cNvPr id="651037677" name="Скругленный прямоугольник 61"/>
          <p:cNvSpPr/>
          <p:nvPr/>
        </p:nvSpPr>
        <p:spPr bwMode="auto"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99875170" name="Текст 8"/>
          <p:cNvSpPr txBox="1"/>
          <p:nvPr/>
        </p:nvSpPr>
        <p:spPr bwMode="auto"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54387886" name="Текст 8"/>
          <p:cNvSpPr txBox="1"/>
          <p:nvPr/>
        </p:nvSpPr>
        <p:spPr bwMode="auto"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[Имя Фамилия]</a:t>
            </a:r>
            <a:endParaRPr/>
          </a:p>
        </p:txBody>
      </p:sp>
      <p:sp>
        <p:nvSpPr>
          <p:cNvPr id="2086725175" name="Скругленный прямоугольник 64"/>
          <p:cNvSpPr/>
          <p:nvPr/>
        </p:nvSpPr>
        <p:spPr bwMode="auto">
          <a:xfrm>
            <a:off x="9567349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06280066" name="Текст 8"/>
          <p:cNvSpPr txBox="1"/>
          <p:nvPr/>
        </p:nvSpPr>
        <p:spPr bwMode="auto"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456275104" name="Текст 8"/>
          <p:cNvSpPr txBox="1"/>
          <p:nvPr/>
        </p:nvSpPr>
        <p:spPr bwMode="auto"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[Имя Фамилия]</a:t>
            </a:r>
            <a:endParaRPr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172799835" name="Рисунок 1"/>
          <p:cNvSpPr>
            <a:spLocks noGrp="1"/>
          </p:cNvSpPr>
          <p:nvPr>
            <p:ph type="pic" sz="quarter" idx="4294967295"/>
          </p:nvPr>
        </p:nvSpPr>
        <p:spPr bwMode="auto">
          <a:xfrm>
            <a:off x="581397" y="1816054"/>
            <a:ext cx="1722566" cy="1552901"/>
          </a:xfrm>
        </p:spPr>
      </p:sp>
      <p:sp>
        <p:nvSpPr>
          <p:cNvPr id="288949743" name="Рисунок 2"/>
          <p:cNvSpPr>
            <a:spLocks noGrp="1"/>
          </p:cNvSpPr>
          <p:nvPr>
            <p:ph type="pic" sz="quarter" idx="4294967295"/>
          </p:nvPr>
        </p:nvSpPr>
        <p:spPr bwMode="auto">
          <a:xfrm>
            <a:off x="2886467" y="1826554"/>
            <a:ext cx="1722566" cy="1542401"/>
          </a:xfrm>
        </p:spPr>
      </p:sp>
      <p:sp>
        <p:nvSpPr>
          <p:cNvPr id="368022300" name="Рисунок 3"/>
          <p:cNvSpPr>
            <a:spLocks noGrp="1"/>
          </p:cNvSpPr>
          <p:nvPr>
            <p:ph type="pic" sz="quarter" idx="4294967295"/>
          </p:nvPr>
        </p:nvSpPr>
        <p:spPr bwMode="auto">
          <a:xfrm>
            <a:off x="5191784" y="1809238"/>
            <a:ext cx="1722567" cy="1559717"/>
          </a:xfrm>
        </p:spPr>
      </p:sp>
      <p:sp>
        <p:nvSpPr>
          <p:cNvPr id="213007835" name="Рисунок 4"/>
          <p:cNvSpPr>
            <a:spLocks noGrp="1"/>
          </p:cNvSpPr>
          <p:nvPr>
            <p:ph type="pic" sz="quarter" idx="4294967295"/>
          </p:nvPr>
        </p:nvSpPr>
        <p:spPr bwMode="auto">
          <a:xfrm>
            <a:off x="7520208" y="1809238"/>
            <a:ext cx="1722567" cy="1559717"/>
          </a:xfrm>
        </p:spPr>
      </p:sp>
      <p:sp>
        <p:nvSpPr>
          <p:cNvPr id="1344225912" name="Рисунок 5"/>
          <p:cNvSpPr>
            <a:spLocks noGrp="1"/>
          </p:cNvSpPr>
          <p:nvPr>
            <p:ph type="pic" sz="quarter" idx="4294967295"/>
          </p:nvPr>
        </p:nvSpPr>
        <p:spPr bwMode="auto">
          <a:xfrm>
            <a:off x="9802422" y="1809238"/>
            <a:ext cx="1722566" cy="1559717"/>
          </a:xfrm>
        </p:spPr>
      </p:sp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КОМАНДА</a:t>
            </a:r>
            <a:endParaRPr lang="ru-RU">
              <a:latin typeface="Montserrat"/>
            </a:endParaRP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[Имя Фамилия]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О КОМАНДЕ</a:t>
            </a:r>
            <a:endParaRPr lang="ru-RU">
              <a:latin typeface="Montserrat"/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[Добавить историю команды и опыт совместной работы]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Проверили горизонт и отделили тревогу от аварии.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Исключили будущие признаки. Сравнили правила,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бустинг и GRU на одинаковых временных периодах.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[Добавить причину выбора задачи командой]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Дневные признаки только из прошлого журнала.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LightGBM оценивает риск тревожной записи на объекте за 24–48 часов.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API и локальный интерфейс показывают объектный риск.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Проверки причинности и точного воспроизведения прогнозов.</a:t>
            </a:r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Первый сценарий: приоритет проверок для диспетчера.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Пилот свяжет тревоги с итогами осмотров и стоимостью решений.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Интеграция с рабочими системами заказчика потребует отдельного этапа.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Экономический эффект пока не измерен.</a:t>
            </a:r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19DEE-C75B-4033-BFA6-E7F1C3EB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2026.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BD537-06D2-40CD-A5FC-A64226C5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Отдельная очередь начала серии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3F159-42F9-4C04-BC9D-AB596CF0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9270187024663"/>
          <a:stretch xmlns:a="http://schemas.openxmlformats.org/drawingml/2006/main"/>
        </p:blipFill>
        <p:spPr>
          <a:xfrm xmlns:a="http://schemas.openxmlformats.org/drawingml/2006/main">
            <a:off x="2533724" y="1752600"/>
            <a:ext cx="7124553" cy="40100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0F419-8EA0-44F0-877A-861EF6A7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Ранг, выпуск и локальный журнал решений. Очередь формируется каждый день.</a:t>
            </a:r>
          </a:p>
          <a:p xmlns:a="http://schemas.openxmlformats.org/drawingml/2006/main">
            <a:pPr>
              <a:defRPr sz="165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Повторное включение объекта возможно. Рабочий поток заказчика не подключён.</a:t>
            </a:r>
          </a:p>
        </p:txBody>
      </p:sp>
    </p:spTree>
    <p:extLst>
      <p:ext uri="{BB962C8B-B14F-4D97-AF65-F5344CB8AC3E}">
        <p14:creationId xmlns:p14="http://schemas.microsoft.com/office/powerpoint/2010/main" val="732516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CFCE0-7C68-4A98-8B4A-7E0E3632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2026.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8EB84-7AAB-43C7-9F03-8FF78D70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Цена новой цели и границы вывода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895A5-B3E1-4E47-B958-13A3207A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90725"/>
          <a:ext xmlns:a="http://schemas.openxmlformats.org/drawingml/2006/main" cx="109728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591300"/>
                <a:gridCol w="2047875"/>
                <a:gridCol w="2333625"/>
              </a:tblGrid>
              <a:tr h="7143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При 10 объектах в день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Контроль</a:t>
                      </a:r>
                    </a:p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«Любая тревога»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Начало серии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Precision по любой тревоге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71,78%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42,67%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Объект-дней без тревоги среди предупреждений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508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1 032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90CB7-F129-4BE3-AAE2-F52B7665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715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75 из 119 дополнительных охваченных начал —</a:t>
            </a:r>
          </a:p>
          <a:p xmlns:a="http://schemas.openxmlformats.org/drawingml/2006/main">
            <a:pPr>
              <a:def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чистый прирост после дней без любых записей.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014AB-6738-498E-B5F3-6C2B12E1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76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Может отражаться возобновление регистрации. Тишина не доказывает исправность.</a:t>
            </a:r>
          </a:p>
          <a:p xmlns:a="http://schemas.openxmlformats.org/drawingml/2006/main">
            <a:pPr>
              <a:def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Будущая наблюдаемость используется только для анализа результатов.</a:t>
            </a:r>
          </a:p>
          <a:p xmlns:a="http://schemas.openxmlformats.org/drawingml/2006/main">
            <a:pPr>
              <a:def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Период 2026 уже исследовали. Новая независимая проверка ещё требуется.</a:t>
            </a:r>
          </a:p>
        </p:txBody>
      </p:sp>
    </p:spTree>
    <p:extLst>
      <p:ext uri="{BB962C8B-B14F-4D97-AF65-F5344CB8AC3E}">
        <p14:creationId xmlns:p14="http://schemas.microsoft.com/office/powerpoint/2010/main" val="6937903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00CAF-4FEA-4C6C-8F90-C25BAEFE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2026.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59847-ABA5-4137-8334-36CBAEF5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Проверка по времени и следующий пилот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46E48-6026-4156-9FA6-DA056504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2933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5638800"/>
              </a:tblGrid>
              <a:tr h="58674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Этап onset-модели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Режим проверки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Обучение до 28.09.2025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Исходы до 30.09.2025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Выбор на 01.10–28.11.2025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8 кандидатов и 3 смеси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Дообучение до 28.11.2025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Число деревьев уже фиксировано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Декабрьская проверка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67 начал против 49 при 290 предупреждениях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9DDCE-0E74-4EE0-8A90-F032CED1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78 последних прогнозов после загрузки совпали точно.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2E1DB-8DA2-4B21-83D4-DA42526C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763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Следующий пилот свяжет очередь с итогами осмотров и стоимостью проверок.</a:t>
            </a:r>
          </a:p>
          <a:p xmlns:a="http://schemas.openxmlformats.org/drawingml/2006/main">
            <a:pPr>
              <a:def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Нужны новый период наблюдения и правила объединения повторных заявок.</a:t>
            </a:r>
          </a:p>
        </p:txBody>
      </p:sp>
    </p:spTree>
    <p:extLst>
      <p:ext uri="{BB962C8B-B14F-4D97-AF65-F5344CB8AC3E}">
        <p14:creationId xmlns:p14="http://schemas.microsoft.com/office/powerpoint/2010/main" val="20114633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01759-B5BE-4E95-BA5E-04114F97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2026.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6DA96-D76F-46AE-941C-99629CB5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Погода, подтверждения и внедрение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C7F81-AA77-4AF5-AA68-1042FFC2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E3F0A-0EC1-406F-8ED5-6FDDEA9D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Погодный вариант проверили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3B4D2-018F-443A-8F31-23EB26B1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8108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Общий фон Москвы, ERA5 со сдвигом 7 суток: AP 0,6266 и 0,6271.</a:t>
            </a:r>
          </a:p>
          <a:p xmlns:a="http://schemas.openxmlformats.org/drawingml/2006/main">
            <a:pPr>
              <a:def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F1 не изменился. Историческая доступность версий погоды не подтверждена.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1DADB-3B59-4A19-9867-14EB602F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Для вывода об отказах нужны подтверждения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79D70-B86C-44D4-A541-35CC6EC7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Результаты осмотров, ремонты и причины срабатываний.</a:t>
            </a:r>
          </a:p>
          <a:p xmlns:a="http://schemas.openxmlformats.org/drawingml/2006/main">
            <a:pPr>
              <a:def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Экономический эффект пока не измерен.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299EB-EC0E-4EA5-AD10-16E8DE24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Дальше: новый период и интеграция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4577B-DC59-4AFC-A5C9-6F1FC19B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Реальные сроки поступления данных, роли доступа и рабочий регламент.</a:t>
            </a:r>
          </a:p>
          <a:p xmlns:a="http://schemas.openxmlformats.org/drawingml/2006/main">
            <a:pPr>
              <a:def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Текущая версия показывает проверяемый сценарий на архиве.</a:t>
            </a:r>
          </a:p>
        </p:txBody>
      </p:sp>
    </p:spTree>
    <p:extLst>
      <p:ext uri="{BB962C8B-B14F-4D97-AF65-F5344CB8AC3E}">
        <p14:creationId xmlns:p14="http://schemas.microsoft.com/office/powerpoint/2010/main" val="1531983115"/>
      </p:ext>
    </p:extLst>
  </p:cSld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96</cp:revision>
  <dcterms:created xsi:type="dcterms:W3CDTF">2023-05-15T07:36:23Z</dcterms:created>
  <dcterms:modified xsi:type="dcterms:W3CDTF">2026-09-16T13:19:25Z</dcterms:modified>
</cp:coreProperties>
</file>