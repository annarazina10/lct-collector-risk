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authored/ppt/slideMasters/slideMaster1.xml" ContentType="application/vnd.openxmlformats-officedocument.presentationml.slideMaster+xml"/>
  <Override PartName="/ppt/authored/ppt/slideMasters/theme/theme2.xml" ContentType="application/vnd.openxmlformats-officedocument.theme+xml"/>
  <Override PartName="/ppt/authored/ppt/slideLayouts/slideLayout1.xml" ContentType="application/vnd.openxmlformats-officedocument.presentationml.slideLayout+xml"/>
  <Override PartName="/ppt/authored/ppt/notesMasters/notesMaster1.xml" ContentType="application/vnd.openxmlformats-officedocument.presentationml.notesMaster+xml"/>
  <Override PartName="/ppt/authored/ppt/notesMasters/theme/theme3.xml" ContentType="application/vnd.openxmlformats-officedocument.theme+xml"/>
  <Override PartName="/ppt/slides/slide1.xml" ContentType="application/vnd.openxmlformats-officedocument.presentationml.slide+xml"/>
  <Override PartName="/ppt/authored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authored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authored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authored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authored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authored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authored/ppt/notesSlides/notesSlide7.xml" ContentType="application/vnd.openxmlformats-officedocument.presentationml.notesSlide+xml"/>
  <Override PartName="/ppt/slides/slide13.xml" ContentType="application/vnd.openxmlformats-officedocument.presentationml.slide+xml"/>
  <Override PartName="/ppt/authored/ppt/notesSlides/notesSlide8.xml" ContentType="application/vnd.openxmlformats-officedocument.presentationml.notesSlide+xml"/>
  <Override PartName="/ppt/slides/slide14.xml" ContentType="application/vnd.openxmlformats-officedocument.presentationml.slide+xml"/>
  <Override PartName="/ppt/authored/ppt/notesSlides/notesSlide9.xml" ContentType="application/vnd.openxmlformats-officedocument.presentationml.notesSlide+xml"/>
  <Override PartName="/ppt/slides/slide15.xml" ContentType="application/vnd.openxmlformats-officedocument.presentationml.slide+xml"/>
  <Override PartName="/ppt/authored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r:id="rAuthoredslideMaster22" id="2147483650"/>
  </p:sldMasterIdLst>
  <p:notesMasterIdLst>
    <p:notesMasterId r:id="rId41"/>
    <p:notesMasterId r:id="rAuthorednotesMaster23"/>
  </p:notesMasterIdLst>
  <p:sldIdLst>
    <p:sldId id="1001" r:id="rDeckSlide1"/>
    <p:sldId id="1002" r:id="rDeckSlide2"/>
    <p:sldId id="1003" r:id="rDeckSlide3"/>
    <p:sldId id="1004" r:id="rDeckSlide4"/>
    <p:sldId id="1005" r:id="rDeckSlide5"/>
    <p:sldId id="1006" r:id="rDeckSlide6"/>
    <p:sldId id="1007" r:id="rDeckSlide7"/>
    <p:sldId id="1008" r:id="rDeckSlide8"/>
    <p:sldId id="1009" r:id="rDeckSlide9"/>
    <p:sldId id="1010" r:id="rDeckSlide10"/>
    <p:sldId id="1011" r:id="rDeckSlide11"/>
    <p:sldId id="1012" r:id="rDeckSlide12"/>
    <p:sldId id="1013" r:id="rDeckSlide13"/>
    <p:sldId id="1014" r:id="rDeckSlide14"/>
    <p:sldId id="1015" r:id="rDeckSlide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DeckSlide1" Type="http://schemas.openxmlformats.org/officeDocument/2006/relationships/slide" Target="slides/slide1.xml"/><Relationship Id="rDeckSlide2" Type="http://schemas.openxmlformats.org/officeDocument/2006/relationships/slide" Target="slides/slide2.xml"/><Relationship Id="rDeckSlide3" Type="http://schemas.openxmlformats.org/officeDocument/2006/relationships/slide" Target="slides/slide3.xml"/><Relationship Id="rDeckSlide4" Type="http://schemas.openxmlformats.org/officeDocument/2006/relationships/slide" Target="slides/slide4.xml"/><Relationship Id="rDeckSlide5" Type="http://schemas.openxmlformats.org/officeDocument/2006/relationships/slide" Target="slides/slide5.xml"/><Relationship Id="rDeckSlide6" Type="http://schemas.openxmlformats.org/officeDocument/2006/relationships/slide" Target="slides/slide6.xml"/><Relationship Id="rDeckSlide7" Type="http://schemas.openxmlformats.org/officeDocument/2006/relationships/slide" Target="slides/slide7.xml"/><Relationship Id="rDeckSlide8" Type="http://schemas.openxmlformats.org/officeDocument/2006/relationships/slide" Target="slides/slide8.xml"/><Relationship Id="rDeckSlide9" Type="http://schemas.openxmlformats.org/officeDocument/2006/relationships/slide" Target="slides/slide9.xml"/><Relationship Id="rDeckSlide10" Type="http://schemas.openxmlformats.org/officeDocument/2006/relationships/slide" Target="slides/slide10.xml"/><Relationship Id="rDeckSlide11" Type="http://schemas.openxmlformats.org/officeDocument/2006/relationships/slide" Target="slides/slide11.xml"/><Relationship Id="rDeckSlide12" Type="http://schemas.openxmlformats.org/officeDocument/2006/relationships/slide" Target="slides/slide12.xml"/><Relationship Id="rDeckSlide13" Type="http://schemas.openxmlformats.org/officeDocument/2006/relationships/slide" Target="slides/slide13.xml"/><Relationship Id="rDeckSlide14" Type="http://schemas.openxmlformats.org/officeDocument/2006/relationships/slide" Target="slides/slide14.xml"/><Relationship Id="rDeckSlide15" Type="http://schemas.openxmlformats.org/officeDocument/2006/relationships/slide" Target="slides/slide15.xml"/><Relationship Id="rAuthoredslideMaster22" Type="http://schemas.openxmlformats.org/officeDocument/2006/relationships/slideMaster" Target="authored/ppt/slideMasters/slideMaster1.xml"/><Relationship Id="rAuthorednotesMaster23" Type="http://schemas.openxmlformats.org/officeDocument/2006/relationships/notesMaster" Target="authored/ppt/notesMasters/notesMaster1.xml"/></Relationships>
</file>

<file path=ppt/authored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b1ccdb9597ce44d0"/></Relationships>
</file>

<file path=ppt/authored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authored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authored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../slides/slide1.xml" Id="Rf9049c386a434deb"/><Relationship Type="http://schemas.openxmlformats.org/officeDocument/2006/relationships/notesMaster" Target="../notesMasters/notesMaster1.xml" Id="R3fcc38ffbcde4027"/></Relationships>
</file>

<file path=ppt/authored/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../slides/slide2.xml" Id="R476ee33835c54a71"/><Relationship Type="http://schemas.openxmlformats.org/officeDocument/2006/relationships/notesMaster" Target="../notesMasters/notesMaster1.xml" Id="Rc31bdbb72e594c38"/></Relationships>
</file>

<file path=ppt/authored/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../slides/slide3.xml" Id="R53d60217e2654aa6"/><Relationship Type="http://schemas.openxmlformats.org/officeDocument/2006/relationships/notesMaster" Target="../notesMasters/notesMaster1.xml" Id="R778747396e524f50"/></Relationships>
</file>

<file path=ppt/authored/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../slides/slide4.xml" Id="R246e78c1b5eb4120"/><Relationship Type="http://schemas.openxmlformats.org/officeDocument/2006/relationships/notesMaster" Target="../notesMasters/notesMaster1.xml" Id="R3908786ea896484a"/></Relationships>
</file>

<file path=ppt/authored/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../slides/slide5.xml" Id="Rcf87ddf4eafb49c0"/><Relationship Type="http://schemas.openxmlformats.org/officeDocument/2006/relationships/notesMaster" Target="../notesMasters/notesMaster1.xml" Id="Ra6c3a73850104f3c"/></Relationships>
</file>

<file path=ppt/authored/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../slides/slide6.xml" Id="R8d661582b0994fb4"/><Relationship Type="http://schemas.openxmlformats.org/officeDocument/2006/relationships/notesMaster" Target="../notesMasters/notesMaster1.xml" Id="Re1ef26b4913c4019"/></Relationships>
</file>

<file path=ppt/authored/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../slides/slide12.xml" Id="Ra72e8f7d91494072"/><Relationship Type="http://schemas.openxmlformats.org/officeDocument/2006/relationships/notesMaster" Target="../notesMasters/notesMaster1.xml" Id="Rc3c4f702c5944266"/></Relationships>
</file>

<file path=ppt/authored/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../slides/slide13.xml" Id="R954bfc91c0854f3a"/><Relationship Type="http://schemas.openxmlformats.org/officeDocument/2006/relationships/notesMaster" Target="../notesMasters/notesMaster1.xml" Id="Rc304a32bcf3140d7"/></Relationships>
</file>

<file path=ppt/authored/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../slides/slide14.xml" Id="R8a86aa288e0c4ac3"/><Relationship Type="http://schemas.openxmlformats.org/officeDocument/2006/relationships/notesMaster" Target="../notesMasters/notesMaster1.xml" Id="R40908034c8a44162"/></Relationships>
</file>

<file path=ppt/authored/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../slides/slide15.xml" Id="Rc453493f383b4d68"/><Relationship Type="http://schemas.openxmlformats.org/officeDocument/2006/relationships/notesMaster" Target="../notesMasters/notesMaster1.xml" Id="Ra4daac468ea242a0"/></Relationships>
</file>

<file path=ppt/authored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docs/materials/8. ДЖКХ.pdf; reports/object_forward_check/report.md. Название продукта взято из репозитория, название команды не предоставлено.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reports/object_forward_check/report.md; docs/materials/8. ДЖКХ.pdf §9. Дневные окна в часовой шкале подготовленного журнала. Прогноз регистрируемого события не доказывает физический отказ.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reports/eda/eda_report.md; reports/eda/tables/year_summary.csv; reports/object_forward_check/report.md. Полный анализ всех 8 архивов. Объектная модель не обучалась на всех 8 годах.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reports/object_forward_check/metrics.csv и report.md. 14 040 объект-дней, 78 объектов, 4 203 положительных исхода. Порог 0.334523 выбран на октябре–ноябре 2025, модель не переобучалась. Журналы 2026 ранее анализировали в других экспериментах. AP — средняя точность ранжирования (Average Precision).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reports/improved_v3/report.md; reports/rolling_update/report.md. Все строки: канал-день, next-calendar-day target. Статический v3 выбран по октябрю–ноябрю 2025. Ежемесячная политика обучается на известных исходах прошлых месяцев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reports/object_statistical_candidate/tuning.csv; reports/object_sequence_candidate/report.md; reports/object_combined/test_metrics.csv; reports/object_combined/daily_budget.csv. Первые 4 строки содержат AP на 4 602 объект-днях октября–ноября 2025. Итог комбинации относится к ранее исследованному 2026, оба компонента сопоставимо дообучены. Подробности: reports/object_combined/report.md.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data/app/object_demo_screen.png, фактический скриншот сервера http://127.0.0.1:8772/?mode=object. Размер оригинала 1785×996. Показана верхняя часть. Архивные данные и демонстрационный локальный журнал решений. Интеграции с рабочими системами заказчика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reports/object_forward_check/checks.json; reports/object_sequence_candidate/causality_checks.json; reports/object_sequence_candidate/post_run_audit.json; reports/improved_v3/inference_cli_check.json. Новая комбинация имеет собственный отдельный протокол.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docs/materials/8. ДЖКХ.pdf; reports/object_forward_check/report.md. План будущего пилота, не выполненная интеграция. Экономический эффект ещё не измерен.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docs/materials/8. ДЖКХ.pdf §9,§13; docs/sota_enrichment_2026-09-28.md; reports/object_forward_check/report.md. ТЗ допускает погоду. Эксперимент обогащения пока не проводили.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7a667ddb4e742ff"/></Relationships>
</file>

<file path=ppt/authored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authored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603f3eb8913749e8"/><Relationship Type="http://schemas.openxmlformats.org/officeDocument/2006/relationships/slideLayout" Target="../slideLayouts/slideLayout1.xml" Id="R26a468f569a34aca"/></Relationships>
</file>

<file path=ppt/authored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a468f569a3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authored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3b6b8740879b4ddd"/><Relationship Type="http://schemas.openxmlformats.org/officeDocument/2006/relationships/notesSlide" Target="../authored/ppt/notesSlides/notesSlide1.xml" Id="R8cb610a9190c4de1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b31c8769a4774c36"/><Relationship Type="http://schemas.openxmlformats.org/officeDocument/2006/relationships/notesSlide" Target="../authored/ppt/notesSlides/notesSlide2.xml" Id="R28ab16903746495f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c3070de4df934678"/><Relationship Type="http://schemas.openxmlformats.org/officeDocument/2006/relationships/notesSlide" Target="../authored/ppt/notesSlides/notesSlide3.xml" Id="R5d4d3f77c87247b3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2d15873eb9c14715"/><Relationship Type="http://schemas.openxmlformats.org/officeDocument/2006/relationships/notesSlide" Target="../authored/ppt/notesSlides/notesSlide4.xml" Id="Re92a959819f84e59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4940ad391e554679"/><Relationship Type="http://schemas.openxmlformats.org/officeDocument/2006/relationships/notesSlide" Target="../authored/ppt/notesSlides/notesSlide5.xml" Id="R1898051236d74da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d4651e26ec7147a1"/><Relationship Type="http://schemas.openxmlformats.org/officeDocument/2006/relationships/notesSlide" Target="../authored/ppt/notesSlides/notesSlide6.xml" Id="R63ab80d44ffc46fe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8fc9c82a22584f49"/><Relationship Type="http://schemas.openxmlformats.org/officeDocument/2006/relationships/image" Target="../authored/ppt/media/image.jpeg" Id="R602fc2f16fd74772"/><Relationship Type="http://schemas.openxmlformats.org/officeDocument/2006/relationships/notesSlide" Target="../authored/ppt/notesSlides/notesSlide7.xml" Id="R36cf46dbe9924e27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f4f011bd98c14db8"/><Relationship Type="http://schemas.openxmlformats.org/officeDocument/2006/relationships/notesSlide" Target="../authored/ppt/notesSlides/notesSlide8.xml" Id="Ra2fa27bb44d24d2b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e7b6605289e94424"/><Relationship Type="http://schemas.openxmlformats.org/officeDocument/2006/relationships/notesSlide" Target="../authored/ppt/notesSlides/notesSlide9.xml" Id="Rbbbcfc822b7c49bc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f83c1a65bc364dfd"/><Relationship Type="http://schemas.openxmlformats.org/officeDocument/2006/relationships/notesSlide" Target="../authored/ppt/notesSlides/notesSlide10.xml" Id="Rae3792edbd234023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2D133-35F6-4951-8DA0-7CB4A670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4E565-A94B-4B2A-A3A0-182CF795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Collector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7309B-FE6B-4675-A995-DFF9E1F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87004-722F-4EA8-A22E-8E7739D3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Прогноз тревожных записей</a:t>
            </a:r>
          </a:p>
          <a:p xmlns:a="http://schemas.openxmlformats.org/drawingml/2006/main">
            <a:pPr>
              <a:defRPr sz="42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за 24–48 часов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ABEBA-B0CE-48A5-9B39-ACF434B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Инженерные коллекторы Москвы</a:t>
            </a:r>
          </a:p>
          <a:p xmlns:a="http://schemas.openxmlformats.org/drawingml/2006/main">
            <a:pPr>
              <a:defRPr sz="21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21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Архивная демонстрация для диспетчера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8B1DA-AF47-4368-9C7D-2BAE38BB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Черновик для согласования команды · 29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7277193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9443F-AF61-41CD-95F7-8FFC7F53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38684-63B9-4B89-874C-AD1EB6B6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Горизонт и смысл прогноза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84712-13B6-4020-BB3F-5AA334F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619500"/>
                <a:gridCol w="3638550"/>
              </a:tblGrid>
              <a:tr h="698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История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Момент выдачи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Целевое окно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До конца дня D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D+1 в 00:00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День D+2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Только известные события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Объектный риск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Через 24–48 часов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334DD-EE10-40A2-9F1D-81C4F7F2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Цель: хотя бы одна тревожная запись на объекте в целевые сутки.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3A2D3-7CA3-4A9A-9DC7-FD2369CC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Подтверждённые аварии требуют связки с результатом проверки ОДС.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День без записей не подтверждает исправность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7496679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7CF04-912C-478B-8C70-BCF2B28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8DAA0-9A52-4E17-9448-8519D77D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Данные и границы покрытия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5381B-42BD-4BD4-834E-66CB7B57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39A04-F0A6-4D7D-91D0-25598180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313,5 млн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6A0B9-8B10-4133-BEF0-689EC82B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строк в 8 годовых журналах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6E53A-B3D2-4527-A32B-FCE5EC3D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97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FACAA-0534-4003-A376-0E078B1A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670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объектов в событийных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9F73E-2184-43F8-8D62-FD794ACB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2019 — июнь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F4F11-90DC-4C7F-B802-2D70E1B4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429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В справочнике 95 объектов.</a:t>
            </a:r>
          </a:p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17 объектов не имеют событий в выгрузке.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A9F75-6F20-454F-844E-470391A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2910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1 143 канала без справочника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7BD35-3B2B-45F1-A345-34CECCDB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210175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Не для каждого события доступна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связка с объектом и типом датчика.</a:t>
            </a:r>
          </a:p>
        </p:txBody>
      </p:sp>
    </p:spTree>
    <p:extLst>
      <p:ext uri="{BB962C8B-B14F-4D97-AF65-F5344CB8AC3E}">
        <p14:creationId xmlns:p14="http://schemas.microsoft.com/office/powerpoint/2010/main" val="60446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5890F-F58A-4B3A-8D78-101C43F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397CA-0756-4772-9C6D-701C3F81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Объектный контроль на 180 днях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73BA2-C643-41D9-9151-3A00C7FC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0822B-37FF-4E9D-94E3-705D15B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Проверка выдач 01.01–29.06.2026 · 78 объектов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666875"/>
                <a:gridCol w="1933575"/>
                <a:gridCol w="1943100"/>
              </a:tblGrid>
              <a:tr h="6429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Повтор текущей тревоги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0,3888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48,51%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48,16%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Историческая частота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0,5666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50,75%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60,86%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LightGBM в демонстрации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0,6213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56,91%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59,58%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952E1-58EE-4D07-929A-7B64D526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24,44 предупреждения в сутки на парк, из них 10,53 ложных.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1E2F0-513A-4CCC-88F7-7669D236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Порог зафиксирован заранее. Период уже исследовали в других экспериментах.</a:t>
            </a:r>
          </a:p>
          <a:p xmlns:a="http://schemas.openxmlformats.org/drawingml/2006/main">
            <a:pPr>
              <a:def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Объект-день не равен уникальной заявке на ремонт.</a:t>
            </a:r>
          </a:p>
        </p:txBody>
      </p:sp>
    </p:spTree>
    <p:extLst>
      <p:ext uri="{BB962C8B-B14F-4D97-AF65-F5344CB8AC3E}">
        <p14:creationId xmlns:p14="http://schemas.microsoft.com/office/powerpoint/2010/main" val="446449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A2EF6-24F4-46D2-BE63-DB71DD58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24B6E-87D8-43D5-A788-1A42B513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Отдельная канальная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96733-E61A-41D3-8702-52796AA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7FCB2-2FE4-4DAF-9BD4-F9C97533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Тревожная запись на следующий календарный день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666875"/>
                <a:gridCol w="1933575"/>
                <a:gridCol w="1943100"/>
              </a:tblGrid>
              <a:tr h="5715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Подход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Статическая модель v2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0,1281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19,43%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18,75%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Статическая модель v3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0,1366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16,26%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25,15%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Ежемесячный LightGBM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0,1534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16,85%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29,08%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Ежемесячная смесь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0,1471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21,19%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21,53%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0B8A4-008F-4F25-91D9-AAAFA51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У ежемесячных моделей доступна свежая история.</a:t>
            </a:r>
          </a:p>
          <a:p xmlns:a="http://schemas.openxmlformats.org/drawingml/2006/main">
            <a:pPr>
              <a:defRPr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Разницу нельзя приписывать только алгоритму.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4F3E3-A286-478A-8C72-15609E29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52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Следующий календарный день не гарантирует ≥24 часа. Канальные и объектные AP напрямую несопоставимы.</a:t>
            </a:r>
          </a:p>
        </p:txBody>
      </p:sp>
    </p:spTree>
    <p:extLst>
      <p:ext uri="{BB962C8B-B14F-4D97-AF65-F5344CB8AC3E}">
        <p14:creationId xmlns:p14="http://schemas.microsoft.com/office/powerpoint/2010/main" val="1004626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907FA-8476-43FB-9C7E-C72424C3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F28E4-A8BF-4930-8A59-5A5B3366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Статистика и временная нейросеть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EB2AB-C428-40A3-8311-5950EAEB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0"/>
                <a:gridCol w="2400300"/>
              </a:tblGrid>
              <a:tr h="6000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Модель, выбор на октябре–ноябре 2025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LightGBM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0,6266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Сплайн по прошлым событиям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Сезонная статистика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0,6060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GRU, окно 28 дней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0,5753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4A3284-D7F5-4F18-9309-E95AB2C3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GRU и статистические модели проверены на реальных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B2BE2-524D-497C-BCC0-BBE8C741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Комбинация 75% LightGBM + 25% сезонности на 2026: AP 0,6307 против 0,6241.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При бюджете 10 объектов в сутки precision 71,72% против 71,78%.</a:t>
            </a:r>
          </a:p>
        </p:txBody>
      </p:sp>
    </p:spTree>
    <p:extLst>
      <p:ext uri="{BB962C8B-B14F-4D97-AF65-F5344CB8AC3E}">
        <p14:creationId xmlns:p14="http://schemas.microsoft.com/office/powerpoint/2010/main" val="152535888"/>
      </p:ext>
    </p:extLst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[НАЗВАНИЕ</a:t>
            </a:r>
            <a:endParaRPr lang="ru-RU" sz="4800"/>
          </a:p>
          <a:p>
            <a:pPr marL="268288" indent="0">
              <a:defRPr/>
            </a:pPr>
            <a:r>
              <a:rPr lang="ru-RU" sz="4800"/>
              <a:t>КОМАНДЫ]</a:t>
            </a: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/>
              <a:t>Кейс 08. Сервис прогнозирования инцидентов</a:t>
            </a:r>
            <a:endParaRPr lang="ru-RU"/>
          </a:p>
          <a:p>
            <a:pPr indent="268288">
              <a:defRPr/>
            </a:pPr>
            <a:r>
              <a:rPr lang="ru-RU"/>
              <a:t>и управления ремонтными работами инженерных коллекторов Москвы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Причинные признаки, сравнение с простыми правилами и воспроизводимые эксперименты.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[ФИО, 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[число] человек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[История команды]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[Место работы/учёбы]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[заполнить]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[НАЗВАНИЕ</a:t>
            </a:r>
            <a:endParaRPr lang="ru-RU" sz="2400">
              <a:solidFill>
                <a:schemeClr val="accent5"/>
              </a:solidFill>
              <a:latin typeface="Montserrat"/>
            </a:endParaRPr>
          </a:p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КОМАНДЫ]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Риск тревожной записи по объекту за 24–48 часов. Приоритет проверки для диспетчера.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[Добавить историю команды и опыт совместной работы]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Проверили горизонт и отделили тревогу от аварии.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Исключили будущие признаки. Сравнили правила,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бустинг и GRU на одинаковых временных периодах.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[Добавить причину выбора задачи командой]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Дневные признаки только из прошлого журнала.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LightGBM оценивает риск тревожной записи на объекте за 24–48 часов.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API и локальный интерфейс показывают объектный риск.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Проверки причинности и точного воспроизведения прогнозов.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Первый сценарий: приоритет проверок для диспетчера.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Пилот свяжет тревоги с итогами осмотров и стоимостью решений.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Интеграция с рабочими системами заказчика потребует отдельного этапа.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Экономический эффект пока не измерен.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64523-0DE7-4AFF-9721-05F064AD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159E9-6B95-4F03-9914-D9FCB60C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Рабочий экран диспетчера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A1BFA-DE5D-4BBC-87C1-47E09C85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fc2f16fd74772"/>
          <a:srcRect xmlns:a="http://schemas.openxmlformats.org/drawingml/2006/main" l="0" t="16008" r="0" b="160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85925"/>
            <a:ext cx="10972800" cy="41624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7EFA-F531-44AE-8570-9A1E2D61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Фрагмент фактического экрана. Архивная демонстрация, окно +24…+48 часов.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Подключение к рабочим системам заказчика требует отдельной интеграции.</a:t>
            </a:r>
          </a:p>
        </p:txBody>
      </p:sp>
    </p:spTree>
    <p:extLst>
      <p:ext uri="{BB962C8B-B14F-4D97-AF65-F5344CB8AC3E}">
        <p14:creationId xmlns:p14="http://schemas.microsoft.com/office/powerpoint/2010/main" val="582191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79345-F24F-46D0-A32C-0C13BFA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F9C75-8BFB-4895-8C17-51B2868A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Воспроизводимая проверка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74153-C30F-4197-B818-1D02BBC2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220A9-58E6-4464-B40C-9A78D07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Обучение до 28 сентября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46E17-BBCB-4921-99DE-03DF29CB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Выбор объектного контроля и порога на октябре–ноябре.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6AE6D-A1E7-42A5-977F-0697497B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Проверка на последующем периоде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6934A-208B-411A-9580-E974AB6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Модель и порог контроля фиксируем перед оценкой 2026.</a:t>
            </a:r>
          </a:p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Указываем, что журналы 2026 уже исследовали ранее.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DFFCA-47A6-443A-9B9F-3AA46BA5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Повторная загрузка без расхождения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7648E-87FD-49FD-8BFC-00596373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4 602 прогноза контроля совпали точно. Проверяем причинность окон,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границы объектов и отсутствие будущих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3704644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A2969-84D6-43F1-9B6D-EC17BD08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D966E-DFD0-4A69-A18E-90D803A1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Пилот и оценка полезности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F0891-6414-463A-A36E-286C69E4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638800"/>
              </a:tblGrid>
              <a:tr h="5905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Шаг пилота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Проверяемый результат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Связать тревоги с итогами ОДС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Подтверждённый исход и тип инцидента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Согласовать нагрузку диспетчера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Допустимое число проверок в сутки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Запустить теневой режим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Сравнение с действующим процессом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Оценить стоимость решений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Проверки, пропуски, повторные тревоги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C2B3A-7CE3-4D5C-BC95-7A801771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Экономический эффект пока не измерен.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5783E-349A-4CD0-BB8F-939758BD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Расчёт требует стоимости проверки и пропуска инцидента, а также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правил объединения повторных предупреждений в одну заявку.</a:t>
            </a:r>
          </a:p>
        </p:txBody>
      </p:sp>
    </p:spTree>
    <p:extLst>
      <p:ext uri="{BB962C8B-B14F-4D97-AF65-F5344CB8AC3E}">
        <p14:creationId xmlns:p14="http://schemas.microsoft.com/office/powerpoint/2010/main" val="838071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FFAAE7-1A42-4D38-A416-CA97110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 ·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1240C-4789-4CEB-8880-313EC252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Следующие данные и внедрение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0249E-126D-4D55-9BC9-483880A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147F0-8AAE-4B43-8007-883CFBB2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Данные для физического отказа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45552-F8A1-4937-B26A-03B17E47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Результаты осмотров, ложность срабатывания, ремонты и допуски на работы.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F4B68-57B2-47A4-A210-2027D91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Погода и координаты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43E93-4857-48A0-A3EA-1CF649C3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ТЗ допускает метеоданные. Нужны надёжная привязка объектов</a:t>
            </a:r>
          </a:p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и прогноз погоды, доступный на момент выдачи.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CDA13-E2C0-4690-AC8E-0112DFD6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Переход к эксплуатации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DD70F-F1F5-432E-8144-43A037E7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Поток данных, роли доступа, аудит действий и регламент обновления.</a:t>
            </a:r>
          </a:p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Текущая версия демонстрирует сценарий на архиве.</a:t>
            </a:r>
          </a:p>
        </p:txBody>
      </p:sp>
    </p:spTree>
    <p:extLst>
      <p:ext uri="{BB962C8B-B14F-4D97-AF65-F5344CB8AC3E}">
        <p14:creationId xmlns:p14="http://schemas.microsoft.com/office/powerpoint/2010/main" val="1783633171"/>
      </p:ext>
    </p:extLst>
  </p:cSld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